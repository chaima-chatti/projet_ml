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rittany" panose="020B0604020202020204" charset="0"/>
      <p:regular r:id="rId11"/>
    </p:embeddedFont>
    <p:embeddedFont>
      <p:font typeface="Bungee" panose="020B0604020202020204" charset="0"/>
      <p:regular r:id="rId12"/>
    </p:embeddedFon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Bold" panose="00000800000000000000" pitchFamily="2" charset="0"/>
      <p:regular r:id="rId17"/>
      <p:bold r:id="rId18"/>
    </p:embeddedFont>
    <p:embeddedFont>
      <p:font typeface="Quicksand Bold" panose="020B0604020202020204" charset="0"/>
      <p:regular r:id="rId19"/>
    </p:embeddedFont>
    <p:embeddedFont>
      <p:font typeface="Red Hat Display" panose="020B0604020202020204" charset="0"/>
      <p:regular r:id="rId20"/>
    </p:embeddedFont>
    <p:embeddedFont>
      <p:font typeface="Red Hat Display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svg"/><Relationship Id="rId7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760629" y="-209501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868185" y="2136222"/>
            <a:ext cx="6925852" cy="6014556"/>
          </a:xfrm>
          <a:custGeom>
            <a:avLst/>
            <a:gdLst/>
            <a:ahLst/>
            <a:cxnLst/>
            <a:rect l="l" t="t" r="r" b="b"/>
            <a:pathLst>
              <a:path w="6925852" h="6014556">
                <a:moveTo>
                  <a:pt x="0" y="0"/>
                </a:moveTo>
                <a:lnTo>
                  <a:pt x="6925852" y="0"/>
                </a:lnTo>
                <a:lnTo>
                  <a:pt x="6925852" y="6014556"/>
                </a:lnTo>
                <a:lnTo>
                  <a:pt x="0" y="60145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635325">
            <a:off x="-1336143" y="7006271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26878">
            <a:off x="-216283" y="847655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2830696">
            <a:off x="12315724" y="82296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6130650"/>
            <a:ext cx="5756398" cy="104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5B7ABE"/>
                </a:solidFill>
                <a:latin typeface="Poppins"/>
                <a:ea typeface="Poppins"/>
                <a:cs typeface="Poppins"/>
                <a:sym typeface="Poppins"/>
              </a:rPr>
              <a:t>Présenté par : 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5B7ABE"/>
                </a:solidFill>
                <a:latin typeface="Poppins"/>
                <a:ea typeface="Poppins"/>
                <a:cs typeface="Poppins"/>
                <a:sym typeface="Poppins"/>
              </a:rPr>
              <a:t>Chaima CHATTI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4650" y="3455022"/>
            <a:ext cx="8085979" cy="331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24"/>
              </a:lnSpc>
            </a:pPr>
            <a:r>
              <a:rPr lang="en-US" sz="4200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PRÉDICTION DU TAUX DE RÉUSSITE DES ÉTABLISSEMENTS UNIVERSITAIRES TUNISIENS</a:t>
            </a:r>
          </a:p>
          <a:p>
            <a:pPr algn="l">
              <a:lnSpc>
                <a:spcPts val="5224"/>
              </a:lnSpc>
            </a:pPr>
            <a:endParaRPr lang="en-US" sz="4200" b="1">
              <a:solidFill>
                <a:srgbClr val="2D226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52020" y="913561"/>
            <a:ext cx="8430282" cy="7797174"/>
            <a:chOff x="0" y="0"/>
            <a:chExt cx="2221782" cy="2054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21782" cy="2054928"/>
            </a:xfrm>
            <a:custGeom>
              <a:avLst/>
              <a:gdLst/>
              <a:ahLst/>
              <a:cxnLst/>
              <a:rect l="l" t="t" r="r" b="b"/>
              <a:pathLst>
                <a:path w="2221782" h="2054928">
                  <a:moveTo>
                    <a:pt x="91835" y="0"/>
                  </a:moveTo>
                  <a:lnTo>
                    <a:pt x="2129948" y="0"/>
                  </a:lnTo>
                  <a:cubicBezTo>
                    <a:pt x="2180667" y="0"/>
                    <a:pt x="2221782" y="41116"/>
                    <a:pt x="2221782" y="91835"/>
                  </a:cubicBezTo>
                  <a:lnTo>
                    <a:pt x="2221782" y="1963094"/>
                  </a:lnTo>
                  <a:cubicBezTo>
                    <a:pt x="2221782" y="1987450"/>
                    <a:pt x="2212107" y="2010808"/>
                    <a:pt x="2194885" y="2028030"/>
                  </a:cubicBezTo>
                  <a:cubicBezTo>
                    <a:pt x="2177662" y="2045253"/>
                    <a:pt x="2154304" y="2054928"/>
                    <a:pt x="2129948" y="2054928"/>
                  </a:cubicBezTo>
                  <a:lnTo>
                    <a:pt x="91835" y="2054928"/>
                  </a:lnTo>
                  <a:cubicBezTo>
                    <a:pt x="41116" y="2054928"/>
                    <a:pt x="0" y="2013813"/>
                    <a:pt x="0" y="1963094"/>
                  </a:cubicBezTo>
                  <a:lnTo>
                    <a:pt x="0" y="91835"/>
                  </a:lnTo>
                  <a:cubicBezTo>
                    <a:pt x="0" y="67479"/>
                    <a:pt x="9675" y="44120"/>
                    <a:pt x="26898" y="26898"/>
                  </a:cubicBezTo>
                  <a:cubicBezTo>
                    <a:pt x="44120" y="9675"/>
                    <a:pt x="67479" y="0"/>
                    <a:pt x="91835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221782" cy="2093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70311" y="1436060"/>
            <a:ext cx="5774612" cy="726295"/>
            <a:chOff x="0" y="0"/>
            <a:chExt cx="1521886" cy="1914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1886" cy="191414"/>
            </a:xfrm>
            <a:custGeom>
              <a:avLst/>
              <a:gdLst/>
              <a:ahLst/>
              <a:cxnLst/>
              <a:rect l="l" t="t" r="r" b="b"/>
              <a:pathLst>
                <a:path w="1521886" h="191414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24772" y="1412247"/>
            <a:ext cx="717393" cy="773920"/>
            <a:chOff x="0" y="0"/>
            <a:chExt cx="75343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53433" cy="812800"/>
            </a:xfrm>
            <a:custGeom>
              <a:avLst/>
              <a:gdLst/>
              <a:ahLst/>
              <a:cxnLst/>
              <a:rect l="l" t="t" r="r" b="b"/>
              <a:pathLst>
                <a:path w="753433" h="812800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2D2261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0634" y="47625"/>
              <a:ext cx="612164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BFCF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1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42509" y="1573736"/>
            <a:ext cx="4680974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>
                <a:solidFill>
                  <a:srgbClr val="FBFCFE"/>
                </a:solidFill>
                <a:latin typeface="Poppins"/>
                <a:ea typeface="Poppins"/>
                <a:cs typeface="Poppins"/>
                <a:sym typeface="Poppins"/>
              </a:rPr>
              <a:t>Introduction et Contexte</a:t>
            </a:r>
          </a:p>
          <a:p>
            <a:pPr algn="l">
              <a:lnSpc>
                <a:spcPts val="3237"/>
              </a:lnSpc>
            </a:pPr>
            <a:endParaRPr lang="en-US" sz="2698">
              <a:solidFill>
                <a:srgbClr val="FBFC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2730318" y="1807099"/>
            <a:ext cx="639993" cy="0"/>
          </a:xfrm>
          <a:prstGeom prst="line">
            <a:avLst/>
          </a:prstGeom>
          <a:ln w="38100" cap="flat">
            <a:solidFill>
              <a:srgbClr val="2D226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3370311" y="2391788"/>
            <a:ext cx="5774612" cy="726295"/>
            <a:chOff x="0" y="0"/>
            <a:chExt cx="1521886" cy="19141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1886" cy="191414"/>
            </a:xfrm>
            <a:custGeom>
              <a:avLst/>
              <a:gdLst/>
              <a:ahLst/>
              <a:cxnLst/>
              <a:rect l="l" t="t" r="r" b="b"/>
              <a:pathLst>
                <a:path w="1521886" h="191414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2D2261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124772" y="2367976"/>
            <a:ext cx="717393" cy="773920"/>
            <a:chOff x="0" y="0"/>
            <a:chExt cx="753433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53433" cy="812800"/>
            </a:xfrm>
            <a:custGeom>
              <a:avLst/>
              <a:gdLst/>
              <a:ahLst/>
              <a:cxnLst/>
              <a:rect l="l" t="t" r="r" b="b"/>
              <a:pathLst>
                <a:path w="753433" h="812800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2D226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0634" y="47625"/>
              <a:ext cx="612164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BFCF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3684703" y="2548515"/>
            <a:ext cx="5331977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98">
                <a:solidFill>
                  <a:srgbClr val="FBFCFE"/>
                </a:solidFill>
                <a:latin typeface="Poppins"/>
                <a:ea typeface="Poppins"/>
                <a:cs typeface="Poppins"/>
                <a:sym typeface="Poppins"/>
              </a:rPr>
              <a:t>Choix et Démarche Méthodologique</a:t>
            </a:r>
          </a:p>
        </p:txBody>
      </p:sp>
      <p:sp>
        <p:nvSpPr>
          <p:cNvPr id="20" name="AutoShape 20"/>
          <p:cNvSpPr/>
          <p:nvPr/>
        </p:nvSpPr>
        <p:spPr>
          <a:xfrm>
            <a:off x="2730318" y="2762827"/>
            <a:ext cx="639993" cy="0"/>
          </a:xfrm>
          <a:prstGeom prst="line">
            <a:avLst/>
          </a:prstGeom>
          <a:ln w="38100" cap="flat">
            <a:solidFill>
              <a:srgbClr val="2D226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3370311" y="3485208"/>
            <a:ext cx="5774612" cy="726295"/>
            <a:chOff x="0" y="0"/>
            <a:chExt cx="1521886" cy="19141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521886" cy="191414"/>
            </a:xfrm>
            <a:custGeom>
              <a:avLst/>
              <a:gdLst/>
              <a:ahLst/>
              <a:cxnLst/>
              <a:rect l="l" t="t" r="r" b="b"/>
              <a:pathLst>
                <a:path w="1521886" h="191414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24772" y="3461395"/>
            <a:ext cx="717393" cy="773920"/>
            <a:chOff x="0" y="0"/>
            <a:chExt cx="753433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53433" cy="812800"/>
            </a:xfrm>
            <a:custGeom>
              <a:avLst/>
              <a:gdLst/>
              <a:ahLst/>
              <a:cxnLst/>
              <a:rect l="l" t="t" r="r" b="b"/>
              <a:pathLst>
                <a:path w="753433" h="812800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2D2261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0634" y="47625"/>
              <a:ext cx="612164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BFCF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3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3684703" y="3651484"/>
            <a:ext cx="5716461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7"/>
              </a:lnSpc>
            </a:pPr>
            <a:r>
              <a:rPr lang="en-US" sz="2198">
                <a:solidFill>
                  <a:srgbClr val="FBFCFE"/>
                </a:solidFill>
                <a:latin typeface="Poppins"/>
                <a:ea typeface="Poppins"/>
                <a:cs typeface="Poppins"/>
                <a:sym typeface="Poppins"/>
              </a:rPr>
              <a:t>Modélisation et Comparaison</a:t>
            </a:r>
          </a:p>
        </p:txBody>
      </p:sp>
      <p:sp>
        <p:nvSpPr>
          <p:cNvPr id="28" name="AutoShape 28"/>
          <p:cNvSpPr/>
          <p:nvPr/>
        </p:nvSpPr>
        <p:spPr>
          <a:xfrm>
            <a:off x="2730318" y="3856247"/>
            <a:ext cx="639993" cy="0"/>
          </a:xfrm>
          <a:prstGeom prst="line">
            <a:avLst/>
          </a:prstGeom>
          <a:ln w="38100" cap="flat">
            <a:solidFill>
              <a:srgbClr val="2D226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3370311" y="4582978"/>
            <a:ext cx="5774612" cy="726295"/>
            <a:chOff x="0" y="0"/>
            <a:chExt cx="1521886" cy="19141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521886" cy="191414"/>
            </a:xfrm>
            <a:custGeom>
              <a:avLst/>
              <a:gdLst/>
              <a:ahLst/>
              <a:cxnLst/>
              <a:rect l="l" t="t" r="r" b="b"/>
              <a:pathLst>
                <a:path w="1521886" h="191414">
                  <a:moveTo>
                    <a:pt x="95707" y="0"/>
                  </a:moveTo>
                  <a:lnTo>
                    <a:pt x="1426180" y="0"/>
                  </a:lnTo>
                  <a:cubicBezTo>
                    <a:pt x="1451563" y="0"/>
                    <a:pt x="1475906" y="10083"/>
                    <a:pt x="1493855" y="28032"/>
                  </a:cubicBezTo>
                  <a:cubicBezTo>
                    <a:pt x="1511803" y="45980"/>
                    <a:pt x="1521886" y="70324"/>
                    <a:pt x="1521886" y="95707"/>
                  </a:cubicBezTo>
                  <a:lnTo>
                    <a:pt x="1521886" y="95707"/>
                  </a:lnTo>
                  <a:cubicBezTo>
                    <a:pt x="1521886" y="121090"/>
                    <a:pt x="1511803" y="145433"/>
                    <a:pt x="1493855" y="163382"/>
                  </a:cubicBezTo>
                  <a:cubicBezTo>
                    <a:pt x="1475906" y="181330"/>
                    <a:pt x="1451563" y="191414"/>
                    <a:pt x="1426180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2D2261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521886" cy="229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124772" y="4559166"/>
            <a:ext cx="717393" cy="773920"/>
            <a:chOff x="0" y="0"/>
            <a:chExt cx="753433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53433" cy="812800"/>
            </a:xfrm>
            <a:custGeom>
              <a:avLst/>
              <a:gdLst/>
              <a:ahLst/>
              <a:cxnLst/>
              <a:rect l="l" t="t" r="r" b="b"/>
              <a:pathLst>
                <a:path w="753433" h="812800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2D2261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0634" y="47625"/>
              <a:ext cx="612164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BFCF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4</a:t>
              </a: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3713934" y="4739705"/>
            <a:ext cx="4306454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FBFCFE"/>
                </a:solidFill>
                <a:latin typeface="Poppins"/>
                <a:ea typeface="Poppins"/>
                <a:cs typeface="Poppins"/>
                <a:sym typeface="Poppins"/>
              </a:rPr>
              <a:t>Modèle choisit</a:t>
            </a:r>
          </a:p>
        </p:txBody>
      </p:sp>
      <p:sp>
        <p:nvSpPr>
          <p:cNvPr id="36" name="AutoShape 36"/>
          <p:cNvSpPr/>
          <p:nvPr/>
        </p:nvSpPr>
        <p:spPr>
          <a:xfrm>
            <a:off x="2730318" y="4954017"/>
            <a:ext cx="639993" cy="0"/>
          </a:xfrm>
          <a:prstGeom prst="line">
            <a:avLst/>
          </a:prstGeom>
          <a:ln w="38100" cap="flat">
            <a:solidFill>
              <a:srgbClr val="2D2261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" name="Group 37"/>
          <p:cNvGrpSpPr/>
          <p:nvPr/>
        </p:nvGrpSpPr>
        <p:grpSpPr>
          <a:xfrm>
            <a:off x="3370311" y="5680748"/>
            <a:ext cx="5882693" cy="726295"/>
            <a:chOff x="0" y="0"/>
            <a:chExt cx="1550371" cy="19141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50371" cy="191414"/>
            </a:xfrm>
            <a:custGeom>
              <a:avLst/>
              <a:gdLst/>
              <a:ahLst/>
              <a:cxnLst/>
              <a:rect l="l" t="t" r="r" b="b"/>
              <a:pathLst>
                <a:path w="1550371" h="191414">
                  <a:moveTo>
                    <a:pt x="95707" y="0"/>
                  </a:moveTo>
                  <a:lnTo>
                    <a:pt x="1454664" y="0"/>
                  </a:lnTo>
                  <a:cubicBezTo>
                    <a:pt x="1507521" y="0"/>
                    <a:pt x="1550371" y="42849"/>
                    <a:pt x="1550371" y="95707"/>
                  </a:cubicBezTo>
                  <a:lnTo>
                    <a:pt x="1550371" y="95707"/>
                  </a:lnTo>
                  <a:cubicBezTo>
                    <a:pt x="1550371" y="121090"/>
                    <a:pt x="1540287" y="145433"/>
                    <a:pt x="1522339" y="163382"/>
                  </a:cubicBezTo>
                  <a:cubicBezTo>
                    <a:pt x="1504391" y="181330"/>
                    <a:pt x="1480047" y="191414"/>
                    <a:pt x="1454664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2D2261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550371" cy="229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124772" y="5656936"/>
            <a:ext cx="717393" cy="773920"/>
            <a:chOff x="0" y="0"/>
            <a:chExt cx="753433" cy="8128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53433" cy="812800"/>
            </a:xfrm>
            <a:custGeom>
              <a:avLst/>
              <a:gdLst/>
              <a:ahLst/>
              <a:cxnLst/>
              <a:rect l="l" t="t" r="r" b="b"/>
              <a:pathLst>
                <a:path w="753433" h="812800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2D2261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70634" y="47625"/>
              <a:ext cx="612164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BFCF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5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3742509" y="5818425"/>
            <a:ext cx="4267147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>
                <a:solidFill>
                  <a:srgbClr val="FBFCFE"/>
                </a:solidFill>
                <a:latin typeface="Poppins"/>
                <a:ea typeface="Poppins"/>
                <a:cs typeface="Poppins"/>
                <a:sym typeface="Poppins"/>
              </a:rPr>
              <a:t>Application Développée</a:t>
            </a:r>
          </a:p>
        </p:txBody>
      </p:sp>
      <p:sp>
        <p:nvSpPr>
          <p:cNvPr id="44" name="AutoShape 44"/>
          <p:cNvSpPr/>
          <p:nvPr/>
        </p:nvSpPr>
        <p:spPr>
          <a:xfrm>
            <a:off x="2730318" y="6051787"/>
            <a:ext cx="639993" cy="0"/>
          </a:xfrm>
          <a:prstGeom prst="line">
            <a:avLst/>
          </a:prstGeom>
          <a:ln w="38100" cap="flat">
            <a:solidFill>
              <a:srgbClr val="2D226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5" name="TextBox 45"/>
          <p:cNvSpPr txBox="1"/>
          <p:nvPr/>
        </p:nvSpPr>
        <p:spPr>
          <a:xfrm>
            <a:off x="-524871" y="9567077"/>
            <a:ext cx="2284068" cy="332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9"/>
              </a:lnSpc>
            </a:pPr>
            <a:r>
              <a:rPr lang="en-US" sz="2721" b="1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2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3370311" y="6653997"/>
            <a:ext cx="5882693" cy="726295"/>
            <a:chOff x="0" y="0"/>
            <a:chExt cx="1550371" cy="19141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550371" cy="191414"/>
            </a:xfrm>
            <a:custGeom>
              <a:avLst/>
              <a:gdLst/>
              <a:ahLst/>
              <a:cxnLst/>
              <a:rect l="l" t="t" r="r" b="b"/>
              <a:pathLst>
                <a:path w="1550371" h="191414">
                  <a:moveTo>
                    <a:pt x="95707" y="0"/>
                  </a:moveTo>
                  <a:lnTo>
                    <a:pt x="1454664" y="0"/>
                  </a:lnTo>
                  <a:cubicBezTo>
                    <a:pt x="1507521" y="0"/>
                    <a:pt x="1550371" y="42849"/>
                    <a:pt x="1550371" y="95707"/>
                  </a:cubicBezTo>
                  <a:lnTo>
                    <a:pt x="1550371" y="95707"/>
                  </a:lnTo>
                  <a:cubicBezTo>
                    <a:pt x="1550371" y="121090"/>
                    <a:pt x="1540287" y="145433"/>
                    <a:pt x="1522339" y="163382"/>
                  </a:cubicBezTo>
                  <a:cubicBezTo>
                    <a:pt x="1504391" y="181330"/>
                    <a:pt x="1480047" y="191414"/>
                    <a:pt x="1454664" y="191414"/>
                  </a:cubicBezTo>
                  <a:lnTo>
                    <a:pt x="95707" y="191414"/>
                  </a:lnTo>
                  <a:cubicBezTo>
                    <a:pt x="70324" y="191414"/>
                    <a:pt x="45980" y="181330"/>
                    <a:pt x="28032" y="163382"/>
                  </a:cubicBezTo>
                  <a:cubicBezTo>
                    <a:pt x="10083" y="145433"/>
                    <a:pt x="0" y="121090"/>
                    <a:pt x="0" y="95707"/>
                  </a:cubicBezTo>
                  <a:lnTo>
                    <a:pt x="0" y="95707"/>
                  </a:lnTo>
                  <a:cubicBezTo>
                    <a:pt x="0" y="70324"/>
                    <a:pt x="10083" y="45980"/>
                    <a:pt x="28032" y="28032"/>
                  </a:cubicBezTo>
                  <a:cubicBezTo>
                    <a:pt x="45980" y="10083"/>
                    <a:pt x="70324" y="0"/>
                    <a:pt x="95707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1550371" cy="2295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2124772" y="6630185"/>
            <a:ext cx="717393" cy="773920"/>
            <a:chOff x="0" y="0"/>
            <a:chExt cx="753433" cy="8128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53433" cy="812800"/>
            </a:xfrm>
            <a:custGeom>
              <a:avLst/>
              <a:gdLst/>
              <a:ahLst/>
              <a:cxnLst/>
              <a:rect l="l" t="t" r="r" b="b"/>
              <a:pathLst>
                <a:path w="753433" h="812800">
                  <a:moveTo>
                    <a:pt x="376717" y="0"/>
                  </a:moveTo>
                  <a:cubicBezTo>
                    <a:pt x="168662" y="0"/>
                    <a:pt x="0" y="181951"/>
                    <a:pt x="0" y="406400"/>
                  </a:cubicBezTo>
                  <a:cubicBezTo>
                    <a:pt x="0" y="630849"/>
                    <a:pt x="168662" y="812800"/>
                    <a:pt x="376717" y="812800"/>
                  </a:cubicBezTo>
                  <a:cubicBezTo>
                    <a:pt x="584771" y="812800"/>
                    <a:pt x="753433" y="630849"/>
                    <a:pt x="753433" y="406400"/>
                  </a:cubicBezTo>
                  <a:cubicBezTo>
                    <a:pt x="753433" y="181951"/>
                    <a:pt x="584771" y="0"/>
                    <a:pt x="376717" y="0"/>
                  </a:cubicBezTo>
                  <a:close/>
                </a:path>
              </a:pathLst>
            </a:custGeom>
            <a:solidFill>
              <a:srgbClr val="2D2261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70634" y="47625"/>
              <a:ext cx="612164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FBFCFE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6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3742509" y="6791674"/>
            <a:ext cx="5100019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37"/>
              </a:lnSpc>
            </a:pPr>
            <a:r>
              <a:rPr lang="en-US" sz="2698">
                <a:solidFill>
                  <a:srgbClr val="FBFCFE"/>
                </a:solidFill>
                <a:latin typeface="Poppins"/>
                <a:ea typeface="Poppins"/>
                <a:cs typeface="Poppins"/>
                <a:sym typeface="Poppins"/>
              </a:rPr>
              <a:t>Conclusion et Perspectives</a:t>
            </a:r>
          </a:p>
          <a:p>
            <a:pPr algn="l">
              <a:lnSpc>
                <a:spcPts val="3237"/>
              </a:lnSpc>
            </a:pPr>
            <a:endParaRPr lang="en-US" sz="2698">
              <a:solidFill>
                <a:srgbClr val="FBFCFE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" name="AutoShape 53"/>
          <p:cNvSpPr/>
          <p:nvPr/>
        </p:nvSpPr>
        <p:spPr>
          <a:xfrm>
            <a:off x="2730318" y="7025036"/>
            <a:ext cx="639993" cy="0"/>
          </a:xfrm>
          <a:prstGeom prst="line">
            <a:avLst/>
          </a:prstGeom>
          <a:ln w="38100" cap="flat">
            <a:solidFill>
              <a:srgbClr val="2D226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Freeform 54"/>
          <p:cNvSpPr/>
          <p:nvPr/>
        </p:nvSpPr>
        <p:spPr>
          <a:xfrm>
            <a:off x="12247090" y="3461395"/>
            <a:ext cx="5893914" cy="4358938"/>
          </a:xfrm>
          <a:custGeom>
            <a:avLst/>
            <a:gdLst/>
            <a:ahLst/>
            <a:cxnLst/>
            <a:rect l="l" t="t" r="r" b="b"/>
            <a:pathLst>
              <a:path w="5893914" h="4358938">
                <a:moveTo>
                  <a:pt x="0" y="0"/>
                </a:moveTo>
                <a:lnTo>
                  <a:pt x="5893914" y="0"/>
                </a:lnTo>
                <a:lnTo>
                  <a:pt x="5893914" y="4358939"/>
                </a:lnTo>
                <a:lnTo>
                  <a:pt x="0" y="43589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 rot="635325">
            <a:off x="-754076" y="80735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6" name="Freeform 56"/>
          <p:cNvSpPr/>
          <p:nvPr/>
        </p:nvSpPr>
        <p:spPr>
          <a:xfrm rot="715246"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7" name="TextBox 57"/>
          <p:cNvSpPr txBox="1"/>
          <p:nvPr/>
        </p:nvSpPr>
        <p:spPr>
          <a:xfrm>
            <a:off x="6913585" y="1054055"/>
            <a:ext cx="12287011" cy="1938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75"/>
              </a:lnSpc>
            </a:pPr>
            <a:r>
              <a:rPr lang="en-US" sz="14639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PLAN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2699491" y="2068669"/>
            <a:ext cx="2007045" cy="152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64"/>
              </a:lnSpc>
            </a:pPr>
            <a:r>
              <a:rPr lang="en-US" sz="8903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555435" y="3522789"/>
            <a:ext cx="317370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FBFCF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Collaborative Process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88488" y="3522789"/>
            <a:ext cx="3173706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1">
                <a:solidFill>
                  <a:srgbClr val="FBFCF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Objectif du projet </a:t>
            </a:r>
          </a:p>
        </p:txBody>
      </p:sp>
      <p:sp>
        <p:nvSpPr>
          <p:cNvPr id="4" name="Freeform 4"/>
          <p:cNvSpPr/>
          <p:nvPr/>
        </p:nvSpPr>
        <p:spPr>
          <a:xfrm rot="-2080684">
            <a:off x="9913150" y="7257225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063113" y="3303573"/>
            <a:ext cx="15959684" cy="1282252"/>
            <a:chOff x="0" y="0"/>
            <a:chExt cx="4040971" cy="32466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040971" cy="324665"/>
            </a:xfrm>
            <a:custGeom>
              <a:avLst/>
              <a:gdLst/>
              <a:ahLst/>
              <a:cxnLst/>
              <a:rect l="l" t="t" r="r" b="b"/>
              <a:pathLst>
                <a:path w="4040971" h="324665">
                  <a:moveTo>
                    <a:pt x="38807" y="0"/>
                  </a:moveTo>
                  <a:lnTo>
                    <a:pt x="4002164" y="0"/>
                  </a:lnTo>
                  <a:cubicBezTo>
                    <a:pt x="4023597" y="0"/>
                    <a:pt x="4040971" y="17375"/>
                    <a:pt x="4040971" y="38807"/>
                  </a:cubicBezTo>
                  <a:lnTo>
                    <a:pt x="4040971" y="285857"/>
                  </a:lnTo>
                  <a:cubicBezTo>
                    <a:pt x="4040971" y="307290"/>
                    <a:pt x="4023597" y="324665"/>
                    <a:pt x="4002164" y="324665"/>
                  </a:cubicBezTo>
                  <a:lnTo>
                    <a:pt x="38807" y="324665"/>
                  </a:lnTo>
                  <a:cubicBezTo>
                    <a:pt x="28515" y="324665"/>
                    <a:pt x="18644" y="320576"/>
                    <a:pt x="11366" y="313298"/>
                  </a:cubicBezTo>
                  <a:cubicBezTo>
                    <a:pt x="4089" y="306020"/>
                    <a:pt x="0" y="296150"/>
                    <a:pt x="0" y="285857"/>
                  </a:cubicBezTo>
                  <a:lnTo>
                    <a:pt x="0" y="38807"/>
                  </a:lnTo>
                  <a:cubicBezTo>
                    <a:pt x="0" y="28515"/>
                    <a:pt x="4089" y="18644"/>
                    <a:pt x="11366" y="11366"/>
                  </a:cubicBezTo>
                  <a:cubicBezTo>
                    <a:pt x="18644" y="4089"/>
                    <a:pt x="28515" y="0"/>
                    <a:pt x="38807" y="0"/>
                  </a:cubicBezTo>
                  <a:close/>
                </a:path>
              </a:pathLst>
            </a:custGeom>
            <a:solidFill>
              <a:srgbClr val="C9BFB5"/>
            </a:solidFill>
            <a:ln w="19050" cap="rnd">
              <a:solidFill>
                <a:srgbClr val="C9BFB5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040971" cy="362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1218" y="4904996"/>
            <a:ext cx="15959684" cy="1025152"/>
            <a:chOff x="0" y="0"/>
            <a:chExt cx="4040971" cy="25956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40971" cy="259567"/>
            </a:xfrm>
            <a:custGeom>
              <a:avLst/>
              <a:gdLst/>
              <a:ahLst/>
              <a:cxnLst/>
              <a:rect l="l" t="t" r="r" b="b"/>
              <a:pathLst>
                <a:path w="4040971" h="259567">
                  <a:moveTo>
                    <a:pt x="38807" y="0"/>
                  </a:moveTo>
                  <a:lnTo>
                    <a:pt x="4002164" y="0"/>
                  </a:lnTo>
                  <a:cubicBezTo>
                    <a:pt x="4023597" y="0"/>
                    <a:pt x="4040971" y="17375"/>
                    <a:pt x="4040971" y="38807"/>
                  </a:cubicBezTo>
                  <a:lnTo>
                    <a:pt x="4040971" y="220760"/>
                  </a:lnTo>
                  <a:cubicBezTo>
                    <a:pt x="4040971" y="242192"/>
                    <a:pt x="4023597" y="259567"/>
                    <a:pt x="4002164" y="259567"/>
                  </a:cubicBezTo>
                  <a:lnTo>
                    <a:pt x="38807" y="259567"/>
                  </a:lnTo>
                  <a:cubicBezTo>
                    <a:pt x="28515" y="259567"/>
                    <a:pt x="18644" y="255478"/>
                    <a:pt x="11366" y="248201"/>
                  </a:cubicBezTo>
                  <a:cubicBezTo>
                    <a:pt x="4089" y="240923"/>
                    <a:pt x="0" y="231052"/>
                    <a:pt x="0" y="220760"/>
                  </a:cubicBezTo>
                  <a:lnTo>
                    <a:pt x="0" y="38807"/>
                  </a:lnTo>
                  <a:cubicBezTo>
                    <a:pt x="0" y="28515"/>
                    <a:pt x="4089" y="18644"/>
                    <a:pt x="11366" y="11366"/>
                  </a:cubicBezTo>
                  <a:cubicBezTo>
                    <a:pt x="18644" y="4089"/>
                    <a:pt x="28515" y="0"/>
                    <a:pt x="38807" y="0"/>
                  </a:cubicBezTo>
                  <a:close/>
                </a:path>
              </a:pathLst>
            </a:custGeom>
            <a:solidFill>
              <a:srgbClr val="C9BFB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4040971" cy="29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757867" y="3377435"/>
            <a:ext cx="14435000" cy="1006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77"/>
              </a:lnSpc>
            </a:pPr>
            <a:r>
              <a:rPr lang="fr-FR" sz="2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Dans l'enseignement supérieur tunisien, certains établissements réussissent mieux que d'autres. Le Ministère a besoin de comprendre pourquoi pour mieux répartir ses ressources.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741810" y="4864025"/>
            <a:ext cx="14772267" cy="1030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77"/>
              </a:lnSpc>
            </a:pPr>
            <a:r>
              <a:rPr lang="en-US" sz="291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Conséquences possibles : mauvaise allocation des ressources, inégalités entre établissements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41218" y="6225450"/>
            <a:ext cx="15959684" cy="1025152"/>
            <a:chOff x="0" y="0"/>
            <a:chExt cx="4040971" cy="25956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40971" cy="259567"/>
            </a:xfrm>
            <a:custGeom>
              <a:avLst/>
              <a:gdLst/>
              <a:ahLst/>
              <a:cxnLst/>
              <a:rect l="l" t="t" r="r" b="b"/>
              <a:pathLst>
                <a:path w="4040971" h="259567">
                  <a:moveTo>
                    <a:pt x="38807" y="0"/>
                  </a:moveTo>
                  <a:lnTo>
                    <a:pt x="4002164" y="0"/>
                  </a:lnTo>
                  <a:cubicBezTo>
                    <a:pt x="4023597" y="0"/>
                    <a:pt x="4040971" y="17375"/>
                    <a:pt x="4040971" y="38807"/>
                  </a:cubicBezTo>
                  <a:lnTo>
                    <a:pt x="4040971" y="220760"/>
                  </a:lnTo>
                  <a:cubicBezTo>
                    <a:pt x="4040971" y="242192"/>
                    <a:pt x="4023597" y="259567"/>
                    <a:pt x="4002164" y="259567"/>
                  </a:cubicBezTo>
                  <a:lnTo>
                    <a:pt x="38807" y="259567"/>
                  </a:lnTo>
                  <a:cubicBezTo>
                    <a:pt x="28515" y="259567"/>
                    <a:pt x="18644" y="255478"/>
                    <a:pt x="11366" y="248201"/>
                  </a:cubicBezTo>
                  <a:cubicBezTo>
                    <a:pt x="4089" y="240923"/>
                    <a:pt x="0" y="231052"/>
                    <a:pt x="0" y="220760"/>
                  </a:cubicBezTo>
                  <a:lnTo>
                    <a:pt x="0" y="38807"/>
                  </a:lnTo>
                  <a:cubicBezTo>
                    <a:pt x="0" y="28515"/>
                    <a:pt x="4089" y="18644"/>
                    <a:pt x="11366" y="11366"/>
                  </a:cubicBezTo>
                  <a:cubicBezTo>
                    <a:pt x="18644" y="4089"/>
                    <a:pt x="28515" y="0"/>
                    <a:pt x="38807" y="0"/>
                  </a:cubicBezTo>
                  <a:close/>
                </a:path>
              </a:pathLst>
            </a:custGeom>
            <a:solidFill>
              <a:srgbClr val="C9BFB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4040971" cy="29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525100" y="6293553"/>
            <a:ext cx="15784190" cy="1020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77"/>
              </a:lnSpc>
            </a:pPr>
            <a:r>
              <a:rPr lang="fr-FR" sz="28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Ce projet utilise le Machine Learning pour prédire le taux de réussite d'un établissement à partir de ses caractéristiques</a:t>
            </a:r>
            <a:endParaRPr lang="en-US" sz="2800" dirty="0">
              <a:solidFill>
                <a:schemeClr val="bg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17195" y="1309270"/>
            <a:ext cx="4222164" cy="1521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64"/>
              </a:lnSpc>
            </a:pPr>
            <a:r>
              <a:rPr lang="en-US" sz="8903" dirty="0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Introduction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2753" y="1075640"/>
            <a:ext cx="15262494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9600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2721455"/>
            <a:ext cx="5325654" cy="4844089"/>
            <a:chOff x="0" y="0"/>
            <a:chExt cx="1402641" cy="12758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02641" cy="1275810"/>
            </a:xfrm>
            <a:custGeom>
              <a:avLst/>
              <a:gdLst/>
              <a:ahLst/>
              <a:cxnLst/>
              <a:rect l="l" t="t" r="r" b="b"/>
              <a:pathLst>
                <a:path w="1402641" h="1275810">
                  <a:moveTo>
                    <a:pt x="43611" y="0"/>
                  </a:moveTo>
                  <a:lnTo>
                    <a:pt x="1359030" y="0"/>
                  </a:lnTo>
                  <a:cubicBezTo>
                    <a:pt x="1370597" y="0"/>
                    <a:pt x="1381689" y="4595"/>
                    <a:pt x="1389868" y="12773"/>
                  </a:cubicBezTo>
                  <a:cubicBezTo>
                    <a:pt x="1398047" y="20952"/>
                    <a:pt x="1402641" y="32045"/>
                    <a:pt x="1402641" y="43611"/>
                  </a:cubicBezTo>
                  <a:lnTo>
                    <a:pt x="1402641" y="1232198"/>
                  </a:lnTo>
                  <a:cubicBezTo>
                    <a:pt x="1402641" y="1243765"/>
                    <a:pt x="1398047" y="1254858"/>
                    <a:pt x="1389868" y="1263036"/>
                  </a:cubicBezTo>
                  <a:cubicBezTo>
                    <a:pt x="1381689" y="1271215"/>
                    <a:pt x="1370597" y="1275810"/>
                    <a:pt x="1359030" y="1275810"/>
                  </a:cubicBezTo>
                  <a:lnTo>
                    <a:pt x="43611" y="1275810"/>
                  </a:lnTo>
                  <a:cubicBezTo>
                    <a:pt x="19525" y="1275810"/>
                    <a:pt x="0" y="1256284"/>
                    <a:pt x="0" y="1232198"/>
                  </a:cubicBezTo>
                  <a:lnTo>
                    <a:pt x="0" y="43611"/>
                  </a:lnTo>
                  <a:cubicBezTo>
                    <a:pt x="0" y="32045"/>
                    <a:pt x="4595" y="20952"/>
                    <a:pt x="12773" y="12773"/>
                  </a:cubicBezTo>
                  <a:cubicBezTo>
                    <a:pt x="20952" y="4595"/>
                    <a:pt x="32045" y="0"/>
                    <a:pt x="43611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402641" cy="1323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2080684">
            <a:off x="10082077" y="8242051"/>
            <a:ext cx="10960234" cy="7472887"/>
          </a:xfrm>
          <a:custGeom>
            <a:avLst/>
            <a:gdLst/>
            <a:ahLst/>
            <a:cxnLst/>
            <a:rect l="l" t="t" r="r" b="b"/>
            <a:pathLst>
              <a:path w="10960234" h="7472887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426524">
            <a:off x="-3984660" y="-4765086"/>
            <a:ext cx="9442126" cy="8000056"/>
          </a:xfrm>
          <a:custGeom>
            <a:avLst/>
            <a:gdLst/>
            <a:ahLst/>
            <a:cxnLst/>
            <a:rect l="l" t="t" r="r" b="b"/>
            <a:pathLst>
              <a:path w="9442126" h="800005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624874">
            <a:off x="-884948" y="9077955"/>
            <a:ext cx="3242701" cy="1827704"/>
          </a:xfrm>
          <a:custGeom>
            <a:avLst/>
            <a:gdLst/>
            <a:ahLst/>
            <a:cxnLst/>
            <a:rect l="l" t="t" r="r" b="b"/>
            <a:pathLst>
              <a:path w="3242701" h="1827704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830696">
            <a:off x="16075185" y="-10287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69843" y="824659"/>
            <a:ext cx="13338723" cy="156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399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Choix et Démarche Méthodologique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60641" y="8685401"/>
            <a:ext cx="2284068" cy="399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80"/>
              </a:lnSpc>
            </a:pPr>
            <a:r>
              <a:rPr lang="en-US" sz="275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4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83338" y="4124902"/>
            <a:ext cx="4953636" cy="632499"/>
            <a:chOff x="0" y="0"/>
            <a:chExt cx="1429732" cy="1825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29732" cy="182554"/>
            </a:xfrm>
            <a:custGeom>
              <a:avLst/>
              <a:gdLst/>
              <a:ahLst/>
              <a:cxnLst/>
              <a:rect l="l" t="t" r="r" b="b"/>
              <a:pathLst>
                <a:path w="1429732" h="182554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83338" y="3205058"/>
            <a:ext cx="4953636" cy="632499"/>
            <a:chOff x="0" y="0"/>
            <a:chExt cx="1429732" cy="1825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29732" cy="182554"/>
            </a:xfrm>
            <a:custGeom>
              <a:avLst/>
              <a:gdLst/>
              <a:ahLst/>
              <a:cxnLst/>
              <a:rect l="l" t="t" r="r" b="b"/>
              <a:pathLst>
                <a:path w="1429732" h="182554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83338" y="5007698"/>
            <a:ext cx="4953636" cy="632499"/>
            <a:chOff x="0" y="0"/>
            <a:chExt cx="1429732" cy="18255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29732" cy="182554"/>
            </a:xfrm>
            <a:custGeom>
              <a:avLst/>
              <a:gdLst/>
              <a:ahLst/>
              <a:cxnLst/>
              <a:rect l="l" t="t" r="r" b="b"/>
              <a:pathLst>
                <a:path w="1429732" h="182554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97484" y="4273304"/>
            <a:ext cx="4273749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2 : Collecter les données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87959" y="5167117"/>
            <a:ext cx="4101407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3 : Explorer les données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30742" y="3343954"/>
            <a:ext cx="4465273" cy="30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11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1 : Définir le problème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32731" y="5887364"/>
            <a:ext cx="4953636" cy="632499"/>
            <a:chOff x="0" y="0"/>
            <a:chExt cx="1429732" cy="18255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429732" cy="182554"/>
            </a:xfrm>
            <a:custGeom>
              <a:avLst/>
              <a:gdLst/>
              <a:ahLst/>
              <a:cxnLst/>
              <a:rect l="l" t="t" r="r" b="b"/>
              <a:pathLst>
                <a:path w="1429732" h="182554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511692" y="6030721"/>
            <a:ext cx="4155788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4 : Préparer les données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7003567" y="2706240"/>
            <a:ext cx="5325654" cy="4844089"/>
            <a:chOff x="0" y="0"/>
            <a:chExt cx="1402641" cy="12758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402641" cy="1275810"/>
            </a:xfrm>
            <a:custGeom>
              <a:avLst/>
              <a:gdLst/>
              <a:ahLst/>
              <a:cxnLst/>
              <a:rect l="l" t="t" r="r" b="b"/>
              <a:pathLst>
                <a:path w="1402641" h="1275810">
                  <a:moveTo>
                    <a:pt x="43611" y="0"/>
                  </a:moveTo>
                  <a:lnTo>
                    <a:pt x="1359030" y="0"/>
                  </a:lnTo>
                  <a:cubicBezTo>
                    <a:pt x="1370597" y="0"/>
                    <a:pt x="1381689" y="4595"/>
                    <a:pt x="1389868" y="12773"/>
                  </a:cubicBezTo>
                  <a:cubicBezTo>
                    <a:pt x="1398047" y="20952"/>
                    <a:pt x="1402641" y="32045"/>
                    <a:pt x="1402641" y="43611"/>
                  </a:cubicBezTo>
                  <a:lnTo>
                    <a:pt x="1402641" y="1232198"/>
                  </a:lnTo>
                  <a:cubicBezTo>
                    <a:pt x="1402641" y="1243765"/>
                    <a:pt x="1398047" y="1254858"/>
                    <a:pt x="1389868" y="1263036"/>
                  </a:cubicBezTo>
                  <a:cubicBezTo>
                    <a:pt x="1381689" y="1271215"/>
                    <a:pt x="1370597" y="1275810"/>
                    <a:pt x="1359030" y="1275810"/>
                  </a:cubicBezTo>
                  <a:lnTo>
                    <a:pt x="43611" y="1275810"/>
                  </a:lnTo>
                  <a:cubicBezTo>
                    <a:pt x="19525" y="1275810"/>
                    <a:pt x="0" y="1256284"/>
                    <a:pt x="0" y="1232198"/>
                  </a:cubicBezTo>
                  <a:lnTo>
                    <a:pt x="0" y="43611"/>
                  </a:lnTo>
                  <a:cubicBezTo>
                    <a:pt x="0" y="32045"/>
                    <a:pt x="4595" y="20952"/>
                    <a:pt x="12773" y="12773"/>
                  </a:cubicBezTo>
                  <a:cubicBezTo>
                    <a:pt x="20952" y="4595"/>
                    <a:pt x="32045" y="0"/>
                    <a:pt x="43611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1402641" cy="13234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41096" y="4095595"/>
            <a:ext cx="4953636" cy="632499"/>
            <a:chOff x="0" y="0"/>
            <a:chExt cx="1429732" cy="18255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29732" cy="182554"/>
            </a:xfrm>
            <a:custGeom>
              <a:avLst/>
              <a:gdLst/>
              <a:ahLst/>
              <a:cxnLst/>
              <a:rect l="l" t="t" r="r" b="b"/>
              <a:pathLst>
                <a:path w="1429732" h="182554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41096" y="3175750"/>
            <a:ext cx="4953636" cy="632499"/>
            <a:chOff x="0" y="0"/>
            <a:chExt cx="1429732" cy="18255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429732" cy="182554"/>
            </a:xfrm>
            <a:custGeom>
              <a:avLst/>
              <a:gdLst/>
              <a:ahLst/>
              <a:cxnLst/>
              <a:rect l="l" t="t" r="r" b="b"/>
              <a:pathLst>
                <a:path w="1429732" h="182554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241096" y="4978390"/>
            <a:ext cx="4953636" cy="632499"/>
            <a:chOff x="0" y="0"/>
            <a:chExt cx="1429732" cy="18255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429732" cy="182554"/>
            </a:xfrm>
            <a:custGeom>
              <a:avLst/>
              <a:gdLst/>
              <a:ahLst/>
              <a:cxnLst/>
              <a:rect l="l" t="t" r="r" b="b"/>
              <a:pathLst>
                <a:path w="1429732" h="182554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7555243" y="4243997"/>
            <a:ext cx="4273749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6 : Entraîner 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55243" y="5137809"/>
            <a:ext cx="4101407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7 : Évaluer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88500" y="3314647"/>
            <a:ext cx="4465273" cy="303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30"/>
              </a:lnSpc>
            </a:pPr>
            <a:r>
              <a:rPr lang="en-US" sz="211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5 : Choisir un modèle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7190489" y="5858056"/>
            <a:ext cx="4953636" cy="632499"/>
            <a:chOff x="0" y="0"/>
            <a:chExt cx="1429732" cy="18255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429732" cy="182554"/>
            </a:xfrm>
            <a:custGeom>
              <a:avLst/>
              <a:gdLst/>
              <a:ahLst/>
              <a:cxnLst/>
              <a:rect l="l" t="t" r="r" b="b"/>
              <a:pathLst>
                <a:path w="1429732" h="182554">
                  <a:moveTo>
                    <a:pt x="91277" y="0"/>
                  </a:moveTo>
                  <a:lnTo>
                    <a:pt x="1338456" y="0"/>
                  </a:lnTo>
                  <a:cubicBezTo>
                    <a:pt x="1388866" y="0"/>
                    <a:pt x="1429732" y="40866"/>
                    <a:pt x="1429732" y="91277"/>
                  </a:cubicBezTo>
                  <a:lnTo>
                    <a:pt x="1429732" y="91277"/>
                  </a:lnTo>
                  <a:cubicBezTo>
                    <a:pt x="1429732" y="115485"/>
                    <a:pt x="1420116" y="138701"/>
                    <a:pt x="1402998" y="155819"/>
                  </a:cubicBezTo>
                  <a:cubicBezTo>
                    <a:pt x="1385880" y="172937"/>
                    <a:pt x="1362664" y="182554"/>
                    <a:pt x="1338456" y="182554"/>
                  </a:cubicBezTo>
                  <a:lnTo>
                    <a:pt x="91277" y="182554"/>
                  </a:lnTo>
                  <a:cubicBezTo>
                    <a:pt x="67069" y="182554"/>
                    <a:pt x="43852" y="172937"/>
                    <a:pt x="26734" y="155819"/>
                  </a:cubicBezTo>
                  <a:cubicBezTo>
                    <a:pt x="9617" y="138701"/>
                    <a:pt x="0" y="115485"/>
                    <a:pt x="0" y="91277"/>
                  </a:cubicBezTo>
                  <a:lnTo>
                    <a:pt x="0" y="91277"/>
                  </a:lnTo>
                  <a:cubicBezTo>
                    <a:pt x="0" y="67069"/>
                    <a:pt x="9617" y="43852"/>
                    <a:pt x="26734" y="26734"/>
                  </a:cubicBezTo>
                  <a:cubicBezTo>
                    <a:pt x="43852" y="9617"/>
                    <a:pt x="67069" y="0"/>
                    <a:pt x="91277" y="0"/>
                  </a:cubicBezTo>
                  <a:close/>
                </a:path>
              </a:pathLst>
            </a:custGeom>
            <a:solidFill>
              <a:srgbClr val="1D3163"/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1429732" cy="2206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7588500" y="5991889"/>
            <a:ext cx="4155788" cy="302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Étape 8 : Déployer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2591515" y="3792491"/>
            <a:ext cx="5313964" cy="3990601"/>
            <a:chOff x="0" y="0"/>
            <a:chExt cx="1399563" cy="105102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99563" cy="1051023"/>
            </a:xfrm>
            <a:custGeom>
              <a:avLst/>
              <a:gdLst/>
              <a:ahLst/>
              <a:cxnLst/>
              <a:rect l="l" t="t" r="r" b="b"/>
              <a:pathLst>
                <a:path w="1399563" h="1051023">
                  <a:moveTo>
                    <a:pt x="43707" y="0"/>
                  </a:moveTo>
                  <a:lnTo>
                    <a:pt x="1355856" y="0"/>
                  </a:lnTo>
                  <a:cubicBezTo>
                    <a:pt x="1367447" y="0"/>
                    <a:pt x="1378564" y="4605"/>
                    <a:pt x="1386761" y="12801"/>
                  </a:cubicBezTo>
                  <a:cubicBezTo>
                    <a:pt x="1394958" y="20998"/>
                    <a:pt x="1399563" y="32115"/>
                    <a:pt x="1399563" y="43707"/>
                  </a:cubicBezTo>
                  <a:lnTo>
                    <a:pt x="1399563" y="1007316"/>
                  </a:lnTo>
                  <a:cubicBezTo>
                    <a:pt x="1399563" y="1031454"/>
                    <a:pt x="1379994" y="1051023"/>
                    <a:pt x="1355856" y="1051023"/>
                  </a:cubicBezTo>
                  <a:lnTo>
                    <a:pt x="43707" y="1051023"/>
                  </a:lnTo>
                  <a:cubicBezTo>
                    <a:pt x="32115" y="1051023"/>
                    <a:pt x="20998" y="1046418"/>
                    <a:pt x="12801" y="1038221"/>
                  </a:cubicBezTo>
                  <a:cubicBezTo>
                    <a:pt x="4605" y="1030024"/>
                    <a:pt x="0" y="1018907"/>
                    <a:pt x="0" y="1007316"/>
                  </a:cubicBezTo>
                  <a:lnTo>
                    <a:pt x="0" y="43707"/>
                  </a:lnTo>
                  <a:cubicBezTo>
                    <a:pt x="0" y="19568"/>
                    <a:pt x="19568" y="0"/>
                    <a:pt x="43707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1399563" cy="1098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2977024" y="4330482"/>
            <a:ext cx="4515896" cy="2370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30"/>
              </a:lnSpc>
              <a:spcBef>
                <a:spcPct val="0"/>
              </a:spcBef>
            </a:pPr>
            <a:r>
              <a:rPr lang="en-US" sz="2118" b="1" u="none" strike="noStrike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Dataset choisi : Portail Open Data Tunisien (data.gov.tn)</a:t>
            </a:r>
          </a:p>
          <a:p>
            <a:pPr marL="0" lvl="0" indent="0" algn="l">
              <a:lnSpc>
                <a:spcPts val="2330"/>
              </a:lnSpc>
              <a:spcBef>
                <a:spcPct val="0"/>
              </a:spcBef>
            </a:pPr>
            <a:r>
              <a:rPr lang="en-US" sz="2118" b="1" u="none" strike="noStrike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 2 datasets officiels </a:t>
            </a:r>
          </a:p>
          <a:p>
            <a:pPr marL="0" lvl="0" indent="0" algn="l">
              <a:lnSpc>
                <a:spcPts val="2330"/>
              </a:lnSpc>
              <a:spcBef>
                <a:spcPct val="0"/>
              </a:spcBef>
            </a:pPr>
            <a:r>
              <a:rPr lang="en-US" sz="2118" b="1" u="none" strike="noStrike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 2 083 lignes pour diplômés </a:t>
            </a:r>
          </a:p>
          <a:p>
            <a:pPr marL="0" lvl="0" indent="0" algn="l">
              <a:lnSpc>
                <a:spcPts val="2330"/>
              </a:lnSpc>
              <a:spcBef>
                <a:spcPct val="0"/>
              </a:spcBef>
            </a:pPr>
            <a:r>
              <a:rPr lang="en-US" sz="2118" b="1" u="none" strike="noStrike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 19 878 lignes pour inscrits </a:t>
            </a:r>
          </a:p>
          <a:p>
            <a:pPr marL="0" lvl="0" indent="0" algn="l">
              <a:lnSpc>
                <a:spcPts val="2330"/>
              </a:lnSpc>
              <a:spcBef>
                <a:spcPct val="0"/>
              </a:spcBef>
            </a:pPr>
            <a:r>
              <a:rPr lang="en-US" sz="2118" b="1" u="none" strike="noStrike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• Variable cible : taux de réussite (continue 0-1) → régression</a:t>
            </a:r>
          </a:p>
          <a:p>
            <a:pPr marL="0" lvl="0" indent="0" algn="l">
              <a:lnSpc>
                <a:spcPts val="2330"/>
              </a:lnSpc>
              <a:spcBef>
                <a:spcPct val="0"/>
              </a:spcBef>
            </a:pPr>
            <a:endParaRPr lang="en-US" sz="2118" b="1" u="none" strike="noStrike">
              <a:solidFill>
                <a:srgbClr val="2925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12877265" y="3047391"/>
            <a:ext cx="4015710" cy="1027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dirty="0">
                <a:solidFill>
                  <a:srgbClr val="2D2261"/>
                </a:solidFill>
                <a:latin typeface="Brittany"/>
                <a:ea typeface="Brittany"/>
                <a:cs typeface="Brittany"/>
                <a:sym typeface="Brittany"/>
              </a:rPr>
              <a:t>Choix de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12404" y="7552613"/>
            <a:ext cx="1029499" cy="1029499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2830696">
            <a:off x="16270495" y="806502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57321" y="2709332"/>
            <a:ext cx="9123410" cy="3057915"/>
          </a:xfrm>
          <a:custGeom>
            <a:avLst/>
            <a:gdLst/>
            <a:ahLst/>
            <a:cxnLst/>
            <a:rect l="l" t="t" r="r" b="b"/>
            <a:pathLst>
              <a:path w="9123410" h="3057915">
                <a:moveTo>
                  <a:pt x="0" y="0"/>
                </a:moveTo>
                <a:lnTo>
                  <a:pt x="9123410" y="0"/>
                </a:lnTo>
                <a:lnTo>
                  <a:pt x="9123410" y="3057915"/>
                </a:lnTo>
                <a:lnTo>
                  <a:pt x="0" y="30579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9784382" y="7038269"/>
            <a:ext cx="6270713" cy="2563649"/>
            <a:chOff x="0" y="0"/>
            <a:chExt cx="8360950" cy="3418199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8360950" cy="3418199"/>
              <a:chOff x="0" y="0"/>
              <a:chExt cx="1851798" cy="75706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851798" cy="757069"/>
              </a:xfrm>
              <a:custGeom>
                <a:avLst/>
                <a:gdLst/>
                <a:ahLst/>
                <a:cxnLst/>
                <a:rect l="l" t="t" r="r" b="b"/>
                <a:pathLst>
                  <a:path w="1851798" h="757069">
                    <a:moveTo>
                      <a:pt x="62965" y="0"/>
                    </a:moveTo>
                    <a:lnTo>
                      <a:pt x="1788833" y="0"/>
                    </a:lnTo>
                    <a:cubicBezTo>
                      <a:pt x="1823608" y="0"/>
                      <a:pt x="1851798" y="28191"/>
                      <a:pt x="1851798" y="62965"/>
                    </a:cubicBezTo>
                    <a:lnTo>
                      <a:pt x="1851798" y="694104"/>
                    </a:lnTo>
                    <a:cubicBezTo>
                      <a:pt x="1851798" y="728878"/>
                      <a:pt x="1823608" y="757069"/>
                      <a:pt x="1788833" y="757069"/>
                    </a:cubicBezTo>
                    <a:lnTo>
                      <a:pt x="62965" y="757069"/>
                    </a:lnTo>
                    <a:cubicBezTo>
                      <a:pt x="28191" y="757069"/>
                      <a:pt x="0" y="728878"/>
                      <a:pt x="0" y="694104"/>
                    </a:cubicBezTo>
                    <a:lnTo>
                      <a:pt x="0" y="62965"/>
                    </a:lnTo>
                    <a:cubicBezTo>
                      <a:pt x="0" y="28191"/>
                      <a:pt x="28191" y="0"/>
                      <a:pt x="62965" y="0"/>
                    </a:cubicBezTo>
                    <a:close/>
                  </a:path>
                </a:pathLst>
              </a:custGeom>
              <a:solidFill>
                <a:srgbClr val="ECE0D6"/>
              </a:solidFill>
              <a:ln w="9525" cap="rnd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38100"/>
                <a:ext cx="1851798" cy="79516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234077" y="207346"/>
              <a:ext cx="5892795" cy="29558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31"/>
                </a:lnSpc>
              </a:pPr>
              <a:r>
                <a:rPr lang="en-US" sz="2451" b="1" dirty="0" err="1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Résultat</a:t>
              </a:r>
              <a:r>
                <a:rPr lang="en-US" sz="2451" b="1" dirty="0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:</a:t>
              </a:r>
            </a:p>
            <a:p>
              <a:pPr algn="ctr">
                <a:lnSpc>
                  <a:spcPts val="2871"/>
                </a:lnSpc>
                <a:spcBef>
                  <a:spcPct val="0"/>
                </a:spcBef>
              </a:pPr>
              <a:r>
                <a:rPr lang="en-US" sz="2051" b="1" dirty="0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Random Forest et Gradient Boosting </a:t>
              </a:r>
              <a:r>
                <a:rPr lang="en-US" sz="2051" b="1" dirty="0" err="1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sont</a:t>
              </a:r>
              <a:r>
                <a:rPr lang="en-US" sz="2051" b="1" dirty="0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très </a:t>
              </a:r>
              <a:r>
                <a:rPr lang="en-US" sz="2051" b="1" dirty="0" err="1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proches</a:t>
              </a:r>
              <a:r>
                <a:rPr lang="en-US" sz="2051" b="1" dirty="0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(R² ≈ 0.976, MAE ≈ 1.3%). La </a:t>
              </a:r>
              <a:r>
                <a:rPr lang="en-US" sz="2051" b="1" dirty="0" err="1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régression</a:t>
              </a:r>
              <a:r>
                <a:rPr lang="en-US" sz="2051" b="1" dirty="0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</a:t>
              </a:r>
              <a:r>
                <a:rPr lang="en-US" sz="2051" b="1" dirty="0" err="1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linéaire</a:t>
              </a:r>
              <a:r>
                <a:rPr lang="en-US" sz="2051" b="1" dirty="0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est </a:t>
              </a:r>
              <a:r>
                <a:rPr lang="en-US" sz="2051" b="1" dirty="0" err="1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moins</a:t>
              </a:r>
              <a:r>
                <a:rPr lang="en-US" sz="2051" b="1" dirty="0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</a:t>
              </a:r>
              <a:r>
                <a:rPr lang="en-US" sz="2051" b="1" dirty="0" err="1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performante</a:t>
              </a:r>
              <a:r>
                <a:rPr lang="en-US" sz="2051" b="1" dirty="0">
                  <a:solidFill>
                    <a:srgbClr val="1D3163"/>
                  </a:solidFill>
                  <a:latin typeface="Quicksand Bold"/>
                  <a:ea typeface="Quicksand Bold"/>
                  <a:cs typeface="Quicksand Bold"/>
                  <a:sym typeface="Quicksand Bold"/>
                </a:rPr>
                <a:t> (R² = 0.9125).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188046" y="3385998"/>
            <a:ext cx="6169155" cy="2547371"/>
            <a:chOff x="0" y="0"/>
            <a:chExt cx="815827" cy="3368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5827" cy="336872"/>
            </a:xfrm>
            <a:custGeom>
              <a:avLst/>
              <a:gdLst/>
              <a:ahLst/>
              <a:cxnLst/>
              <a:rect l="l" t="t" r="r" b="b"/>
              <a:pathLst>
                <a:path w="815827" h="336872">
                  <a:moveTo>
                    <a:pt x="24511" y="0"/>
                  </a:moveTo>
                  <a:lnTo>
                    <a:pt x="791316" y="0"/>
                  </a:lnTo>
                  <a:cubicBezTo>
                    <a:pt x="797817" y="0"/>
                    <a:pt x="804051" y="2582"/>
                    <a:pt x="808648" y="7179"/>
                  </a:cubicBezTo>
                  <a:cubicBezTo>
                    <a:pt x="813244" y="11776"/>
                    <a:pt x="815827" y="18010"/>
                    <a:pt x="815827" y="24511"/>
                  </a:cubicBezTo>
                  <a:lnTo>
                    <a:pt x="815827" y="312361"/>
                  </a:lnTo>
                  <a:cubicBezTo>
                    <a:pt x="815827" y="325898"/>
                    <a:pt x="804853" y="336872"/>
                    <a:pt x="791316" y="336872"/>
                  </a:cubicBezTo>
                  <a:lnTo>
                    <a:pt x="24511" y="336872"/>
                  </a:lnTo>
                  <a:cubicBezTo>
                    <a:pt x="18010" y="336872"/>
                    <a:pt x="11776" y="334289"/>
                    <a:pt x="7179" y="329693"/>
                  </a:cubicBezTo>
                  <a:cubicBezTo>
                    <a:pt x="2582" y="325096"/>
                    <a:pt x="0" y="318862"/>
                    <a:pt x="0" y="312361"/>
                  </a:cubicBezTo>
                  <a:lnTo>
                    <a:pt x="0" y="24511"/>
                  </a:lnTo>
                  <a:cubicBezTo>
                    <a:pt x="0" y="10974"/>
                    <a:pt x="10974" y="0"/>
                    <a:pt x="24511" y="0"/>
                  </a:cubicBezTo>
                  <a:close/>
                </a:path>
              </a:pathLst>
            </a:custGeom>
            <a:ln w="38100" cap="rnd">
              <a:solidFill>
                <a:srgbClr val="2D2261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15827" cy="384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966074" y="715732"/>
            <a:ext cx="10308072" cy="156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6399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Modélisation et Comparaison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5013" y="6135882"/>
            <a:ext cx="7662768" cy="2799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7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Métriques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utilisées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:</a:t>
            </a:r>
          </a:p>
          <a:p>
            <a:pPr algn="l">
              <a:lnSpc>
                <a:spcPts val="3219"/>
              </a:lnSpc>
            </a:pP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Le R²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mesure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la proportion de variance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expliquée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par le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modèle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(plus il est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proche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de 1,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meilleure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est la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prédiction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). Le MAE (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erreur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absolue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moyenne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)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indique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l'écart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moyen entre la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valeur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réelle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et la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valeur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prédite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,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exprimé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299" b="1" dirty="0" err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pourcentage</a:t>
            </a:r>
            <a:r>
              <a:rPr lang="en-US" sz="2299" b="1" dirty="0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  <a:p>
            <a:pPr algn="l">
              <a:lnSpc>
                <a:spcPts val="3219"/>
              </a:lnSpc>
            </a:pPr>
            <a:endParaRPr lang="en-US" sz="2299" b="1" dirty="0">
              <a:solidFill>
                <a:srgbClr val="1D3163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625232" y="3663686"/>
            <a:ext cx="7662768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1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Familles de modèles testées :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Régression linéaire 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Random Forest</a:t>
            </a:r>
          </a:p>
          <a:p>
            <a:pPr marL="474978" lvl="1" indent="-237489" algn="l">
              <a:lnSpc>
                <a:spcPts val="3079"/>
              </a:lnSpc>
              <a:buFont typeface="Arial"/>
              <a:buChar char="•"/>
            </a:pPr>
            <a:r>
              <a:rPr lang="en-US" sz="2199" b="1">
                <a:solidFill>
                  <a:srgbClr val="292562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Gradient Boosting </a:t>
            </a:r>
          </a:p>
          <a:p>
            <a:pPr algn="l">
              <a:lnSpc>
                <a:spcPts val="3079"/>
              </a:lnSpc>
            </a:pPr>
            <a:endParaRPr lang="en-US" sz="2199" b="1">
              <a:solidFill>
                <a:srgbClr val="292562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344695" y="5991151"/>
            <a:ext cx="7843403" cy="3145691"/>
            <a:chOff x="0" y="0"/>
            <a:chExt cx="839949" cy="3368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39949" cy="336872"/>
            </a:xfrm>
            <a:custGeom>
              <a:avLst/>
              <a:gdLst/>
              <a:ahLst/>
              <a:cxnLst/>
              <a:rect l="l" t="t" r="r" b="b"/>
              <a:pathLst>
                <a:path w="839949" h="336872">
                  <a:moveTo>
                    <a:pt x="19279" y="0"/>
                  </a:moveTo>
                  <a:lnTo>
                    <a:pt x="820670" y="0"/>
                  </a:lnTo>
                  <a:cubicBezTo>
                    <a:pt x="831318" y="0"/>
                    <a:pt x="839949" y="8631"/>
                    <a:pt x="839949" y="19279"/>
                  </a:cubicBezTo>
                  <a:lnTo>
                    <a:pt x="839949" y="317593"/>
                  </a:lnTo>
                  <a:cubicBezTo>
                    <a:pt x="839949" y="322706"/>
                    <a:pt x="837918" y="327610"/>
                    <a:pt x="834302" y="331225"/>
                  </a:cubicBezTo>
                  <a:cubicBezTo>
                    <a:pt x="830687" y="334840"/>
                    <a:pt x="825783" y="336872"/>
                    <a:pt x="820670" y="336872"/>
                  </a:cubicBezTo>
                  <a:lnTo>
                    <a:pt x="19279" y="336872"/>
                  </a:lnTo>
                  <a:cubicBezTo>
                    <a:pt x="14166" y="336872"/>
                    <a:pt x="9262" y="334840"/>
                    <a:pt x="5647" y="331225"/>
                  </a:cubicBezTo>
                  <a:cubicBezTo>
                    <a:pt x="2031" y="327610"/>
                    <a:pt x="0" y="322706"/>
                    <a:pt x="0" y="317593"/>
                  </a:cubicBezTo>
                  <a:lnTo>
                    <a:pt x="0" y="19279"/>
                  </a:lnTo>
                  <a:cubicBezTo>
                    <a:pt x="0" y="14166"/>
                    <a:pt x="2031" y="9262"/>
                    <a:pt x="5647" y="5647"/>
                  </a:cubicBezTo>
                  <a:cubicBezTo>
                    <a:pt x="9262" y="2031"/>
                    <a:pt x="14166" y="0"/>
                    <a:pt x="19279" y="0"/>
                  </a:cubicBezTo>
                  <a:close/>
                </a:path>
              </a:pathLst>
            </a:custGeom>
            <a:ln w="38100" cap="rnd">
              <a:solidFill>
                <a:srgbClr val="2D2261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39949" cy="384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32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830696">
            <a:off x="14939466" y="81449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96806" y="676495"/>
            <a:ext cx="15262494" cy="3470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9600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Modèele choisit : RANDOM FOREST</a:t>
            </a:r>
          </a:p>
          <a:p>
            <a:pPr algn="ctr">
              <a:lnSpc>
                <a:spcPts val="8640"/>
              </a:lnSpc>
            </a:pPr>
            <a:endParaRPr lang="en-US" sz="9600" b="1">
              <a:solidFill>
                <a:srgbClr val="2D2261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43715" y="3224677"/>
            <a:ext cx="4134438" cy="4539345"/>
            <a:chOff x="0" y="0"/>
            <a:chExt cx="1071706" cy="11766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71706" cy="1176664"/>
            </a:xfrm>
            <a:custGeom>
              <a:avLst/>
              <a:gdLst/>
              <a:ahLst/>
              <a:cxnLst/>
              <a:rect l="l" t="t" r="r" b="b"/>
              <a:pathLst>
                <a:path w="1071706" h="1176664">
                  <a:moveTo>
                    <a:pt x="84265" y="0"/>
                  </a:moveTo>
                  <a:lnTo>
                    <a:pt x="987442" y="0"/>
                  </a:lnTo>
                  <a:cubicBezTo>
                    <a:pt x="1033980" y="0"/>
                    <a:pt x="1071706" y="37727"/>
                    <a:pt x="1071706" y="84265"/>
                  </a:cubicBezTo>
                  <a:lnTo>
                    <a:pt x="1071706" y="1092400"/>
                  </a:lnTo>
                  <a:cubicBezTo>
                    <a:pt x="1071706" y="1114748"/>
                    <a:pt x="1062829" y="1136181"/>
                    <a:pt x="1047026" y="1151984"/>
                  </a:cubicBezTo>
                  <a:cubicBezTo>
                    <a:pt x="1031223" y="1167787"/>
                    <a:pt x="1009790" y="1176664"/>
                    <a:pt x="987442" y="1176664"/>
                  </a:cubicBezTo>
                  <a:lnTo>
                    <a:pt x="84265" y="1176664"/>
                  </a:lnTo>
                  <a:cubicBezTo>
                    <a:pt x="37727" y="1176664"/>
                    <a:pt x="0" y="1138938"/>
                    <a:pt x="0" y="1092400"/>
                  </a:cubicBezTo>
                  <a:lnTo>
                    <a:pt x="0" y="84265"/>
                  </a:lnTo>
                  <a:cubicBezTo>
                    <a:pt x="0" y="37727"/>
                    <a:pt x="37727" y="0"/>
                    <a:pt x="84265" y="0"/>
                  </a:cubicBezTo>
                  <a:close/>
                </a:path>
              </a:pathLst>
            </a:custGeom>
            <a:solidFill>
              <a:srgbClr val="CCEBF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071706" cy="1243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93289" y="7662511"/>
            <a:ext cx="7755644" cy="2462589"/>
            <a:chOff x="0" y="0"/>
            <a:chExt cx="2550769" cy="80992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50769" cy="809926"/>
            </a:xfrm>
            <a:custGeom>
              <a:avLst/>
              <a:gdLst/>
              <a:ahLst/>
              <a:cxnLst/>
              <a:rect l="l" t="t" r="r" b="b"/>
              <a:pathLst>
                <a:path w="2550769" h="809926">
                  <a:moveTo>
                    <a:pt x="99823" y="0"/>
                  </a:moveTo>
                  <a:lnTo>
                    <a:pt x="2450946" y="0"/>
                  </a:lnTo>
                  <a:cubicBezTo>
                    <a:pt x="2477421" y="0"/>
                    <a:pt x="2502811" y="10517"/>
                    <a:pt x="2521532" y="29237"/>
                  </a:cubicBezTo>
                  <a:cubicBezTo>
                    <a:pt x="2540252" y="47958"/>
                    <a:pt x="2550769" y="73348"/>
                    <a:pt x="2550769" y="99823"/>
                  </a:cubicBezTo>
                  <a:lnTo>
                    <a:pt x="2550769" y="710103"/>
                  </a:lnTo>
                  <a:cubicBezTo>
                    <a:pt x="2550769" y="736578"/>
                    <a:pt x="2540252" y="761968"/>
                    <a:pt x="2521532" y="780688"/>
                  </a:cubicBezTo>
                  <a:cubicBezTo>
                    <a:pt x="2502811" y="799409"/>
                    <a:pt x="2477421" y="809926"/>
                    <a:pt x="2450946" y="809926"/>
                  </a:cubicBezTo>
                  <a:lnTo>
                    <a:pt x="99823" y="809926"/>
                  </a:lnTo>
                  <a:cubicBezTo>
                    <a:pt x="73348" y="809926"/>
                    <a:pt x="47958" y="799409"/>
                    <a:pt x="29237" y="780688"/>
                  </a:cubicBezTo>
                  <a:cubicBezTo>
                    <a:pt x="10517" y="761968"/>
                    <a:pt x="0" y="736578"/>
                    <a:pt x="0" y="710103"/>
                  </a:cubicBezTo>
                  <a:lnTo>
                    <a:pt x="0" y="99823"/>
                  </a:lnTo>
                  <a:cubicBezTo>
                    <a:pt x="0" y="73348"/>
                    <a:pt x="10517" y="47958"/>
                    <a:pt x="29237" y="29237"/>
                  </a:cubicBezTo>
                  <a:cubicBezTo>
                    <a:pt x="47958" y="10517"/>
                    <a:pt x="73348" y="0"/>
                    <a:pt x="99823" y="0"/>
                  </a:cubicBezTo>
                  <a:close/>
                </a:path>
              </a:pathLst>
            </a:custGeom>
            <a:ln w="28575" cap="rnd">
              <a:solidFill>
                <a:srgbClr val="1D3163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550769" cy="838501"/>
            </a:xfrm>
            <a:prstGeom prst="rect">
              <a:avLst/>
            </a:prstGeom>
          </p:spPr>
          <p:txBody>
            <a:bodyPr lIns="48911" tIns="48911" rIns="48911" bIns="48911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5149216" y="2947811"/>
            <a:ext cx="6467374" cy="4591835"/>
          </a:xfrm>
          <a:custGeom>
            <a:avLst/>
            <a:gdLst/>
            <a:ahLst/>
            <a:cxnLst/>
            <a:rect l="l" t="t" r="r" b="b"/>
            <a:pathLst>
              <a:path w="6467374" h="4591835">
                <a:moveTo>
                  <a:pt x="0" y="0"/>
                </a:moveTo>
                <a:lnTo>
                  <a:pt x="6467374" y="0"/>
                </a:lnTo>
                <a:lnTo>
                  <a:pt x="6467374" y="4591836"/>
                </a:lnTo>
                <a:lnTo>
                  <a:pt x="0" y="45918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926232" y="3014355"/>
            <a:ext cx="5879455" cy="4648156"/>
          </a:xfrm>
          <a:custGeom>
            <a:avLst/>
            <a:gdLst/>
            <a:ahLst/>
            <a:cxnLst/>
            <a:rect l="l" t="t" r="r" b="b"/>
            <a:pathLst>
              <a:path w="5879455" h="4648156">
                <a:moveTo>
                  <a:pt x="0" y="0"/>
                </a:moveTo>
                <a:lnTo>
                  <a:pt x="5879455" y="0"/>
                </a:lnTo>
                <a:lnTo>
                  <a:pt x="5879455" y="4648156"/>
                </a:lnTo>
                <a:lnTo>
                  <a:pt x="0" y="46481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4640" y="3694058"/>
            <a:ext cx="2776938" cy="3332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87"/>
              </a:lnSpc>
              <a:spcBef>
                <a:spcPct val="0"/>
              </a:spcBef>
            </a:pPr>
            <a:r>
              <a:rPr lang="en-US" sz="2133" b="1" spc="-76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 modèle Random Forest fonctionne en construisant une forêt d'arbres de décision où chaque arbre vote pour une prédiction, et le résultat final est la moyenne de tous les arbres.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52086" y="7823831"/>
            <a:ext cx="7232407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99"/>
              </a:lnSpc>
            </a:pPr>
            <a:r>
              <a:rPr lang="en-US" sz="1999" b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Les features sélectionnées : ratio_feminisation, log_taille, efficacite_F, efficacite_M, ecart_genre</a:t>
            </a:r>
          </a:p>
          <a:p>
            <a:pPr algn="l">
              <a:lnSpc>
                <a:spcPts val="2799"/>
              </a:lnSpc>
            </a:pPr>
            <a:r>
              <a:rPr lang="en-US" sz="1999" b="1">
                <a:solidFill>
                  <a:srgbClr val="1D3163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Les features supprimées : les codes d'identification (université, établissement, domaine) pour éviter le sur-apprentissage</a:t>
            </a:r>
          </a:p>
          <a:p>
            <a:pPr algn="l">
              <a:lnSpc>
                <a:spcPts val="2799"/>
              </a:lnSpc>
            </a:pPr>
            <a:endParaRPr lang="en-US" sz="1999" b="1">
              <a:solidFill>
                <a:srgbClr val="1D3163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15246">
            <a:off x="12993540" y="-2095015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1175026">
            <a:off x="16376299" y="7891685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946987" y="888134"/>
            <a:ext cx="15262494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9600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Application Développée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201774" y="2212946"/>
            <a:ext cx="15262494" cy="2375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9600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ET Perspectives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98A3B277-18A7-13C6-2B8C-EDA6A080A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723" y="3763588"/>
            <a:ext cx="7086600" cy="3206024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D79CA44D-3631-7D93-CE54-42E4AE8C4B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910" y="7133803"/>
            <a:ext cx="7925573" cy="3119859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08560A7-3895-C453-308D-602F62D29A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4358" y="4870872"/>
            <a:ext cx="6644867" cy="5063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6841">
            <a:off x="13266207" y="-2293406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830696">
            <a:off x="14939466" y="81449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2308813" y="5073763"/>
            <a:ext cx="5437433" cy="903413"/>
            <a:chOff x="0" y="0"/>
            <a:chExt cx="1875156" cy="31155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75156" cy="311552"/>
            </a:xfrm>
            <a:custGeom>
              <a:avLst/>
              <a:gdLst/>
              <a:ahLst/>
              <a:cxnLst/>
              <a:rect l="l" t="t" r="r" b="b"/>
              <a:pathLst>
                <a:path w="1875156" h="311552">
                  <a:moveTo>
                    <a:pt x="113906" y="0"/>
                  </a:moveTo>
                  <a:lnTo>
                    <a:pt x="1761251" y="0"/>
                  </a:lnTo>
                  <a:cubicBezTo>
                    <a:pt x="1791461" y="0"/>
                    <a:pt x="1820433" y="12001"/>
                    <a:pt x="1841794" y="33362"/>
                  </a:cubicBezTo>
                  <a:cubicBezTo>
                    <a:pt x="1863156" y="54724"/>
                    <a:pt x="1875156" y="83696"/>
                    <a:pt x="1875156" y="113906"/>
                  </a:cubicBezTo>
                  <a:lnTo>
                    <a:pt x="1875156" y="197646"/>
                  </a:lnTo>
                  <a:cubicBezTo>
                    <a:pt x="1875156" y="260554"/>
                    <a:pt x="1824159" y="311552"/>
                    <a:pt x="1761251" y="311552"/>
                  </a:cubicBezTo>
                  <a:lnTo>
                    <a:pt x="113906" y="311552"/>
                  </a:lnTo>
                  <a:cubicBezTo>
                    <a:pt x="50997" y="311552"/>
                    <a:pt x="0" y="260554"/>
                    <a:pt x="0" y="197646"/>
                  </a:cubicBezTo>
                  <a:lnTo>
                    <a:pt x="0" y="113906"/>
                  </a:lnTo>
                  <a:cubicBezTo>
                    <a:pt x="0" y="50997"/>
                    <a:pt x="50997" y="0"/>
                    <a:pt x="113906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75156" cy="3496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99536" y="5228658"/>
            <a:ext cx="601927" cy="601927"/>
          </a:xfrm>
          <a:custGeom>
            <a:avLst/>
            <a:gdLst/>
            <a:ahLst/>
            <a:cxnLst/>
            <a:rect l="l" t="t" r="r" b="b"/>
            <a:pathLst>
              <a:path w="601927" h="601927">
                <a:moveTo>
                  <a:pt x="0" y="0"/>
                </a:moveTo>
                <a:lnTo>
                  <a:pt x="601926" y="0"/>
                </a:lnTo>
                <a:lnTo>
                  <a:pt x="601926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2308813" y="6380011"/>
            <a:ext cx="5437433" cy="954041"/>
            <a:chOff x="0" y="0"/>
            <a:chExt cx="1875156" cy="3290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75156" cy="329011"/>
            </a:xfrm>
            <a:custGeom>
              <a:avLst/>
              <a:gdLst/>
              <a:ahLst/>
              <a:cxnLst/>
              <a:rect l="l" t="t" r="r" b="b"/>
              <a:pathLst>
                <a:path w="1875156" h="329011">
                  <a:moveTo>
                    <a:pt x="113906" y="0"/>
                  </a:moveTo>
                  <a:lnTo>
                    <a:pt x="1761251" y="0"/>
                  </a:lnTo>
                  <a:cubicBezTo>
                    <a:pt x="1791461" y="0"/>
                    <a:pt x="1820433" y="12001"/>
                    <a:pt x="1841794" y="33362"/>
                  </a:cubicBezTo>
                  <a:cubicBezTo>
                    <a:pt x="1863156" y="54724"/>
                    <a:pt x="1875156" y="83696"/>
                    <a:pt x="1875156" y="113906"/>
                  </a:cubicBezTo>
                  <a:lnTo>
                    <a:pt x="1875156" y="215106"/>
                  </a:lnTo>
                  <a:cubicBezTo>
                    <a:pt x="1875156" y="278014"/>
                    <a:pt x="1824159" y="329011"/>
                    <a:pt x="1761251" y="329011"/>
                  </a:cubicBezTo>
                  <a:lnTo>
                    <a:pt x="113906" y="329011"/>
                  </a:lnTo>
                  <a:cubicBezTo>
                    <a:pt x="50997" y="329011"/>
                    <a:pt x="0" y="278014"/>
                    <a:pt x="0" y="215106"/>
                  </a:cubicBezTo>
                  <a:lnTo>
                    <a:pt x="0" y="113906"/>
                  </a:lnTo>
                  <a:cubicBezTo>
                    <a:pt x="0" y="50997"/>
                    <a:pt x="50997" y="0"/>
                    <a:pt x="113906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75156" cy="3671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2444555" y="6541986"/>
            <a:ext cx="601927" cy="601927"/>
          </a:xfrm>
          <a:custGeom>
            <a:avLst/>
            <a:gdLst/>
            <a:ahLst/>
            <a:cxnLst/>
            <a:rect l="l" t="t" r="r" b="b"/>
            <a:pathLst>
              <a:path w="601927" h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147694" y="5329546"/>
            <a:ext cx="4598551" cy="36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Modèle performant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92714" y="6612880"/>
            <a:ext cx="4553532" cy="36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Application fonctionnelle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95763" y="3889848"/>
            <a:ext cx="5633647" cy="752672"/>
            <a:chOff x="0" y="0"/>
            <a:chExt cx="1942823" cy="25956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42823" cy="259567"/>
            </a:xfrm>
            <a:custGeom>
              <a:avLst/>
              <a:gdLst/>
              <a:ahLst/>
              <a:cxnLst/>
              <a:rect l="l" t="t" r="r" b="b"/>
              <a:pathLst>
                <a:path w="1942823" h="259567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179664" y="4066108"/>
            <a:ext cx="3195331" cy="362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Optimisation avancée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528063" y="2787617"/>
            <a:ext cx="3169047" cy="97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Perspectives</a:t>
            </a:r>
          </a:p>
        </p:txBody>
      </p:sp>
      <p:sp>
        <p:nvSpPr>
          <p:cNvPr id="21" name="Freeform 21"/>
          <p:cNvSpPr/>
          <p:nvPr/>
        </p:nvSpPr>
        <p:spPr>
          <a:xfrm>
            <a:off x="10430823" y="3965221"/>
            <a:ext cx="601927" cy="601927"/>
          </a:xfrm>
          <a:custGeom>
            <a:avLst/>
            <a:gdLst/>
            <a:ahLst/>
            <a:cxnLst/>
            <a:rect l="l" t="t" r="r" b="b"/>
            <a:pathLst>
              <a:path w="601927" h="601927">
                <a:moveTo>
                  <a:pt x="0" y="0"/>
                </a:moveTo>
                <a:lnTo>
                  <a:pt x="601927" y="0"/>
                </a:lnTo>
                <a:lnTo>
                  <a:pt x="601927" y="601926"/>
                </a:lnTo>
                <a:lnTo>
                  <a:pt x="0" y="60192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10295763" y="4906362"/>
            <a:ext cx="5633647" cy="1053636"/>
            <a:chOff x="0" y="0"/>
            <a:chExt cx="1942823" cy="36335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42823" cy="363357"/>
            </a:xfrm>
            <a:custGeom>
              <a:avLst/>
              <a:gdLst/>
              <a:ahLst/>
              <a:cxnLst/>
              <a:rect l="l" t="t" r="r" b="b"/>
              <a:pathLst>
                <a:path w="1942823" h="363357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253419"/>
                  </a:lnTo>
                  <a:cubicBezTo>
                    <a:pt x="1942823" y="314136"/>
                    <a:pt x="1893602" y="363357"/>
                    <a:pt x="1832885" y="363357"/>
                  </a:cubicBezTo>
                  <a:lnTo>
                    <a:pt x="109938" y="363357"/>
                  </a:lnTo>
                  <a:cubicBezTo>
                    <a:pt x="80781" y="363357"/>
                    <a:pt x="52818" y="351775"/>
                    <a:pt x="32200" y="331157"/>
                  </a:cubicBezTo>
                  <a:cubicBezTo>
                    <a:pt x="11583" y="310540"/>
                    <a:pt x="0" y="282577"/>
                    <a:pt x="0" y="25341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942823" cy="4014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1084414" y="5043970"/>
            <a:ext cx="4844996" cy="740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Intégrer des données sur les enseignants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430823" y="5132216"/>
            <a:ext cx="601927" cy="601927"/>
          </a:xfrm>
          <a:custGeom>
            <a:avLst/>
            <a:gdLst/>
            <a:ahLst/>
            <a:cxnLst/>
            <a:rect l="l" t="t" r="r" b="b"/>
            <a:pathLst>
              <a:path w="601927" h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10295763" y="6226698"/>
            <a:ext cx="5633647" cy="752672"/>
            <a:chOff x="0" y="0"/>
            <a:chExt cx="1942823" cy="25956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42823" cy="259567"/>
            </a:xfrm>
            <a:custGeom>
              <a:avLst/>
              <a:gdLst/>
              <a:ahLst/>
              <a:cxnLst/>
              <a:rect l="l" t="t" r="r" b="b"/>
              <a:pathLst>
                <a:path w="1942823" h="259567">
                  <a:moveTo>
                    <a:pt x="109938" y="0"/>
                  </a:moveTo>
                  <a:lnTo>
                    <a:pt x="1832885" y="0"/>
                  </a:lnTo>
                  <a:cubicBezTo>
                    <a:pt x="1893602" y="0"/>
                    <a:pt x="1942823" y="49221"/>
                    <a:pt x="1942823" y="109938"/>
                  </a:cubicBezTo>
                  <a:lnTo>
                    <a:pt x="1942823" y="149629"/>
                  </a:lnTo>
                  <a:cubicBezTo>
                    <a:pt x="1942823" y="210346"/>
                    <a:pt x="1893602" y="259567"/>
                    <a:pt x="1832885" y="259567"/>
                  </a:cubicBezTo>
                  <a:lnTo>
                    <a:pt x="109938" y="259567"/>
                  </a:lnTo>
                  <a:cubicBezTo>
                    <a:pt x="80781" y="259567"/>
                    <a:pt x="52818" y="247984"/>
                    <a:pt x="32200" y="227367"/>
                  </a:cubicBezTo>
                  <a:cubicBezTo>
                    <a:pt x="11583" y="206749"/>
                    <a:pt x="0" y="178786"/>
                    <a:pt x="0" y="149629"/>
                  </a:cubicBezTo>
                  <a:lnTo>
                    <a:pt x="0" y="109938"/>
                  </a:lnTo>
                  <a:cubicBezTo>
                    <a:pt x="0" y="80781"/>
                    <a:pt x="11583" y="52818"/>
                    <a:pt x="32200" y="32200"/>
                  </a:cubicBezTo>
                  <a:cubicBezTo>
                    <a:pt x="52818" y="11583"/>
                    <a:pt x="80781" y="0"/>
                    <a:pt x="109938" y="0"/>
                  </a:cubicBezTo>
                  <a:close/>
                </a:path>
              </a:pathLst>
            </a:custGeom>
            <a:solidFill>
              <a:srgbClr val="1C3675"/>
            </a:solidFill>
            <a:ln w="19050" cap="rnd">
              <a:solidFill>
                <a:srgbClr val="CCEBFF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942823" cy="2976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1179664" y="6402958"/>
            <a:ext cx="5520297" cy="355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3"/>
              </a:lnSpc>
            </a:pPr>
            <a:r>
              <a:rPr lang="en-US" sz="2138" b="1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ajouter des indicateurs financiers</a:t>
            </a:r>
          </a:p>
        </p:txBody>
      </p:sp>
      <p:sp>
        <p:nvSpPr>
          <p:cNvPr id="31" name="Freeform 31"/>
          <p:cNvSpPr/>
          <p:nvPr/>
        </p:nvSpPr>
        <p:spPr>
          <a:xfrm>
            <a:off x="10430823" y="6302070"/>
            <a:ext cx="601927" cy="601927"/>
          </a:xfrm>
          <a:custGeom>
            <a:avLst/>
            <a:gdLst/>
            <a:ahLst/>
            <a:cxnLst/>
            <a:rect l="l" t="t" r="r" b="b"/>
            <a:pathLst>
              <a:path w="601927" h="601927">
                <a:moveTo>
                  <a:pt x="0" y="0"/>
                </a:moveTo>
                <a:lnTo>
                  <a:pt x="601927" y="0"/>
                </a:lnTo>
                <a:lnTo>
                  <a:pt x="601927" y="601927"/>
                </a:lnTo>
                <a:lnTo>
                  <a:pt x="0" y="6019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777167" y="189426"/>
            <a:ext cx="16510833" cy="2375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9600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ET Perspectives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00499" y="4102436"/>
            <a:ext cx="3047434" cy="97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4"/>
              </a:lnSpc>
            </a:pPr>
            <a:r>
              <a:rPr lang="en-US" sz="5681">
                <a:solidFill>
                  <a:srgbClr val="9AB7FF"/>
                </a:solidFill>
                <a:latin typeface="Brittany"/>
                <a:ea typeface="Brittany"/>
                <a:cs typeface="Brittany"/>
                <a:sym typeface="Brittany"/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1026841">
            <a:off x="13266207" y="-2293406"/>
            <a:ext cx="6727323" cy="4586811"/>
          </a:xfrm>
          <a:custGeom>
            <a:avLst/>
            <a:gdLst/>
            <a:ahLst/>
            <a:cxnLst/>
            <a:rect l="l" t="t" r="r" b="b"/>
            <a:pathLst>
              <a:path w="6727323" h="4586811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35325">
            <a:off x="-1442576" y="8071855"/>
            <a:ext cx="7907020" cy="6699403"/>
          </a:xfrm>
          <a:custGeom>
            <a:avLst/>
            <a:gdLst/>
            <a:ahLst/>
            <a:cxnLst/>
            <a:rect l="l" t="t" r="r" b="b"/>
            <a:pathLst>
              <a:path w="7907020" h="6699403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26878">
            <a:off x="-267547" y="148087"/>
            <a:ext cx="4576141" cy="2579280"/>
          </a:xfrm>
          <a:custGeom>
            <a:avLst/>
            <a:gdLst/>
            <a:ahLst/>
            <a:cxnLst/>
            <a:rect l="l" t="t" r="r" b="b"/>
            <a:pathLst>
              <a:path w="4576141" h="2579280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830696">
            <a:off x="14939466" y="8144946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54123" y="1715163"/>
            <a:ext cx="7777058" cy="5712603"/>
          </a:xfrm>
          <a:custGeom>
            <a:avLst/>
            <a:gdLst/>
            <a:ahLst/>
            <a:cxnLst/>
            <a:rect l="l" t="t" r="r" b="b"/>
            <a:pathLst>
              <a:path w="7777058" h="5712603">
                <a:moveTo>
                  <a:pt x="0" y="0"/>
                </a:moveTo>
                <a:lnTo>
                  <a:pt x="7777059" y="0"/>
                </a:lnTo>
                <a:lnTo>
                  <a:pt x="7777059" y="5712603"/>
                </a:lnTo>
                <a:lnTo>
                  <a:pt x="0" y="57126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66651" y="3863340"/>
            <a:ext cx="7787472" cy="12801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9600" b="1">
                <a:solidFill>
                  <a:srgbClr val="2D2261"/>
                </a:solidFill>
                <a:latin typeface="Poppins Bold"/>
                <a:ea typeface="Poppins Bold"/>
                <a:cs typeface="Poppins Bold"/>
                <a:sym typeface="Poppins Bold"/>
              </a:rPr>
              <a:t>Merci!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Personnalisé</PresentationFormat>
  <Paragraphs>65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9" baseType="lpstr">
      <vt:lpstr>Red Hat Display</vt:lpstr>
      <vt:lpstr>Brittany</vt:lpstr>
      <vt:lpstr>Red Hat Display Bold</vt:lpstr>
      <vt:lpstr>Calibri</vt:lpstr>
      <vt:lpstr>Poppins Bold</vt:lpstr>
      <vt:lpstr>Bungee</vt:lpstr>
      <vt:lpstr>Poppins</vt:lpstr>
      <vt:lpstr>Arial</vt:lpstr>
      <vt:lpstr>Quicksand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Copie de Présentation AI PCOS</dc:title>
  <cp:lastModifiedBy>PC</cp:lastModifiedBy>
  <cp:revision>3</cp:revision>
  <dcterms:created xsi:type="dcterms:W3CDTF">2006-08-16T00:00:00Z</dcterms:created>
  <dcterms:modified xsi:type="dcterms:W3CDTF">2026-04-15T13:37:10Z</dcterms:modified>
  <dc:identifier>DAHG3fQAOzc</dc:identifier>
</cp:coreProperties>
</file>