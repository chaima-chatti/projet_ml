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8288000" cy="10287000"/>
  <p:notesSz cx="6858000" cy="9144000"/>
  <p:embeddedFontLst>
    <p:embeddedFont>
      <p:font typeface="Brittany" panose="020B0604020202020204" charset="0"/>
      <p:regular r:id="rId11"/>
    </p:embeddedFont>
    <p:embeddedFont>
      <p:font typeface="Bungee" panose="020B0604020202020204" charset="0"/>
      <p:regular r:id="rId12"/>
    </p:embeddedFont>
    <p:embeddedFont>
      <p:font typeface="Poppins" panose="00000500000000000000" pitchFamily="2" charset="0"/>
      <p:regular r:id="rId13"/>
      <p:bold r:id="rId14"/>
      <p:italic r:id="rId15"/>
      <p:boldItalic r:id="rId16"/>
    </p:embeddedFont>
    <p:embeddedFont>
      <p:font typeface="Poppins Bold" panose="00000800000000000000" pitchFamily="2" charset="0"/>
      <p:regular r:id="rId17"/>
      <p:bold r:id="rId18"/>
    </p:embeddedFont>
    <p:embeddedFont>
      <p:font typeface="Quicksand Bold" panose="020B0604020202020204" charset="0"/>
      <p:regular r:id="rId19"/>
    </p:embeddedFont>
    <p:embeddedFont>
      <p:font typeface="Red Hat Display" panose="020B0604020202020204" charset="0"/>
      <p:regular r:id="rId20"/>
    </p:embeddedFont>
    <p:embeddedFont>
      <p:font typeface="Red Hat Display Bold" panose="020B0604020202020204" charset="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4" d="100"/>
          <a:sy n="54" d="100"/>
        </p:scale>
        <p:origin x="754"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11.fntdata"/><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font" Target="fonts/font7.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5.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svg"/><Relationship Id="rId1" Type="http://schemas.openxmlformats.org/officeDocument/2006/relationships/slideLayout" Target="../slideLayouts/slideLayout7.xml"/><Relationship Id="rId4" Type="http://schemas.openxmlformats.org/officeDocument/2006/relationships/image" Target="../media/image1.sv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5.sv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5.sv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3.svg"/><Relationship Id="rId7" Type="http://schemas.openxmlformats.org/officeDocument/2006/relationships/image" Target="../media/image11.pn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5.sv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5.sv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svg"/><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5.svg"/><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sp>
        <p:nvSpPr>
          <p:cNvPr id="2" name="Freeform 2"/>
          <p:cNvSpPr/>
          <p:nvPr/>
        </p:nvSpPr>
        <p:spPr>
          <a:xfrm>
            <a:off x="8760629" y="-2095015"/>
            <a:ext cx="10960234" cy="7472887"/>
          </a:xfrm>
          <a:custGeom>
            <a:avLst/>
            <a:gdLst/>
            <a:ahLst/>
            <a:cxnLst/>
            <a:rect l="l" t="t" r="r" b="b"/>
            <a:pathLst>
              <a:path w="10960234" h="7472887">
                <a:moveTo>
                  <a:pt x="0" y="0"/>
                </a:moveTo>
                <a:lnTo>
                  <a:pt x="10960234" y="0"/>
                </a:lnTo>
                <a:lnTo>
                  <a:pt x="10960234" y="7472887"/>
                </a:lnTo>
                <a:lnTo>
                  <a:pt x="0" y="7472887"/>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3" name="Freeform 3"/>
          <p:cNvSpPr/>
          <p:nvPr/>
        </p:nvSpPr>
        <p:spPr>
          <a:xfrm>
            <a:off x="9868185" y="2136222"/>
            <a:ext cx="6925852" cy="6014556"/>
          </a:xfrm>
          <a:custGeom>
            <a:avLst/>
            <a:gdLst/>
            <a:ahLst/>
            <a:cxnLst/>
            <a:rect l="l" t="t" r="r" b="b"/>
            <a:pathLst>
              <a:path w="6925852" h="6014556">
                <a:moveTo>
                  <a:pt x="0" y="0"/>
                </a:moveTo>
                <a:lnTo>
                  <a:pt x="6925852" y="0"/>
                </a:lnTo>
                <a:lnTo>
                  <a:pt x="6925852" y="6014556"/>
                </a:lnTo>
                <a:lnTo>
                  <a:pt x="0" y="6014556"/>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rot="635325">
            <a:off x="-1336143" y="7006271"/>
            <a:ext cx="9442126" cy="8000056"/>
          </a:xfrm>
          <a:custGeom>
            <a:avLst/>
            <a:gdLst/>
            <a:ahLst/>
            <a:cxnLst/>
            <a:rect l="l" t="t" r="r" b="b"/>
            <a:pathLst>
              <a:path w="9442126" h="8000056">
                <a:moveTo>
                  <a:pt x="0" y="0"/>
                </a:moveTo>
                <a:lnTo>
                  <a:pt x="9442126" y="0"/>
                </a:lnTo>
                <a:lnTo>
                  <a:pt x="9442126" y="8000056"/>
                </a:lnTo>
                <a:lnTo>
                  <a:pt x="0" y="8000056"/>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p:spPr>
      </p:sp>
      <p:sp>
        <p:nvSpPr>
          <p:cNvPr id="5" name="Freeform 5"/>
          <p:cNvSpPr/>
          <p:nvPr/>
        </p:nvSpPr>
        <p:spPr>
          <a:xfrm rot="-226878">
            <a:off x="-216283" y="847655"/>
            <a:ext cx="4576141" cy="2579280"/>
          </a:xfrm>
          <a:custGeom>
            <a:avLst/>
            <a:gdLst/>
            <a:ahLst/>
            <a:cxnLst/>
            <a:rect l="l" t="t" r="r" b="b"/>
            <a:pathLst>
              <a:path w="4576141" h="2579280">
                <a:moveTo>
                  <a:pt x="0" y="0"/>
                </a:moveTo>
                <a:lnTo>
                  <a:pt x="4576141" y="0"/>
                </a:lnTo>
                <a:lnTo>
                  <a:pt x="4576141" y="2579280"/>
                </a:lnTo>
                <a:lnTo>
                  <a:pt x="0" y="257928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Freeform 6"/>
          <p:cNvSpPr/>
          <p:nvPr/>
        </p:nvSpPr>
        <p:spPr>
          <a:xfrm rot="2830696">
            <a:off x="12315724" y="8229600"/>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7" name="TextBox 7"/>
          <p:cNvSpPr txBox="1"/>
          <p:nvPr/>
        </p:nvSpPr>
        <p:spPr>
          <a:xfrm>
            <a:off x="1028700" y="6130650"/>
            <a:ext cx="5756398" cy="1048356"/>
          </a:xfrm>
          <a:prstGeom prst="rect">
            <a:avLst/>
          </a:prstGeom>
        </p:spPr>
        <p:txBody>
          <a:bodyPr lIns="0" tIns="0" rIns="0" bIns="0" rtlCol="0" anchor="t">
            <a:spAutoFit/>
          </a:bodyPr>
          <a:lstStyle/>
          <a:p>
            <a:pPr algn="l">
              <a:lnSpc>
                <a:spcPts val="4166"/>
              </a:lnSpc>
            </a:pPr>
            <a:r>
              <a:rPr lang="en-US" sz="2976">
                <a:solidFill>
                  <a:srgbClr val="5B7ABE"/>
                </a:solidFill>
                <a:latin typeface="Poppins"/>
                <a:ea typeface="Poppins"/>
                <a:cs typeface="Poppins"/>
                <a:sym typeface="Poppins"/>
              </a:rPr>
              <a:t>Présenté par : </a:t>
            </a:r>
          </a:p>
          <a:p>
            <a:pPr algn="l">
              <a:lnSpc>
                <a:spcPts val="4166"/>
              </a:lnSpc>
            </a:pPr>
            <a:r>
              <a:rPr lang="en-US" sz="2976">
                <a:solidFill>
                  <a:srgbClr val="5B7ABE"/>
                </a:solidFill>
                <a:latin typeface="Poppins"/>
                <a:ea typeface="Poppins"/>
                <a:cs typeface="Poppins"/>
                <a:sym typeface="Poppins"/>
              </a:rPr>
              <a:t>Chaima CHATTI</a:t>
            </a:r>
          </a:p>
        </p:txBody>
      </p:sp>
      <p:sp>
        <p:nvSpPr>
          <p:cNvPr id="8" name="TextBox 8"/>
          <p:cNvSpPr txBox="1"/>
          <p:nvPr/>
        </p:nvSpPr>
        <p:spPr>
          <a:xfrm>
            <a:off x="674650" y="3455022"/>
            <a:ext cx="8085979" cy="3319805"/>
          </a:xfrm>
          <a:prstGeom prst="rect">
            <a:avLst/>
          </a:prstGeom>
        </p:spPr>
        <p:txBody>
          <a:bodyPr lIns="0" tIns="0" rIns="0" bIns="0" rtlCol="0" anchor="t">
            <a:spAutoFit/>
          </a:bodyPr>
          <a:lstStyle/>
          <a:p>
            <a:pPr algn="l">
              <a:lnSpc>
                <a:spcPts val="5224"/>
              </a:lnSpc>
            </a:pPr>
            <a:r>
              <a:rPr lang="en-US" sz="4200" b="1">
                <a:solidFill>
                  <a:srgbClr val="2D2261"/>
                </a:solidFill>
                <a:latin typeface="Poppins Bold"/>
                <a:ea typeface="Poppins Bold"/>
                <a:cs typeface="Poppins Bold"/>
                <a:sym typeface="Poppins Bold"/>
              </a:rPr>
              <a:t>PRÉDICTION DU TAUX DE RÉUSSITE DES ÉTABLISSEMENTS UNIVERSITAIRES TUNISIENS</a:t>
            </a:r>
          </a:p>
          <a:p>
            <a:pPr algn="l">
              <a:lnSpc>
                <a:spcPts val="5224"/>
              </a:lnSpc>
            </a:pPr>
            <a:endParaRPr lang="en-US" sz="4200" b="1">
              <a:solidFill>
                <a:srgbClr val="2D2261"/>
              </a:solidFill>
              <a:latin typeface="Poppins Bold"/>
              <a:ea typeface="Poppins Bold"/>
              <a:cs typeface="Poppins Bold"/>
              <a:sym typeface="Poppins Bo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grpSp>
        <p:nvGrpSpPr>
          <p:cNvPr id="2" name="Group 2"/>
          <p:cNvGrpSpPr/>
          <p:nvPr/>
        </p:nvGrpSpPr>
        <p:grpSpPr>
          <a:xfrm>
            <a:off x="1652020" y="913561"/>
            <a:ext cx="8430282" cy="7797174"/>
            <a:chOff x="0" y="0"/>
            <a:chExt cx="2221782" cy="2054928"/>
          </a:xfrm>
        </p:grpSpPr>
        <p:sp>
          <p:nvSpPr>
            <p:cNvPr id="3" name="Freeform 3"/>
            <p:cNvSpPr/>
            <p:nvPr/>
          </p:nvSpPr>
          <p:spPr>
            <a:xfrm>
              <a:off x="0" y="0"/>
              <a:ext cx="2221782" cy="2054928"/>
            </a:xfrm>
            <a:custGeom>
              <a:avLst/>
              <a:gdLst/>
              <a:ahLst/>
              <a:cxnLst/>
              <a:rect l="l" t="t" r="r" b="b"/>
              <a:pathLst>
                <a:path w="2221782" h="2054928">
                  <a:moveTo>
                    <a:pt x="91835" y="0"/>
                  </a:moveTo>
                  <a:lnTo>
                    <a:pt x="2129948" y="0"/>
                  </a:lnTo>
                  <a:cubicBezTo>
                    <a:pt x="2180667" y="0"/>
                    <a:pt x="2221782" y="41116"/>
                    <a:pt x="2221782" y="91835"/>
                  </a:cubicBezTo>
                  <a:lnTo>
                    <a:pt x="2221782" y="1963094"/>
                  </a:lnTo>
                  <a:cubicBezTo>
                    <a:pt x="2221782" y="1987450"/>
                    <a:pt x="2212107" y="2010808"/>
                    <a:pt x="2194885" y="2028030"/>
                  </a:cubicBezTo>
                  <a:cubicBezTo>
                    <a:pt x="2177662" y="2045253"/>
                    <a:pt x="2154304" y="2054928"/>
                    <a:pt x="2129948" y="2054928"/>
                  </a:cubicBezTo>
                  <a:lnTo>
                    <a:pt x="91835" y="2054928"/>
                  </a:lnTo>
                  <a:cubicBezTo>
                    <a:pt x="41116" y="2054928"/>
                    <a:pt x="0" y="2013813"/>
                    <a:pt x="0" y="1963094"/>
                  </a:cubicBezTo>
                  <a:lnTo>
                    <a:pt x="0" y="91835"/>
                  </a:lnTo>
                  <a:cubicBezTo>
                    <a:pt x="0" y="67479"/>
                    <a:pt x="9675" y="44120"/>
                    <a:pt x="26898" y="26898"/>
                  </a:cubicBezTo>
                  <a:cubicBezTo>
                    <a:pt x="44120" y="9675"/>
                    <a:pt x="67479" y="0"/>
                    <a:pt x="91835" y="0"/>
                  </a:cubicBezTo>
                  <a:close/>
                </a:path>
              </a:pathLst>
            </a:custGeom>
            <a:ln w="19050" cap="rnd">
              <a:solidFill>
                <a:srgbClr val="FFFFFF"/>
              </a:solidFill>
              <a:prstDash val="solid"/>
              <a:round/>
            </a:ln>
          </p:spPr>
        </p:sp>
        <p:sp>
          <p:nvSpPr>
            <p:cNvPr id="4" name="TextBox 4"/>
            <p:cNvSpPr txBox="1"/>
            <p:nvPr/>
          </p:nvSpPr>
          <p:spPr>
            <a:xfrm>
              <a:off x="0" y="-38100"/>
              <a:ext cx="2221782" cy="2093028"/>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3370311" y="1436060"/>
            <a:ext cx="5774612" cy="726295"/>
            <a:chOff x="0" y="0"/>
            <a:chExt cx="1521886" cy="191414"/>
          </a:xfrm>
        </p:grpSpPr>
        <p:sp>
          <p:nvSpPr>
            <p:cNvPr id="6" name="Freeform 6"/>
            <p:cNvSpPr/>
            <p:nvPr/>
          </p:nvSpPr>
          <p:spPr>
            <a:xfrm>
              <a:off x="0" y="0"/>
              <a:ext cx="1521886" cy="191414"/>
            </a:xfrm>
            <a:custGeom>
              <a:avLst/>
              <a:gdLst/>
              <a:ahLst/>
              <a:cxnLst/>
              <a:rect l="l" t="t" r="r" b="b"/>
              <a:pathLst>
                <a:path w="1521886" h="191414">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5B7ABE"/>
            </a:solidFill>
          </p:spPr>
        </p:sp>
        <p:sp>
          <p:nvSpPr>
            <p:cNvPr id="7" name="TextBox 7"/>
            <p:cNvSpPr txBox="1"/>
            <p:nvPr/>
          </p:nvSpPr>
          <p:spPr>
            <a:xfrm>
              <a:off x="0" y="-38100"/>
              <a:ext cx="1521886" cy="229514"/>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a:off x="2124772" y="1412247"/>
            <a:ext cx="717393" cy="773920"/>
            <a:chOff x="0" y="0"/>
            <a:chExt cx="753433" cy="812800"/>
          </a:xfrm>
        </p:grpSpPr>
        <p:sp>
          <p:nvSpPr>
            <p:cNvPr id="9" name="Freeform 9"/>
            <p:cNvSpPr/>
            <p:nvPr/>
          </p:nvSpPr>
          <p:spPr>
            <a:xfrm>
              <a:off x="0" y="0"/>
              <a:ext cx="753433" cy="812800"/>
            </a:xfrm>
            <a:custGeom>
              <a:avLst/>
              <a:gdLst/>
              <a:ahLst/>
              <a:cxnLst/>
              <a:rect l="l" t="t" r="r" b="b"/>
              <a:pathLst>
                <a:path w="753433" h="812800">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id="10" name="TextBox 10"/>
            <p:cNvSpPr txBox="1"/>
            <p:nvPr/>
          </p:nvSpPr>
          <p:spPr>
            <a:xfrm>
              <a:off x="70634" y="47625"/>
              <a:ext cx="612164" cy="688975"/>
            </a:xfrm>
            <a:prstGeom prst="rect">
              <a:avLst/>
            </a:prstGeom>
          </p:spPr>
          <p:txBody>
            <a:bodyPr lIns="50800" tIns="50800" rIns="50800" bIns="50800" rtlCol="0" anchor="ctr"/>
            <a:lstStyle/>
            <a:p>
              <a:pPr algn="ctr">
                <a:lnSpc>
                  <a:spcPts val="2240"/>
                </a:lnSpc>
              </a:pPr>
              <a:r>
                <a:rPr lang="en-US" sz="1600">
                  <a:solidFill>
                    <a:srgbClr val="FBFCFE"/>
                  </a:solidFill>
                  <a:latin typeface="Red Hat Display"/>
                  <a:ea typeface="Red Hat Display"/>
                  <a:cs typeface="Red Hat Display"/>
                  <a:sym typeface="Red Hat Display"/>
                </a:rPr>
                <a:t>1</a:t>
              </a:r>
            </a:p>
          </p:txBody>
        </p:sp>
      </p:grpSp>
      <p:sp>
        <p:nvSpPr>
          <p:cNvPr id="11" name="TextBox 11"/>
          <p:cNvSpPr txBox="1"/>
          <p:nvPr/>
        </p:nvSpPr>
        <p:spPr>
          <a:xfrm>
            <a:off x="3742509" y="1573736"/>
            <a:ext cx="4680974" cy="847725"/>
          </a:xfrm>
          <a:prstGeom prst="rect">
            <a:avLst/>
          </a:prstGeom>
        </p:spPr>
        <p:txBody>
          <a:bodyPr lIns="0" tIns="0" rIns="0" bIns="0" rtlCol="0" anchor="t">
            <a:spAutoFit/>
          </a:bodyPr>
          <a:lstStyle/>
          <a:p>
            <a:pPr algn="l">
              <a:lnSpc>
                <a:spcPts val="3237"/>
              </a:lnSpc>
            </a:pPr>
            <a:r>
              <a:rPr lang="en-US" sz="2698">
                <a:solidFill>
                  <a:srgbClr val="FBFCFE"/>
                </a:solidFill>
                <a:latin typeface="Poppins"/>
                <a:ea typeface="Poppins"/>
                <a:cs typeface="Poppins"/>
                <a:sym typeface="Poppins"/>
              </a:rPr>
              <a:t>Introduction et Contexte</a:t>
            </a:r>
          </a:p>
          <a:p>
            <a:pPr algn="l">
              <a:lnSpc>
                <a:spcPts val="3237"/>
              </a:lnSpc>
            </a:pPr>
            <a:endParaRPr lang="en-US" sz="2698">
              <a:solidFill>
                <a:srgbClr val="FBFCFE"/>
              </a:solidFill>
              <a:latin typeface="Poppins"/>
              <a:ea typeface="Poppins"/>
              <a:cs typeface="Poppins"/>
              <a:sym typeface="Poppins"/>
            </a:endParaRPr>
          </a:p>
        </p:txBody>
      </p:sp>
      <p:sp>
        <p:nvSpPr>
          <p:cNvPr id="12" name="AutoShape 12"/>
          <p:cNvSpPr/>
          <p:nvPr/>
        </p:nvSpPr>
        <p:spPr>
          <a:xfrm>
            <a:off x="2730318" y="1807099"/>
            <a:ext cx="639993" cy="0"/>
          </a:xfrm>
          <a:prstGeom prst="line">
            <a:avLst/>
          </a:prstGeom>
          <a:ln w="38100" cap="flat">
            <a:solidFill>
              <a:srgbClr val="2D2261"/>
            </a:solidFill>
            <a:prstDash val="solid"/>
            <a:headEnd type="none" w="sm" len="sm"/>
            <a:tailEnd type="none" w="sm" len="sm"/>
          </a:ln>
        </p:spPr>
      </p:sp>
      <p:grpSp>
        <p:nvGrpSpPr>
          <p:cNvPr id="13" name="Group 13"/>
          <p:cNvGrpSpPr/>
          <p:nvPr/>
        </p:nvGrpSpPr>
        <p:grpSpPr>
          <a:xfrm>
            <a:off x="3370311" y="2391788"/>
            <a:ext cx="5774612" cy="726295"/>
            <a:chOff x="0" y="0"/>
            <a:chExt cx="1521886" cy="191414"/>
          </a:xfrm>
        </p:grpSpPr>
        <p:sp>
          <p:nvSpPr>
            <p:cNvPr id="14" name="Freeform 14"/>
            <p:cNvSpPr/>
            <p:nvPr/>
          </p:nvSpPr>
          <p:spPr>
            <a:xfrm>
              <a:off x="0" y="0"/>
              <a:ext cx="1521886" cy="191414"/>
            </a:xfrm>
            <a:custGeom>
              <a:avLst/>
              <a:gdLst/>
              <a:ahLst/>
              <a:cxnLst/>
              <a:rect l="l" t="t" r="r" b="b"/>
              <a:pathLst>
                <a:path w="1521886" h="191414">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2D2261"/>
            </a:solidFill>
          </p:spPr>
        </p:sp>
        <p:sp>
          <p:nvSpPr>
            <p:cNvPr id="15" name="TextBox 15"/>
            <p:cNvSpPr txBox="1"/>
            <p:nvPr/>
          </p:nvSpPr>
          <p:spPr>
            <a:xfrm>
              <a:off x="0" y="-38100"/>
              <a:ext cx="1521886" cy="229514"/>
            </a:xfrm>
            <a:prstGeom prst="rect">
              <a:avLst/>
            </a:prstGeom>
          </p:spPr>
          <p:txBody>
            <a:bodyPr lIns="50800" tIns="50800" rIns="50800" bIns="50800" rtlCol="0" anchor="ctr"/>
            <a:lstStyle/>
            <a:p>
              <a:pPr algn="ctr">
                <a:lnSpc>
                  <a:spcPts val="2659"/>
                </a:lnSpc>
                <a:spcBef>
                  <a:spcPct val="0"/>
                </a:spcBef>
              </a:pPr>
              <a:endParaRPr/>
            </a:p>
          </p:txBody>
        </p:sp>
      </p:grpSp>
      <p:grpSp>
        <p:nvGrpSpPr>
          <p:cNvPr id="16" name="Group 16"/>
          <p:cNvGrpSpPr/>
          <p:nvPr/>
        </p:nvGrpSpPr>
        <p:grpSpPr>
          <a:xfrm>
            <a:off x="2124772" y="2367976"/>
            <a:ext cx="717393" cy="773920"/>
            <a:chOff x="0" y="0"/>
            <a:chExt cx="753433" cy="812800"/>
          </a:xfrm>
        </p:grpSpPr>
        <p:sp>
          <p:nvSpPr>
            <p:cNvPr id="17" name="Freeform 17"/>
            <p:cNvSpPr/>
            <p:nvPr/>
          </p:nvSpPr>
          <p:spPr>
            <a:xfrm>
              <a:off x="0" y="0"/>
              <a:ext cx="753433" cy="812800"/>
            </a:xfrm>
            <a:custGeom>
              <a:avLst/>
              <a:gdLst/>
              <a:ahLst/>
              <a:cxnLst/>
              <a:rect l="l" t="t" r="r" b="b"/>
              <a:pathLst>
                <a:path w="753433" h="812800">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id="18" name="TextBox 18"/>
            <p:cNvSpPr txBox="1"/>
            <p:nvPr/>
          </p:nvSpPr>
          <p:spPr>
            <a:xfrm>
              <a:off x="70634" y="47625"/>
              <a:ext cx="612164" cy="688975"/>
            </a:xfrm>
            <a:prstGeom prst="rect">
              <a:avLst/>
            </a:prstGeom>
          </p:spPr>
          <p:txBody>
            <a:bodyPr lIns="50800" tIns="50800" rIns="50800" bIns="50800" rtlCol="0" anchor="ctr"/>
            <a:lstStyle/>
            <a:p>
              <a:pPr algn="ctr">
                <a:lnSpc>
                  <a:spcPts val="2240"/>
                </a:lnSpc>
              </a:pPr>
              <a:r>
                <a:rPr lang="en-US" sz="1600">
                  <a:solidFill>
                    <a:srgbClr val="FBFCFE"/>
                  </a:solidFill>
                  <a:latin typeface="Red Hat Display"/>
                  <a:ea typeface="Red Hat Display"/>
                  <a:cs typeface="Red Hat Display"/>
                  <a:sym typeface="Red Hat Display"/>
                </a:rPr>
                <a:t>2</a:t>
              </a:r>
            </a:p>
          </p:txBody>
        </p:sp>
      </p:grpSp>
      <p:sp>
        <p:nvSpPr>
          <p:cNvPr id="19" name="TextBox 19"/>
          <p:cNvSpPr txBox="1"/>
          <p:nvPr/>
        </p:nvSpPr>
        <p:spPr>
          <a:xfrm>
            <a:off x="3684703" y="2548515"/>
            <a:ext cx="5331977" cy="352425"/>
          </a:xfrm>
          <a:prstGeom prst="rect">
            <a:avLst/>
          </a:prstGeom>
        </p:spPr>
        <p:txBody>
          <a:bodyPr lIns="0" tIns="0" rIns="0" bIns="0" rtlCol="0" anchor="t">
            <a:spAutoFit/>
          </a:bodyPr>
          <a:lstStyle/>
          <a:p>
            <a:pPr algn="l">
              <a:lnSpc>
                <a:spcPts val="2637"/>
              </a:lnSpc>
            </a:pPr>
            <a:r>
              <a:rPr lang="en-US" sz="2198">
                <a:solidFill>
                  <a:srgbClr val="FBFCFE"/>
                </a:solidFill>
                <a:latin typeface="Poppins"/>
                <a:ea typeface="Poppins"/>
                <a:cs typeface="Poppins"/>
                <a:sym typeface="Poppins"/>
              </a:rPr>
              <a:t>Choix et Démarche Méthodologique</a:t>
            </a:r>
          </a:p>
        </p:txBody>
      </p:sp>
      <p:sp>
        <p:nvSpPr>
          <p:cNvPr id="20" name="AutoShape 20"/>
          <p:cNvSpPr/>
          <p:nvPr/>
        </p:nvSpPr>
        <p:spPr>
          <a:xfrm>
            <a:off x="2730318" y="2762827"/>
            <a:ext cx="639993" cy="0"/>
          </a:xfrm>
          <a:prstGeom prst="line">
            <a:avLst/>
          </a:prstGeom>
          <a:ln w="38100" cap="flat">
            <a:solidFill>
              <a:srgbClr val="2D2261"/>
            </a:solidFill>
            <a:prstDash val="solid"/>
            <a:headEnd type="none" w="sm" len="sm"/>
            <a:tailEnd type="none" w="sm" len="sm"/>
          </a:ln>
        </p:spPr>
      </p:sp>
      <p:grpSp>
        <p:nvGrpSpPr>
          <p:cNvPr id="21" name="Group 21"/>
          <p:cNvGrpSpPr/>
          <p:nvPr/>
        </p:nvGrpSpPr>
        <p:grpSpPr>
          <a:xfrm>
            <a:off x="3370311" y="3485208"/>
            <a:ext cx="5774612" cy="726295"/>
            <a:chOff x="0" y="0"/>
            <a:chExt cx="1521886" cy="191414"/>
          </a:xfrm>
        </p:grpSpPr>
        <p:sp>
          <p:nvSpPr>
            <p:cNvPr id="22" name="Freeform 22"/>
            <p:cNvSpPr/>
            <p:nvPr/>
          </p:nvSpPr>
          <p:spPr>
            <a:xfrm>
              <a:off x="0" y="0"/>
              <a:ext cx="1521886" cy="191414"/>
            </a:xfrm>
            <a:custGeom>
              <a:avLst/>
              <a:gdLst/>
              <a:ahLst/>
              <a:cxnLst/>
              <a:rect l="l" t="t" r="r" b="b"/>
              <a:pathLst>
                <a:path w="1521886" h="191414">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5B7ABE"/>
            </a:solidFill>
          </p:spPr>
        </p:sp>
        <p:sp>
          <p:nvSpPr>
            <p:cNvPr id="23" name="TextBox 23"/>
            <p:cNvSpPr txBox="1"/>
            <p:nvPr/>
          </p:nvSpPr>
          <p:spPr>
            <a:xfrm>
              <a:off x="0" y="-38100"/>
              <a:ext cx="1521886" cy="229514"/>
            </a:xfrm>
            <a:prstGeom prst="rect">
              <a:avLst/>
            </a:prstGeom>
          </p:spPr>
          <p:txBody>
            <a:bodyPr lIns="50800" tIns="50800" rIns="50800" bIns="50800" rtlCol="0" anchor="ctr"/>
            <a:lstStyle/>
            <a:p>
              <a:pPr algn="ctr">
                <a:lnSpc>
                  <a:spcPts val="2659"/>
                </a:lnSpc>
                <a:spcBef>
                  <a:spcPct val="0"/>
                </a:spcBef>
              </a:pPr>
              <a:endParaRPr/>
            </a:p>
          </p:txBody>
        </p:sp>
      </p:grpSp>
      <p:grpSp>
        <p:nvGrpSpPr>
          <p:cNvPr id="24" name="Group 24"/>
          <p:cNvGrpSpPr/>
          <p:nvPr/>
        </p:nvGrpSpPr>
        <p:grpSpPr>
          <a:xfrm>
            <a:off x="2124772" y="3461395"/>
            <a:ext cx="717393" cy="773920"/>
            <a:chOff x="0" y="0"/>
            <a:chExt cx="753433" cy="812800"/>
          </a:xfrm>
        </p:grpSpPr>
        <p:sp>
          <p:nvSpPr>
            <p:cNvPr id="25" name="Freeform 25"/>
            <p:cNvSpPr/>
            <p:nvPr/>
          </p:nvSpPr>
          <p:spPr>
            <a:xfrm>
              <a:off x="0" y="0"/>
              <a:ext cx="753433" cy="812800"/>
            </a:xfrm>
            <a:custGeom>
              <a:avLst/>
              <a:gdLst/>
              <a:ahLst/>
              <a:cxnLst/>
              <a:rect l="l" t="t" r="r" b="b"/>
              <a:pathLst>
                <a:path w="753433" h="812800">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id="26" name="TextBox 26"/>
            <p:cNvSpPr txBox="1"/>
            <p:nvPr/>
          </p:nvSpPr>
          <p:spPr>
            <a:xfrm>
              <a:off x="70634" y="47625"/>
              <a:ext cx="612164" cy="688975"/>
            </a:xfrm>
            <a:prstGeom prst="rect">
              <a:avLst/>
            </a:prstGeom>
          </p:spPr>
          <p:txBody>
            <a:bodyPr lIns="50800" tIns="50800" rIns="50800" bIns="50800" rtlCol="0" anchor="ctr"/>
            <a:lstStyle/>
            <a:p>
              <a:pPr algn="ctr">
                <a:lnSpc>
                  <a:spcPts val="2240"/>
                </a:lnSpc>
              </a:pPr>
              <a:r>
                <a:rPr lang="en-US" sz="1600">
                  <a:solidFill>
                    <a:srgbClr val="FBFCFE"/>
                  </a:solidFill>
                  <a:latin typeface="Red Hat Display"/>
                  <a:ea typeface="Red Hat Display"/>
                  <a:cs typeface="Red Hat Display"/>
                  <a:sym typeface="Red Hat Display"/>
                </a:rPr>
                <a:t>3</a:t>
              </a:r>
            </a:p>
          </p:txBody>
        </p:sp>
      </p:grpSp>
      <p:sp>
        <p:nvSpPr>
          <p:cNvPr id="27" name="TextBox 27"/>
          <p:cNvSpPr txBox="1"/>
          <p:nvPr/>
        </p:nvSpPr>
        <p:spPr>
          <a:xfrm>
            <a:off x="3684703" y="3651484"/>
            <a:ext cx="5716461" cy="352425"/>
          </a:xfrm>
          <a:prstGeom prst="rect">
            <a:avLst/>
          </a:prstGeom>
        </p:spPr>
        <p:txBody>
          <a:bodyPr lIns="0" tIns="0" rIns="0" bIns="0" rtlCol="0" anchor="t">
            <a:spAutoFit/>
          </a:bodyPr>
          <a:lstStyle/>
          <a:p>
            <a:pPr algn="l">
              <a:lnSpc>
                <a:spcPts val="2637"/>
              </a:lnSpc>
            </a:pPr>
            <a:r>
              <a:rPr lang="en-US" sz="2198">
                <a:solidFill>
                  <a:srgbClr val="FBFCFE"/>
                </a:solidFill>
                <a:latin typeface="Poppins"/>
                <a:ea typeface="Poppins"/>
                <a:cs typeface="Poppins"/>
                <a:sym typeface="Poppins"/>
              </a:rPr>
              <a:t>Modélisation et Comparaison</a:t>
            </a:r>
          </a:p>
        </p:txBody>
      </p:sp>
      <p:sp>
        <p:nvSpPr>
          <p:cNvPr id="28" name="AutoShape 28"/>
          <p:cNvSpPr/>
          <p:nvPr/>
        </p:nvSpPr>
        <p:spPr>
          <a:xfrm>
            <a:off x="2730318" y="3856247"/>
            <a:ext cx="639993" cy="0"/>
          </a:xfrm>
          <a:prstGeom prst="line">
            <a:avLst/>
          </a:prstGeom>
          <a:ln w="38100" cap="flat">
            <a:solidFill>
              <a:srgbClr val="2D2261"/>
            </a:solidFill>
            <a:prstDash val="solid"/>
            <a:headEnd type="none" w="sm" len="sm"/>
            <a:tailEnd type="none" w="sm" len="sm"/>
          </a:ln>
        </p:spPr>
      </p:sp>
      <p:grpSp>
        <p:nvGrpSpPr>
          <p:cNvPr id="29" name="Group 29"/>
          <p:cNvGrpSpPr/>
          <p:nvPr/>
        </p:nvGrpSpPr>
        <p:grpSpPr>
          <a:xfrm>
            <a:off x="3370311" y="4582978"/>
            <a:ext cx="5774612" cy="726295"/>
            <a:chOff x="0" y="0"/>
            <a:chExt cx="1521886" cy="191414"/>
          </a:xfrm>
        </p:grpSpPr>
        <p:sp>
          <p:nvSpPr>
            <p:cNvPr id="30" name="Freeform 30"/>
            <p:cNvSpPr/>
            <p:nvPr/>
          </p:nvSpPr>
          <p:spPr>
            <a:xfrm>
              <a:off x="0" y="0"/>
              <a:ext cx="1521886" cy="191414"/>
            </a:xfrm>
            <a:custGeom>
              <a:avLst/>
              <a:gdLst/>
              <a:ahLst/>
              <a:cxnLst/>
              <a:rect l="l" t="t" r="r" b="b"/>
              <a:pathLst>
                <a:path w="1521886" h="191414">
                  <a:moveTo>
                    <a:pt x="95707" y="0"/>
                  </a:moveTo>
                  <a:lnTo>
                    <a:pt x="1426180" y="0"/>
                  </a:lnTo>
                  <a:cubicBezTo>
                    <a:pt x="1451563" y="0"/>
                    <a:pt x="1475906" y="10083"/>
                    <a:pt x="1493855" y="28032"/>
                  </a:cubicBezTo>
                  <a:cubicBezTo>
                    <a:pt x="1511803" y="45980"/>
                    <a:pt x="1521886" y="70324"/>
                    <a:pt x="1521886" y="95707"/>
                  </a:cubicBezTo>
                  <a:lnTo>
                    <a:pt x="1521886" y="95707"/>
                  </a:lnTo>
                  <a:cubicBezTo>
                    <a:pt x="1521886" y="121090"/>
                    <a:pt x="1511803" y="145433"/>
                    <a:pt x="1493855" y="163382"/>
                  </a:cubicBezTo>
                  <a:cubicBezTo>
                    <a:pt x="1475906" y="181330"/>
                    <a:pt x="1451563" y="191414"/>
                    <a:pt x="1426180"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2D2261"/>
            </a:solidFill>
          </p:spPr>
        </p:sp>
        <p:sp>
          <p:nvSpPr>
            <p:cNvPr id="31" name="TextBox 31"/>
            <p:cNvSpPr txBox="1"/>
            <p:nvPr/>
          </p:nvSpPr>
          <p:spPr>
            <a:xfrm>
              <a:off x="0" y="-38100"/>
              <a:ext cx="1521886" cy="229514"/>
            </a:xfrm>
            <a:prstGeom prst="rect">
              <a:avLst/>
            </a:prstGeom>
          </p:spPr>
          <p:txBody>
            <a:bodyPr lIns="50800" tIns="50800" rIns="50800" bIns="50800" rtlCol="0" anchor="ctr"/>
            <a:lstStyle/>
            <a:p>
              <a:pPr algn="ctr">
                <a:lnSpc>
                  <a:spcPts val="2659"/>
                </a:lnSpc>
                <a:spcBef>
                  <a:spcPct val="0"/>
                </a:spcBef>
              </a:pPr>
              <a:endParaRPr/>
            </a:p>
          </p:txBody>
        </p:sp>
      </p:grpSp>
      <p:grpSp>
        <p:nvGrpSpPr>
          <p:cNvPr id="32" name="Group 32"/>
          <p:cNvGrpSpPr/>
          <p:nvPr/>
        </p:nvGrpSpPr>
        <p:grpSpPr>
          <a:xfrm>
            <a:off x="2124772" y="4559166"/>
            <a:ext cx="717393" cy="773920"/>
            <a:chOff x="0" y="0"/>
            <a:chExt cx="753433" cy="812800"/>
          </a:xfrm>
        </p:grpSpPr>
        <p:sp>
          <p:nvSpPr>
            <p:cNvPr id="33" name="Freeform 33"/>
            <p:cNvSpPr/>
            <p:nvPr/>
          </p:nvSpPr>
          <p:spPr>
            <a:xfrm>
              <a:off x="0" y="0"/>
              <a:ext cx="753433" cy="812800"/>
            </a:xfrm>
            <a:custGeom>
              <a:avLst/>
              <a:gdLst/>
              <a:ahLst/>
              <a:cxnLst/>
              <a:rect l="l" t="t" r="r" b="b"/>
              <a:pathLst>
                <a:path w="753433" h="812800">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id="34" name="TextBox 34"/>
            <p:cNvSpPr txBox="1"/>
            <p:nvPr/>
          </p:nvSpPr>
          <p:spPr>
            <a:xfrm>
              <a:off x="70634" y="47625"/>
              <a:ext cx="612164" cy="688975"/>
            </a:xfrm>
            <a:prstGeom prst="rect">
              <a:avLst/>
            </a:prstGeom>
          </p:spPr>
          <p:txBody>
            <a:bodyPr lIns="50800" tIns="50800" rIns="50800" bIns="50800" rtlCol="0" anchor="ctr"/>
            <a:lstStyle/>
            <a:p>
              <a:pPr algn="ctr">
                <a:lnSpc>
                  <a:spcPts val="2240"/>
                </a:lnSpc>
              </a:pPr>
              <a:r>
                <a:rPr lang="en-US" sz="1600">
                  <a:solidFill>
                    <a:srgbClr val="FBFCFE"/>
                  </a:solidFill>
                  <a:latin typeface="Red Hat Display"/>
                  <a:ea typeface="Red Hat Display"/>
                  <a:cs typeface="Red Hat Display"/>
                  <a:sym typeface="Red Hat Display"/>
                </a:rPr>
                <a:t>4</a:t>
              </a:r>
            </a:p>
          </p:txBody>
        </p:sp>
      </p:grpSp>
      <p:sp>
        <p:nvSpPr>
          <p:cNvPr id="35" name="TextBox 35"/>
          <p:cNvSpPr txBox="1"/>
          <p:nvPr/>
        </p:nvSpPr>
        <p:spPr>
          <a:xfrm>
            <a:off x="3713934" y="4739705"/>
            <a:ext cx="4306454" cy="352425"/>
          </a:xfrm>
          <a:prstGeom prst="rect">
            <a:avLst/>
          </a:prstGeom>
        </p:spPr>
        <p:txBody>
          <a:bodyPr lIns="0" tIns="0" rIns="0" bIns="0" rtlCol="0" anchor="t">
            <a:spAutoFit/>
          </a:bodyPr>
          <a:lstStyle/>
          <a:p>
            <a:pPr algn="l">
              <a:lnSpc>
                <a:spcPts val="2759"/>
              </a:lnSpc>
            </a:pPr>
            <a:r>
              <a:rPr lang="en-US" sz="2299">
                <a:solidFill>
                  <a:srgbClr val="FBFCFE"/>
                </a:solidFill>
                <a:latin typeface="Poppins"/>
                <a:ea typeface="Poppins"/>
                <a:cs typeface="Poppins"/>
                <a:sym typeface="Poppins"/>
              </a:rPr>
              <a:t>Modèle choisit</a:t>
            </a:r>
          </a:p>
        </p:txBody>
      </p:sp>
      <p:sp>
        <p:nvSpPr>
          <p:cNvPr id="36" name="AutoShape 36"/>
          <p:cNvSpPr/>
          <p:nvPr/>
        </p:nvSpPr>
        <p:spPr>
          <a:xfrm>
            <a:off x="2730318" y="4954017"/>
            <a:ext cx="639993" cy="0"/>
          </a:xfrm>
          <a:prstGeom prst="line">
            <a:avLst/>
          </a:prstGeom>
          <a:ln w="38100" cap="flat">
            <a:solidFill>
              <a:srgbClr val="2D2261"/>
            </a:solidFill>
            <a:prstDash val="solid"/>
            <a:headEnd type="none" w="sm" len="sm"/>
            <a:tailEnd type="none" w="sm" len="sm"/>
          </a:ln>
        </p:spPr>
      </p:sp>
      <p:grpSp>
        <p:nvGrpSpPr>
          <p:cNvPr id="37" name="Group 37"/>
          <p:cNvGrpSpPr/>
          <p:nvPr/>
        </p:nvGrpSpPr>
        <p:grpSpPr>
          <a:xfrm>
            <a:off x="3370311" y="5680748"/>
            <a:ext cx="5882693" cy="726295"/>
            <a:chOff x="0" y="0"/>
            <a:chExt cx="1550371" cy="191414"/>
          </a:xfrm>
        </p:grpSpPr>
        <p:sp>
          <p:nvSpPr>
            <p:cNvPr id="38" name="Freeform 38"/>
            <p:cNvSpPr/>
            <p:nvPr/>
          </p:nvSpPr>
          <p:spPr>
            <a:xfrm>
              <a:off x="0" y="0"/>
              <a:ext cx="1550371" cy="191414"/>
            </a:xfrm>
            <a:custGeom>
              <a:avLst/>
              <a:gdLst/>
              <a:ahLst/>
              <a:cxnLst/>
              <a:rect l="l" t="t" r="r" b="b"/>
              <a:pathLst>
                <a:path w="1550371" h="191414">
                  <a:moveTo>
                    <a:pt x="95707" y="0"/>
                  </a:moveTo>
                  <a:lnTo>
                    <a:pt x="1454664" y="0"/>
                  </a:lnTo>
                  <a:cubicBezTo>
                    <a:pt x="1507521" y="0"/>
                    <a:pt x="1550371" y="42849"/>
                    <a:pt x="1550371" y="95707"/>
                  </a:cubicBezTo>
                  <a:lnTo>
                    <a:pt x="1550371" y="95707"/>
                  </a:lnTo>
                  <a:cubicBezTo>
                    <a:pt x="1550371" y="121090"/>
                    <a:pt x="1540287" y="145433"/>
                    <a:pt x="1522339" y="163382"/>
                  </a:cubicBezTo>
                  <a:cubicBezTo>
                    <a:pt x="1504391" y="181330"/>
                    <a:pt x="1480047" y="191414"/>
                    <a:pt x="1454664"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2D2261"/>
            </a:solidFill>
          </p:spPr>
        </p:sp>
        <p:sp>
          <p:nvSpPr>
            <p:cNvPr id="39" name="TextBox 39"/>
            <p:cNvSpPr txBox="1"/>
            <p:nvPr/>
          </p:nvSpPr>
          <p:spPr>
            <a:xfrm>
              <a:off x="0" y="-38100"/>
              <a:ext cx="1550371" cy="229514"/>
            </a:xfrm>
            <a:prstGeom prst="rect">
              <a:avLst/>
            </a:prstGeom>
          </p:spPr>
          <p:txBody>
            <a:bodyPr lIns="50800" tIns="50800" rIns="50800" bIns="50800" rtlCol="0" anchor="ctr"/>
            <a:lstStyle/>
            <a:p>
              <a:pPr algn="ctr">
                <a:lnSpc>
                  <a:spcPts val="2659"/>
                </a:lnSpc>
                <a:spcBef>
                  <a:spcPct val="0"/>
                </a:spcBef>
              </a:pPr>
              <a:endParaRPr/>
            </a:p>
          </p:txBody>
        </p:sp>
      </p:grpSp>
      <p:grpSp>
        <p:nvGrpSpPr>
          <p:cNvPr id="40" name="Group 40"/>
          <p:cNvGrpSpPr/>
          <p:nvPr/>
        </p:nvGrpSpPr>
        <p:grpSpPr>
          <a:xfrm>
            <a:off x="2124772" y="5656936"/>
            <a:ext cx="717393" cy="773920"/>
            <a:chOff x="0" y="0"/>
            <a:chExt cx="753433" cy="812800"/>
          </a:xfrm>
        </p:grpSpPr>
        <p:sp>
          <p:nvSpPr>
            <p:cNvPr id="41" name="Freeform 41"/>
            <p:cNvSpPr/>
            <p:nvPr/>
          </p:nvSpPr>
          <p:spPr>
            <a:xfrm>
              <a:off x="0" y="0"/>
              <a:ext cx="753433" cy="812800"/>
            </a:xfrm>
            <a:custGeom>
              <a:avLst/>
              <a:gdLst/>
              <a:ahLst/>
              <a:cxnLst/>
              <a:rect l="l" t="t" r="r" b="b"/>
              <a:pathLst>
                <a:path w="753433" h="812800">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id="42" name="TextBox 42"/>
            <p:cNvSpPr txBox="1"/>
            <p:nvPr/>
          </p:nvSpPr>
          <p:spPr>
            <a:xfrm>
              <a:off x="70634" y="47625"/>
              <a:ext cx="612164" cy="688975"/>
            </a:xfrm>
            <a:prstGeom prst="rect">
              <a:avLst/>
            </a:prstGeom>
          </p:spPr>
          <p:txBody>
            <a:bodyPr lIns="50800" tIns="50800" rIns="50800" bIns="50800" rtlCol="0" anchor="ctr"/>
            <a:lstStyle/>
            <a:p>
              <a:pPr algn="ctr">
                <a:lnSpc>
                  <a:spcPts val="2240"/>
                </a:lnSpc>
              </a:pPr>
              <a:r>
                <a:rPr lang="en-US" sz="1600">
                  <a:solidFill>
                    <a:srgbClr val="FBFCFE"/>
                  </a:solidFill>
                  <a:latin typeface="Red Hat Display"/>
                  <a:ea typeface="Red Hat Display"/>
                  <a:cs typeface="Red Hat Display"/>
                  <a:sym typeface="Red Hat Display"/>
                </a:rPr>
                <a:t>5</a:t>
              </a:r>
            </a:p>
          </p:txBody>
        </p:sp>
      </p:grpSp>
      <p:sp>
        <p:nvSpPr>
          <p:cNvPr id="43" name="TextBox 43"/>
          <p:cNvSpPr txBox="1"/>
          <p:nvPr/>
        </p:nvSpPr>
        <p:spPr>
          <a:xfrm>
            <a:off x="3742509" y="5818425"/>
            <a:ext cx="4267147" cy="438150"/>
          </a:xfrm>
          <a:prstGeom prst="rect">
            <a:avLst/>
          </a:prstGeom>
        </p:spPr>
        <p:txBody>
          <a:bodyPr lIns="0" tIns="0" rIns="0" bIns="0" rtlCol="0" anchor="t">
            <a:spAutoFit/>
          </a:bodyPr>
          <a:lstStyle/>
          <a:p>
            <a:pPr algn="l">
              <a:lnSpc>
                <a:spcPts val="3237"/>
              </a:lnSpc>
            </a:pPr>
            <a:r>
              <a:rPr lang="en-US" sz="2698">
                <a:solidFill>
                  <a:srgbClr val="FBFCFE"/>
                </a:solidFill>
                <a:latin typeface="Poppins"/>
                <a:ea typeface="Poppins"/>
                <a:cs typeface="Poppins"/>
                <a:sym typeface="Poppins"/>
              </a:rPr>
              <a:t>Application Développée</a:t>
            </a:r>
          </a:p>
        </p:txBody>
      </p:sp>
      <p:sp>
        <p:nvSpPr>
          <p:cNvPr id="44" name="AutoShape 44"/>
          <p:cNvSpPr/>
          <p:nvPr/>
        </p:nvSpPr>
        <p:spPr>
          <a:xfrm>
            <a:off x="2730318" y="6051787"/>
            <a:ext cx="639993" cy="0"/>
          </a:xfrm>
          <a:prstGeom prst="line">
            <a:avLst/>
          </a:prstGeom>
          <a:ln w="38100" cap="flat">
            <a:solidFill>
              <a:srgbClr val="2D2261"/>
            </a:solidFill>
            <a:prstDash val="solid"/>
            <a:headEnd type="none" w="sm" len="sm"/>
            <a:tailEnd type="none" w="sm" len="sm"/>
          </a:ln>
        </p:spPr>
      </p:sp>
      <p:sp>
        <p:nvSpPr>
          <p:cNvPr id="45" name="TextBox 45"/>
          <p:cNvSpPr txBox="1"/>
          <p:nvPr/>
        </p:nvSpPr>
        <p:spPr>
          <a:xfrm>
            <a:off x="-524871" y="9567077"/>
            <a:ext cx="2284068" cy="332285"/>
          </a:xfrm>
          <a:prstGeom prst="rect">
            <a:avLst/>
          </a:prstGeom>
        </p:spPr>
        <p:txBody>
          <a:bodyPr lIns="0" tIns="0" rIns="0" bIns="0" rtlCol="0" anchor="t">
            <a:spAutoFit/>
          </a:bodyPr>
          <a:lstStyle/>
          <a:p>
            <a:pPr algn="ctr">
              <a:lnSpc>
                <a:spcPts val="2449"/>
              </a:lnSpc>
            </a:pPr>
            <a:r>
              <a:rPr lang="en-US" sz="2721" b="1">
                <a:solidFill>
                  <a:srgbClr val="2D2261"/>
                </a:solidFill>
                <a:latin typeface="Red Hat Display Bold"/>
                <a:ea typeface="Red Hat Display Bold"/>
                <a:cs typeface="Red Hat Display Bold"/>
                <a:sym typeface="Red Hat Display Bold"/>
              </a:rPr>
              <a:t>2</a:t>
            </a:r>
          </a:p>
        </p:txBody>
      </p:sp>
      <p:grpSp>
        <p:nvGrpSpPr>
          <p:cNvPr id="46" name="Group 46"/>
          <p:cNvGrpSpPr/>
          <p:nvPr/>
        </p:nvGrpSpPr>
        <p:grpSpPr>
          <a:xfrm>
            <a:off x="3370311" y="6653997"/>
            <a:ext cx="5882693" cy="726295"/>
            <a:chOff x="0" y="0"/>
            <a:chExt cx="1550371" cy="191414"/>
          </a:xfrm>
        </p:grpSpPr>
        <p:sp>
          <p:nvSpPr>
            <p:cNvPr id="47" name="Freeform 47"/>
            <p:cNvSpPr/>
            <p:nvPr/>
          </p:nvSpPr>
          <p:spPr>
            <a:xfrm>
              <a:off x="0" y="0"/>
              <a:ext cx="1550371" cy="191414"/>
            </a:xfrm>
            <a:custGeom>
              <a:avLst/>
              <a:gdLst/>
              <a:ahLst/>
              <a:cxnLst/>
              <a:rect l="l" t="t" r="r" b="b"/>
              <a:pathLst>
                <a:path w="1550371" h="191414">
                  <a:moveTo>
                    <a:pt x="95707" y="0"/>
                  </a:moveTo>
                  <a:lnTo>
                    <a:pt x="1454664" y="0"/>
                  </a:lnTo>
                  <a:cubicBezTo>
                    <a:pt x="1507521" y="0"/>
                    <a:pt x="1550371" y="42849"/>
                    <a:pt x="1550371" y="95707"/>
                  </a:cubicBezTo>
                  <a:lnTo>
                    <a:pt x="1550371" y="95707"/>
                  </a:lnTo>
                  <a:cubicBezTo>
                    <a:pt x="1550371" y="121090"/>
                    <a:pt x="1540287" y="145433"/>
                    <a:pt x="1522339" y="163382"/>
                  </a:cubicBezTo>
                  <a:cubicBezTo>
                    <a:pt x="1504391" y="181330"/>
                    <a:pt x="1480047" y="191414"/>
                    <a:pt x="1454664" y="191414"/>
                  </a:cubicBezTo>
                  <a:lnTo>
                    <a:pt x="95707" y="191414"/>
                  </a:lnTo>
                  <a:cubicBezTo>
                    <a:pt x="70324" y="191414"/>
                    <a:pt x="45980" y="181330"/>
                    <a:pt x="28032" y="163382"/>
                  </a:cubicBezTo>
                  <a:cubicBezTo>
                    <a:pt x="10083" y="145433"/>
                    <a:pt x="0" y="121090"/>
                    <a:pt x="0" y="95707"/>
                  </a:cubicBezTo>
                  <a:lnTo>
                    <a:pt x="0" y="95707"/>
                  </a:lnTo>
                  <a:cubicBezTo>
                    <a:pt x="0" y="70324"/>
                    <a:pt x="10083" y="45980"/>
                    <a:pt x="28032" y="28032"/>
                  </a:cubicBezTo>
                  <a:cubicBezTo>
                    <a:pt x="45980" y="10083"/>
                    <a:pt x="70324" y="0"/>
                    <a:pt x="95707" y="0"/>
                  </a:cubicBezTo>
                  <a:close/>
                </a:path>
              </a:pathLst>
            </a:custGeom>
            <a:solidFill>
              <a:srgbClr val="5B7ABE"/>
            </a:solidFill>
          </p:spPr>
        </p:sp>
        <p:sp>
          <p:nvSpPr>
            <p:cNvPr id="48" name="TextBox 48"/>
            <p:cNvSpPr txBox="1"/>
            <p:nvPr/>
          </p:nvSpPr>
          <p:spPr>
            <a:xfrm>
              <a:off x="0" y="-38100"/>
              <a:ext cx="1550371" cy="229514"/>
            </a:xfrm>
            <a:prstGeom prst="rect">
              <a:avLst/>
            </a:prstGeom>
          </p:spPr>
          <p:txBody>
            <a:bodyPr lIns="50800" tIns="50800" rIns="50800" bIns="50800" rtlCol="0" anchor="ctr"/>
            <a:lstStyle/>
            <a:p>
              <a:pPr algn="ctr">
                <a:lnSpc>
                  <a:spcPts val="2659"/>
                </a:lnSpc>
                <a:spcBef>
                  <a:spcPct val="0"/>
                </a:spcBef>
              </a:pPr>
              <a:endParaRPr/>
            </a:p>
          </p:txBody>
        </p:sp>
      </p:grpSp>
      <p:grpSp>
        <p:nvGrpSpPr>
          <p:cNvPr id="49" name="Group 49"/>
          <p:cNvGrpSpPr/>
          <p:nvPr/>
        </p:nvGrpSpPr>
        <p:grpSpPr>
          <a:xfrm>
            <a:off x="2124772" y="6630185"/>
            <a:ext cx="717393" cy="773920"/>
            <a:chOff x="0" y="0"/>
            <a:chExt cx="753433" cy="812800"/>
          </a:xfrm>
        </p:grpSpPr>
        <p:sp>
          <p:nvSpPr>
            <p:cNvPr id="50" name="Freeform 50"/>
            <p:cNvSpPr/>
            <p:nvPr/>
          </p:nvSpPr>
          <p:spPr>
            <a:xfrm>
              <a:off x="0" y="0"/>
              <a:ext cx="753433" cy="812800"/>
            </a:xfrm>
            <a:custGeom>
              <a:avLst/>
              <a:gdLst/>
              <a:ahLst/>
              <a:cxnLst/>
              <a:rect l="l" t="t" r="r" b="b"/>
              <a:pathLst>
                <a:path w="753433" h="812800">
                  <a:moveTo>
                    <a:pt x="376717" y="0"/>
                  </a:moveTo>
                  <a:cubicBezTo>
                    <a:pt x="168662" y="0"/>
                    <a:pt x="0" y="181951"/>
                    <a:pt x="0" y="406400"/>
                  </a:cubicBezTo>
                  <a:cubicBezTo>
                    <a:pt x="0" y="630849"/>
                    <a:pt x="168662" y="812800"/>
                    <a:pt x="376717" y="812800"/>
                  </a:cubicBezTo>
                  <a:cubicBezTo>
                    <a:pt x="584771" y="812800"/>
                    <a:pt x="753433" y="630849"/>
                    <a:pt x="753433" y="406400"/>
                  </a:cubicBezTo>
                  <a:cubicBezTo>
                    <a:pt x="753433" y="181951"/>
                    <a:pt x="584771" y="0"/>
                    <a:pt x="376717" y="0"/>
                  </a:cubicBezTo>
                  <a:close/>
                </a:path>
              </a:pathLst>
            </a:custGeom>
            <a:solidFill>
              <a:srgbClr val="2D2261"/>
            </a:solidFill>
          </p:spPr>
        </p:sp>
        <p:sp>
          <p:nvSpPr>
            <p:cNvPr id="51" name="TextBox 51"/>
            <p:cNvSpPr txBox="1"/>
            <p:nvPr/>
          </p:nvSpPr>
          <p:spPr>
            <a:xfrm>
              <a:off x="70634" y="47625"/>
              <a:ext cx="612164" cy="688975"/>
            </a:xfrm>
            <a:prstGeom prst="rect">
              <a:avLst/>
            </a:prstGeom>
          </p:spPr>
          <p:txBody>
            <a:bodyPr lIns="50800" tIns="50800" rIns="50800" bIns="50800" rtlCol="0" anchor="ctr"/>
            <a:lstStyle/>
            <a:p>
              <a:pPr algn="ctr">
                <a:lnSpc>
                  <a:spcPts val="2240"/>
                </a:lnSpc>
              </a:pPr>
              <a:r>
                <a:rPr lang="en-US" sz="1600">
                  <a:solidFill>
                    <a:srgbClr val="FBFCFE"/>
                  </a:solidFill>
                  <a:latin typeface="Red Hat Display"/>
                  <a:ea typeface="Red Hat Display"/>
                  <a:cs typeface="Red Hat Display"/>
                  <a:sym typeface="Red Hat Display"/>
                </a:rPr>
                <a:t>6</a:t>
              </a:r>
            </a:p>
          </p:txBody>
        </p:sp>
      </p:grpSp>
      <p:sp>
        <p:nvSpPr>
          <p:cNvPr id="52" name="TextBox 52"/>
          <p:cNvSpPr txBox="1"/>
          <p:nvPr/>
        </p:nvSpPr>
        <p:spPr>
          <a:xfrm>
            <a:off x="3742509" y="6791674"/>
            <a:ext cx="5100019" cy="847725"/>
          </a:xfrm>
          <a:prstGeom prst="rect">
            <a:avLst/>
          </a:prstGeom>
        </p:spPr>
        <p:txBody>
          <a:bodyPr lIns="0" tIns="0" rIns="0" bIns="0" rtlCol="0" anchor="t">
            <a:spAutoFit/>
          </a:bodyPr>
          <a:lstStyle/>
          <a:p>
            <a:pPr algn="l">
              <a:lnSpc>
                <a:spcPts val="3237"/>
              </a:lnSpc>
            </a:pPr>
            <a:r>
              <a:rPr lang="en-US" sz="2698">
                <a:solidFill>
                  <a:srgbClr val="FBFCFE"/>
                </a:solidFill>
                <a:latin typeface="Poppins"/>
                <a:ea typeface="Poppins"/>
                <a:cs typeface="Poppins"/>
                <a:sym typeface="Poppins"/>
              </a:rPr>
              <a:t>Conclusion et Perspectives</a:t>
            </a:r>
          </a:p>
          <a:p>
            <a:pPr algn="l">
              <a:lnSpc>
                <a:spcPts val="3237"/>
              </a:lnSpc>
            </a:pPr>
            <a:endParaRPr lang="en-US" sz="2698">
              <a:solidFill>
                <a:srgbClr val="FBFCFE"/>
              </a:solidFill>
              <a:latin typeface="Poppins"/>
              <a:ea typeface="Poppins"/>
              <a:cs typeface="Poppins"/>
              <a:sym typeface="Poppins"/>
            </a:endParaRPr>
          </a:p>
        </p:txBody>
      </p:sp>
      <p:sp>
        <p:nvSpPr>
          <p:cNvPr id="53" name="AutoShape 53"/>
          <p:cNvSpPr/>
          <p:nvPr/>
        </p:nvSpPr>
        <p:spPr>
          <a:xfrm>
            <a:off x="2730318" y="7025036"/>
            <a:ext cx="639993" cy="0"/>
          </a:xfrm>
          <a:prstGeom prst="line">
            <a:avLst/>
          </a:prstGeom>
          <a:ln w="38100" cap="flat">
            <a:solidFill>
              <a:srgbClr val="2D2261"/>
            </a:solidFill>
            <a:prstDash val="solid"/>
            <a:headEnd type="none" w="sm" len="sm"/>
            <a:tailEnd type="none" w="sm" len="sm"/>
          </a:ln>
        </p:spPr>
      </p:sp>
      <p:sp>
        <p:nvSpPr>
          <p:cNvPr id="54" name="Freeform 54"/>
          <p:cNvSpPr/>
          <p:nvPr/>
        </p:nvSpPr>
        <p:spPr>
          <a:xfrm>
            <a:off x="12247090" y="3461395"/>
            <a:ext cx="5893914" cy="4358938"/>
          </a:xfrm>
          <a:custGeom>
            <a:avLst/>
            <a:gdLst/>
            <a:ahLst/>
            <a:cxnLst/>
            <a:rect l="l" t="t" r="r" b="b"/>
            <a:pathLst>
              <a:path w="5893914" h="4358938">
                <a:moveTo>
                  <a:pt x="0" y="0"/>
                </a:moveTo>
                <a:lnTo>
                  <a:pt x="5893914" y="0"/>
                </a:lnTo>
                <a:lnTo>
                  <a:pt x="5893914" y="4358939"/>
                </a:lnTo>
                <a:lnTo>
                  <a:pt x="0" y="4358939"/>
                </a:lnTo>
                <a:lnTo>
                  <a:pt x="0" y="0"/>
                </a:lnTo>
                <a:close/>
              </a:path>
            </a:pathLst>
          </a:custGeom>
          <a:blipFill>
            <a:blip>
              <a:extLst>
                <a:ext uri="{96DAC541-7B7A-43D3-8B79-37D633B846F1}">
                  <asvg:svgBlip xmlns:asvg="http://schemas.microsoft.com/office/drawing/2016/SVG/main" r:embed="rId2"/>
                </a:ext>
              </a:extLst>
            </a:blip>
            <a:stretch>
              <a:fillRect/>
            </a:stretch>
          </a:blipFill>
        </p:spPr>
      </p:sp>
      <p:sp>
        <p:nvSpPr>
          <p:cNvPr id="55" name="Freeform 55"/>
          <p:cNvSpPr/>
          <p:nvPr/>
        </p:nvSpPr>
        <p:spPr>
          <a:xfrm rot="635325">
            <a:off x="-754076" y="8073555"/>
            <a:ext cx="7907020" cy="6699403"/>
          </a:xfrm>
          <a:custGeom>
            <a:avLst/>
            <a:gdLst/>
            <a:ahLst/>
            <a:cxnLst/>
            <a:rect l="l" t="t" r="r" b="b"/>
            <a:pathLst>
              <a:path w="7907020" h="6699403">
                <a:moveTo>
                  <a:pt x="0" y="0"/>
                </a:moveTo>
                <a:lnTo>
                  <a:pt x="7907020" y="0"/>
                </a:lnTo>
                <a:lnTo>
                  <a:pt x="7907020" y="6699403"/>
                </a:lnTo>
                <a:lnTo>
                  <a:pt x="0" y="669940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56" name="Freeform 56"/>
          <p:cNvSpPr/>
          <p:nvPr/>
        </p:nvSpPr>
        <p:spPr>
          <a:xfrm rot="715246">
            <a:off x="12993540" y="-2095015"/>
            <a:ext cx="6727323" cy="4586811"/>
          </a:xfrm>
          <a:custGeom>
            <a:avLst/>
            <a:gdLst/>
            <a:ahLst/>
            <a:cxnLst/>
            <a:rect l="l" t="t" r="r" b="b"/>
            <a:pathLst>
              <a:path w="6727323" h="4586811">
                <a:moveTo>
                  <a:pt x="0" y="0"/>
                </a:moveTo>
                <a:lnTo>
                  <a:pt x="6727323" y="0"/>
                </a:lnTo>
                <a:lnTo>
                  <a:pt x="6727323" y="4586812"/>
                </a:lnTo>
                <a:lnTo>
                  <a:pt x="0" y="4586812"/>
                </a:lnTo>
                <a:lnTo>
                  <a:pt x="0" y="0"/>
                </a:lnTo>
                <a:close/>
              </a:path>
            </a:pathLst>
          </a:custGeom>
          <a:blipFill>
            <a:blip>
              <a:alphaModFix amt="50000"/>
              <a:extLst>
                <a:ext uri="{96DAC541-7B7A-43D3-8B79-37D633B846F1}">
                  <asvg:svgBlip xmlns:asvg="http://schemas.microsoft.com/office/drawing/2016/SVG/main" r:embed="rId4"/>
                </a:ext>
              </a:extLst>
            </a:blip>
            <a:stretch>
              <a:fillRect/>
            </a:stretch>
          </a:blipFill>
        </p:spPr>
      </p:sp>
      <p:sp>
        <p:nvSpPr>
          <p:cNvPr id="57" name="TextBox 57"/>
          <p:cNvSpPr txBox="1"/>
          <p:nvPr/>
        </p:nvSpPr>
        <p:spPr>
          <a:xfrm>
            <a:off x="6913585" y="1054055"/>
            <a:ext cx="12287011" cy="1938892"/>
          </a:xfrm>
          <a:prstGeom prst="rect">
            <a:avLst/>
          </a:prstGeom>
        </p:spPr>
        <p:txBody>
          <a:bodyPr lIns="0" tIns="0" rIns="0" bIns="0" rtlCol="0" anchor="t">
            <a:spAutoFit/>
          </a:bodyPr>
          <a:lstStyle/>
          <a:p>
            <a:pPr algn="ctr">
              <a:lnSpc>
                <a:spcPts val="13175"/>
              </a:lnSpc>
            </a:pPr>
            <a:r>
              <a:rPr lang="en-US" sz="14639" b="1">
                <a:solidFill>
                  <a:srgbClr val="2D2261"/>
                </a:solidFill>
                <a:latin typeface="Poppins Bold"/>
                <a:ea typeface="Poppins Bold"/>
                <a:cs typeface="Poppins Bold"/>
                <a:sym typeface="Poppins Bold"/>
              </a:rPr>
              <a:t>PLAN</a:t>
            </a:r>
          </a:p>
        </p:txBody>
      </p:sp>
      <p:sp>
        <p:nvSpPr>
          <p:cNvPr id="58" name="TextBox 58"/>
          <p:cNvSpPr txBox="1"/>
          <p:nvPr/>
        </p:nvSpPr>
        <p:spPr>
          <a:xfrm>
            <a:off x="12699491" y="2068669"/>
            <a:ext cx="2007045" cy="1521559"/>
          </a:xfrm>
          <a:prstGeom prst="rect">
            <a:avLst/>
          </a:prstGeom>
        </p:spPr>
        <p:txBody>
          <a:bodyPr lIns="0" tIns="0" rIns="0" bIns="0" rtlCol="0" anchor="t">
            <a:spAutoFit/>
          </a:bodyPr>
          <a:lstStyle/>
          <a:p>
            <a:pPr algn="ctr">
              <a:lnSpc>
                <a:spcPts val="12464"/>
              </a:lnSpc>
            </a:pPr>
            <a:r>
              <a:rPr lang="en-US" sz="8903">
                <a:solidFill>
                  <a:srgbClr val="9AB7FF"/>
                </a:solidFill>
                <a:latin typeface="Brittany"/>
                <a:ea typeface="Brittany"/>
                <a:cs typeface="Brittany"/>
                <a:sym typeface="Brittany"/>
              </a:rPr>
              <a:t>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555435" y="3522789"/>
            <a:ext cx="3173706" cy="396240"/>
          </a:xfrm>
          <a:prstGeom prst="rect">
            <a:avLst/>
          </a:prstGeom>
        </p:spPr>
        <p:txBody>
          <a:bodyPr lIns="0" tIns="0" rIns="0" bIns="0" rtlCol="0" anchor="t">
            <a:spAutoFit/>
          </a:bodyPr>
          <a:lstStyle/>
          <a:p>
            <a:pPr algn="ctr">
              <a:lnSpc>
                <a:spcPts val="3359"/>
              </a:lnSpc>
            </a:pPr>
            <a:r>
              <a:rPr lang="en-US" sz="2400">
                <a:solidFill>
                  <a:srgbClr val="FBFCFE"/>
                </a:solidFill>
                <a:latin typeface="Red Hat Display"/>
                <a:ea typeface="Red Hat Display"/>
                <a:cs typeface="Red Hat Display"/>
                <a:sym typeface="Red Hat Display"/>
              </a:rPr>
              <a:t>Collaborative Process</a:t>
            </a:r>
          </a:p>
        </p:txBody>
      </p:sp>
      <p:sp>
        <p:nvSpPr>
          <p:cNvPr id="3" name="TextBox 3"/>
          <p:cNvSpPr txBox="1"/>
          <p:nvPr/>
        </p:nvSpPr>
        <p:spPr>
          <a:xfrm>
            <a:off x="12388488" y="3522789"/>
            <a:ext cx="3173706" cy="396240"/>
          </a:xfrm>
          <a:prstGeom prst="rect">
            <a:avLst/>
          </a:prstGeom>
        </p:spPr>
        <p:txBody>
          <a:bodyPr lIns="0" tIns="0" rIns="0" bIns="0" rtlCol="0" anchor="t">
            <a:spAutoFit/>
          </a:bodyPr>
          <a:lstStyle/>
          <a:p>
            <a:pPr algn="ctr">
              <a:lnSpc>
                <a:spcPts val="3359"/>
              </a:lnSpc>
            </a:pPr>
            <a:r>
              <a:rPr lang="en-US" sz="2400" b="1">
                <a:solidFill>
                  <a:srgbClr val="FBFCFE"/>
                </a:solidFill>
                <a:latin typeface="Red Hat Display Bold"/>
                <a:ea typeface="Red Hat Display Bold"/>
                <a:cs typeface="Red Hat Display Bold"/>
                <a:sym typeface="Red Hat Display Bold"/>
              </a:rPr>
              <a:t>Objectif du projet </a:t>
            </a:r>
          </a:p>
        </p:txBody>
      </p:sp>
      <p:sp>
        <p:nvSpPr>
          <p:cNvPr id="4" name="Freeform 4"/>
          <p:cNvSpPr/>
          <p:nvPr/>
        </p:nvSpPr>
        <p:spPr>
          <a:xfrm rot="-2080684">
            <a:off x="10082077" y="8242051"/>
            <a:ext cx="10960234" cy="7472887"/>
          </a:xfrm>
          <a:custGeom>
            <a:avLst/>
            <a:gdLst/>
            <a:ahLst/>
            <a:cxnLst/>
            <a:rect l="l" t="t" r="r" b="b"/>
            <a:pathLst>
              <a:path w="10960234" h="7472887">
                <a:moveTo>
                  <a:pt x="0" y="0"/>
                </a:moveTo>
                <a:lnTo>
                  <a:pt x="10960235" y="0"/>
                </a:lnTo>
                <a:lnTo>
                  <a:pt x="10960235" y="7472887"/>
                </a:lnTo>
                <a:lnTo>
                  <a:pt x="0" y="7472887"/>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5" name="Freeform 5"/>
          <p:cNvSpPr/>
          <p:nvPr/>
        </p:nvSpPr>
        <p:spPr>
          <a:xfrm rot="9426524">
            <a:off x="-3984660" y="-4765086"/>
            <a:ext cx="9442126" cy="8000056"/>
          </a:xfrm>
          <a:custGeom>
            <a:avLst/>
            <a:gdLst/>
            <a:ahLst/>
            <a:cxnLst/>
            <a:rect l="l" t="t" r="r" b="b"/>
            <a:pathLst>
              <a:path w="9442126" h="8000056">
                <a:moveTo>
                  <a:pt x="0" y="0"/>
                </a:moveTo>
                <a:lnTo>
                  <a:pt x="9442126" y="0"/>
                </a:lnTo>
                <a:lnTo>
                  <a:pt x="9442126" y="8000056"/>
                </a:lnTo>
                <a:lnTo>
                  <a:pt x="0" y="8000056"/>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6" name="Freeform 6"/>
          <p:cNvSpPr/>
          <p:nvPr/>
        </p:nvSpPr>
        <p:spPr>
          <a:xfrm rot="-2624874">
            <a:off x="-884948" y="9077955"/>
            <a:ext cx="3242701" cy="1827704"/>
          </a:xfrm>
          <a:custGeom>
            <a:avLst/>
            <a:gdLst/>
            <a:ahLst/>
            <a:cxnLst/>
            <a:rect l="l" t="t" r="r" b="b"/>
            <a:pathLst>
              <a:path w="3242701" h="1827704">
                <a:moveTo>
                  <a:pt x="0" y="0"/>
                </a:moveTo>
                <a:lnTo>
                  <a:pt x="3242701" y="0"/>
                </a:lnTo>
                <a:lnTo>
                  <a:pt x="3242701" y="1827704"/>
                </a:lnTo>
                <a:lnTo>
                  <a:pt x="0" y="182770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7" name="Freeform 7"/>
          <p:cNvSpPr/>
          <p:nvPr/>
        </p:nvSpPr>
        <p:spPr>
          <a:xfrm rot="2830696">
            <a:off x="16075185" y="-1028700"/>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8" name="Group 8"/>
          <p:cNvGrpSpPr/>
          <p:nvPr/>
        </p:nvGrpSpPr>
        <p:grpSpPr>
          <a:xfrm>
            <a:off x="1057275" y="3364229"/>
            <a:ext cx="15959684" cy="1282252"/>
            <a:chOff x="0" y="0"/>
            <a:chExt cx="4040971" cy="324665"/>
          </a:xfrm>
        </p:grpSpPr>
        <p:sp>
          <p:nvSpPr>
            <p:cNvPr id="9" name="Freeform 9"/>
            <p:cNvSpPr/>
            <p:nvPr/>
          </p:nvSpPr>
          <p:spPr>
            <a:xfrm>
              <a:off x="0" y="0"/>
              <a:ext cx="4040971" cy="324665"/>
            </a:xfrm>
            <a:custGeom>
              <a:avLst/>
              <a:gdLst/>
              <a:ahLst/>
              <a:cxnLst/>
              <a:rect l="l" t="t" r="r" b="b"/>
              <a:pathLst>
                <a:path w="4040971" h="324665">
                  <a:moveTo>
                    <a:pt x="38807" y="0"/>
                  </a:moveTo>
                  <a:lnTo>
                    <a:pt x="4002164" y="0"/>
                  </a:lnTo>
                  <a:cubicBezTo>
                    <a:pt x="4023597" y="0"/>
                    <a:pt x="4040971" y="17375"/>
                    <a:pt x="4040971" y="38807"/>
                  </a:cubicBezTo>
                  <a:lnTo>
                    <a:pt x="4040971" y="285857"/>
                  </a:lnTo>
                  <a:cubicBezTo>
                    <a:pt x="4040971" y="307290"/>
                    <a:pt x="4023597" y="324665"/>
                    <a:pt x="4002164" y="324665"/>
                  </a:cubicBezTo>
                  <a:lnTo>
                    <a:pt x="38807" y="324665"/>
                  </a:lnTo>
                  <a:cubicBezTo>
                    <a:pt x="28515" y="324665"/>
                    <a:pt x="18644" y="320576"/>
                    <a:pt x="11366" y="313298"/>
                  </a:cubicBezTo>
                  <a:cubicBezTo>
                    <a:pt x="4089" y="306020"/>
                    <a:pt x="0" y="296150"/>
                    <a:pt x="0" y="285857"/>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9BFB5"/>
              </a:solidFill>
              <a:prstDash val="solid"/>
              <a:round/>
            </a:ln>
          </p:spPr>
        </p:sp>
        <p:sp>
          <p:nvSpPr>
            <p:cNvPr id="10" name="TextBox 10"/>
            <p:cNvSpPr txBox="1"/>
            <p:nvPr/>
          </p:nvSpPr>
          <p:spPr>
            <a:xfrm>
              <a:off x="0" y="-38100"/>
              <a:ext cx="4040971" cy="362765"/>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a:off x="1028700" y="5089737"/>
            <a:ext cx="15959684" cy="1025152"/>
            <a:chOff x="0" y="0"/>
            <a:chExt cx="4040971" cy="259567"/>
          </a:xfrm>
        </p:grpSpPr>
        <p:sp>
          <p:nvSpPr>
            <p:cNvPr id="12" name="Freeform 12"/>
            <p:cNvSpPr/>
            <p:nvPr/>
          </p:nvSpPr>
          <p:spPr>
            <a:xfrm>
              <a:off x="0" y="0"/>
              <a:ext cx="4040971" cy="259567"/>
            </a:xfrm>
            <a:custGeom>
              <a:avLst/>
              <a:gdLst/>
              <a:ahLst/>
              <a:cxnLst/>
              <a:rect l="l" t="t" r="r" b="b"/>
              <a:pathLst>
                <a:path w="4040971" h="259567">
                  <a:moveTo>
                    <a:pt x="38807" y="0"/>
                  </a:moveTo>
                  <a:lnTo>
                    <a:pt x="4002164" y="0"/>
                  </a:lnTo>
                  <a:cubicBezTo>
                    <a:pt x="4023597" y="0"/>
                    <a:pt x="4040971" y="17375"/>
                    <a:pt x="4040971" y="38807"/>
                  </a:cubicBezTo>
                  <a:lnTo>
                    <a:pt x="4040971" y="220760"/>
                  </a:lnTo>
                  <a:cubicBezTo>
                    <a:pt x="4040971" y="242192"/>
                    <a:pt x="4023597" y="259567"/>
                    <a:pt x="4002164" y="259567"/>
                  </a:cubicBezTo>
                  <a:lnTo>
                    <a:pt x="38807" y="259567"/>
                  </a:lnTo>
                  <a:cubicBezTo>
                    <a:pt x="28515" y="259567"/>
                    <a:pt x="18644" y="255478"/>
                    <a:pt x="11366" y="248201"/>
                  </a:cubicBezTo>
                  <a:cubicBezTo>
                    <a:pt x="4089" y="240923"/>
                    <a:pt x="0" y="231052"/>
                    <a:pt x="0" y="220760"/>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CEBFF"/>
              </a:solidFill>
              <a:prstDash val="solid"/>
              <a:round/>
            </a:ln>
          </p:spPr>
        </p:sp>
        <p:sp>
          <p:nvSpPr>
            <p:cNvPr id="13" name="TextBox 13"/>
            <p:cNvSpPr txBox="1"/>
            <p:nvPr/>
          </p:nvSpPr>
          <p:spPr>
            <a:xfrm>
              <a:off x="0" y="-38100"/>
              <a:ext cx="4040971" cy="297667"/>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057275" y="6262183"/>
            <a:ext cx="15959684" cy="1025152"/>
            <a:chOff x="0" y="0"/>
            <a:chExt cx="4040971" cy="259567"/>
          </a:xfrm>
        </p:grpSpPr>
        <p:sp>
          <p:nvSpPr>
            <p:cNvPr id="15" name="Freeform 15"/>
            <p:cNvSpPr/>
            <p:nvPr/>
          </p:nvSpPr>
          <p:spPr>
            <a:xfrm>
              <a:off x="0" y="0"/>
              <a:ext cx="4040971" cy="259567"/>
            </a:xfrm>
            <a:custGeom>
              <a:avLst/>
              <a:gdLst/>
              <a:ahLst/>
              <a:cxnLst/>
              <a:rect l="l" t="t" r="r" b="b"/>
              <a:pathLst>
                <a:path w="4040971" h="259567">
                  <a:moveTo>
                    <a:pt x="38807" y="0"/>
                  </a:moveTo>
                  <a:lnTo>
                    <a:pt x="4002164" y="0"/>
                  </a:lnTo>
                  <a:cubicBezTo>
                    <a:pt x="4023597" y="0"/>
                    <a:pt x="4040971" y="17375"/>
                    <a:pt x="4040971" y="38807"/>
                  </a:cubicBezTo>
                  <a:lnTo>
                    <a:pt x="4040971" y="220760"/>
                  </a:lnTo>
                  <a:cubicBezTo>
                    <a:pt x="4040971" y="242192"/>
                    <a:pt x="4023597" y="259567"/>
                    <a:pt x="4002164" y="259567"/>
                  </a:cubicBezTo>
                  <a:lnTo>
                    <a:pt x="38807" y="259567"/>
                  </a:lnTo>
                  <a:cubicBezTo>
                    <a:pt x="28515" y="259567"/>
                    <a:pt x="18644" y="255478"/>
                    <a:pt x="11366" y="248201"/>
                  </a:cubicBezTo>
                  <a:cubicBezTo>
                    <a:pt x="4089" y="240923"/>
                    <a:pt x="0" y="231052"/>
                    <a:pt x="0" y="220760"/>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CEBFF"/>
              </a:solidFill>
              <a:prstDash val="solid"/>
              <a:round/>
            </a:ln>
          </p:spPr>
        </p:sp>
        <p:sp>
          <p:nvSpPr>
            <p:cNvPr id="16" name="TextBox 16"/>
            <p:cNvSpPr txBox="1"/>
            <p:nvPr/>
          </p:nvSpPr>
          <p:spPr>
            <a:xfrm>
              <a:off x="0" y="-38100"/>
              <a:ext cx="4040971" cy="297667"/>
            </a:xfrm>
            <a:prstGeom prst="rect">
              <a:avLst/>
            </a:prstGeom>
          </p:spPr>
          <p:txBody>
            <a:bodyPr lIns="50800" tIns="50800" rIns="50800" bIns="50800" rtlCol="0" anchor="ctr"/>
            <a:lstStyle/>
            <a:p>
              <a:pPr algn="ctr">
                <a:lnSpc>
                  <a:spcPts val="2659"/>
                </a:lnSpc>
              </a:pPr>
              <a:endParaRPr/>
            </a:p>
          </p:txBody>
        </p:sp>
      </p:grpSp>
      <p:sp>
        <p:nvSpPr>
          <p:cNvPr id="17" name="TextBox 17"/>
          <p:cNvSpPr txBox="1"/>
          <p:nvPr/>
        </p:nvSpPr>
        <p:spPr>
          <a:xfrm>
            <a:off x="1757867" y="3377435"/>
            <a:ext cx="14435000" cy="1030921"/>
          </a:xfrm>
          <a:prstGeom prst="rect">
            <a:avLst/>
          </a:prstGeom>
        </p:spPr>
        <p:txBody>
          <a:bodyPr lIns="0" tIns="0" rIns="0" bIns="0" rtlCol="0" anchor="t">
            <a:spAutoFit/>
          </a:bodyPr>
          <a:lstStyle/>
          <a:p>
            <a:pPr algn="l">
              <a:lnSpc>
                <a:spcPts val="4077"/>
              </a:lnSpc>
            </a:pPr>
            <a:r>
              <a:rPr lang="en-US" sz="2912">
                <a:solidFill>
                  <a:srgbClr val="FFFFFF"/>
                </a:solidFill>
                <a:latin typeface="Poppins"/>
                <a:ea typeface="Poppins"/>
                <a:cs typeface="Poppins"/>
                <a:sym typeface="Poppins"/>
              </a:rPr>
              <a:t>Le taux de réussite dans l'enseignement supérieur tunisien est un indicateur stratégique pour le Ministère de l'Enseignement Supérieur.</a:t>
            </a:r>
          </a:p>
        </p:txBody>
      </p:sp>
      <p:sp>
        <p:nvSpPr>
          <p:cNvPr id="18" name="TextBox 18"/>
          <p:cNvSpPr txBox="1"/>
          <p:nvPr/>
        </p:nvSpPr>
        <p:spPr>
          <a:xfrm>
            <a:off x="1757867" y="6221212"/>
            <a:ext cx="14772267" cy="1030921"/>
          </a:xfrm>
          <a:prstGeom prst="rect">
            <a:avLst/>
          </a:prstGeom>
        </p:spPr>
        <p:txBody>
          <a:bodyPr lIns="0" tIns="0" rIns="0" bIns="0" rtlCol="0" anchor="t">
            <a:spAutoFit/>
          </a:bodyPr>
          <a:lstStyle/>
          <a:p>
            <a:pPr algn="l">
              <a:lnSpc>
                <a:spcPts val="4077"/>
              </a:lnSpc>
            </a:pPr>
            <a:r>
              <a:rPr lang="en-US" sz="2912">
                <a:solidFill>
                  <a:srgbClr val="FFFFFF"/>
                </a:solidFill>
                <a:latin typeface="Poppins"/>
                <a:ea typeface="Poppins"/>
                <a:cs typeface="Poppins"/>
                <a:sym typeface="Poppins"/>
              </a:rPr>
              <a:t>Conséquences possibles : mauvaise allocation des ressources, inégalités entre établissements</a:t>
            </a:r>
          </a:p>
        </p:txBody>
      </p:sp>
      <p:sp>
        <p:nvSpPr>
          <p:cNvPr id="19" name="TextBox 19"/>
          <p:cNvSpPr txBox="1"/>
          <p:nvPr/>
        </p:nvSpPr>
        <p:spPr>
          <a:xfrm>
            <a:off x="1757867" y="5157946"/>
            <a:ext cx="14002724" cy="516571"/>
          </a:xfrm>
          <a:prstGeom prst="rect">
            <a:avLst/>
          </a:prstGeom>
        </p:spPr>
        <p:txBody>
          <a:bodyPr lIns="0" tIns="0" rIns="0" bIns="0" rtlCol="0" anchor="t">
            <a:spAutoFit/>
          </a:bodyPr>
          <a:lstStyle/>
          <a:p>
            <a:pPr algn="l">
              <a:lnSpc>
                <a:spcPts val="4077"/>
              </a:lnSpc>
            </a:pPr>
            <a:r>
              <a:rPr lang="en-US" sz="2912">
                <a:solidFill>
                  <a:srgbClr val="FFFFFF"/>
                </a:solidFill>
                <a:latin typeface="Poppins"/>
                <a:ea typeface="Poppins"/>
                <a:cs typeface="Poppins"/>
                <a:sym typeface="Poppins"/>
              </a:rPr>
              <a:t>14 universités publiques → répartition inégale des performances</a:t>
            </a:r>
          </a:p>
        </p:txBody>
      </p:sp>
      <p:grpSp>
        <p:nvGrpSpPr>
          <p:cNvPr id="20" name="Group 20"/>
          <p:cNvGrpSpPr/>
          <p:nvPr/>
        </p:nvGrpSpPr>
        <p:grpSpPr>
          <a:xfrm>
            <a:off x="1057275" y="7582637"/>
            <a:ext cx="15959684" cy="1025152"/>
            <a:chOff x="0" y="0"/>
            <a:chExt cx="4040971" cy="259567"/>
          </a:xfrm>
        </p:grpSpPr>
        <p:sp>
          <p:nvSpPr>
            <p:cNvPr id="21" name="Freeform 21"/>
            <p:cNvSpPr/>
            <p:nvPr/>
          </p:nvSpPr>
          <p:spPr>
            <a:xfrm>
              <a:off x="0" y="0"/>
              <a:ext cx="4040971" cy="259567"/>
            </a:xfrm>
            <a:custGeom>
              <a:avLst/>
              <a:gdLst/>
              <a:ahLst/>
              <a:cxnLst/>
              <a:rect l="l" t="t" r="r" b="b"/>
              <a:pathLst>
                <a:path w="4040971" h="259567">
                  <a:moveTo>
                    <a:pt x="38807" y="0"/>
                  </a:moveTo>
                  <a:lnTo>
                    <a:pt x="4002164" y="0"/>
                  </a:lnTo>
                  <a:cubicBezTo>
                    <a:pt x="4023597" y="0"/>
                    <a:pt x="4040971" y="17375"/>
                    <a:pt x="4040971" y="38807"/>
                  </a:cubicBezTo>
                  <a:lnTo>
                    <a:pt x="4040971" y="220760"/>
                  </a:lnTo>
                  <a:cubicBezTo>
                    <a:pt x="4040971" y="242192"/>
                    <a:pt x="4023597" y="259567"/>
                    <a:pt x="4002164" y="259567"/>
                  </a:cubicBezTo>
                  <a:lnTo>
                    <a:pt x="38807" y="259567"/>
                  </a:lnTo>
                  <a:cubicBezTo>
                    <a:pt x="28515" y="259567"/>
                    <a:pt x="18644" y="255478"/>
                    <a:pt x="11366" y="248201"/>
                  </a:cubicBezTo>
                  <a:cubicBezTo>
                    <a:pt x="4089" y="240923"/>
                    <a:pt x="0" y="231052"/>
                    <a:pt x="0" y="220760"/>
                  </a:cubicBezTo>
                  <a:lnTo>
                    <a:pt x="0" y="38807"/>
                  </a:lnTo>
                  <a:cubicBezTo>
                    <a:pt x="0" y="28515"/>
                    <a:pt x="4089" y="18644"/>
                    <a:pt x="11366" y="11366"/>
                  </a:cubicBezTo>
                  <a:cubicBezTo>
                    <a:pt x="18644" y="4089"/>
                    <a:pt x="28515" y="0"/>
                    <a:pt x="38807" y="0"/>
                  </a:cubicBezTo>
                  <a:close/>
                </a:path>
              </a:pathLst>
            </a:custGeom>
            <a:solidFill>
              <a:srgbClr val="C9BFB5"/>
            </a:solidFill>
            <a:ln w="19050" cap="rnd">
              <a:solidFill>
                <a:srgbClr val="CCEBFF"/>
              </a:solidFill>
              <a:prstDash val="solid"/>
              <a:round/>
            </a:ln>
          </p:spPr>
        </p:sp>
        <p:sp>
          <p:nvSpPr>
            <p:cNvPr id="22" name="TextBox 22"/>
            <p:cNvSpPr txBox="1"/>
            <p:nvPr/>
          </p:nvSpPr>
          <p:spPr>
            <a:xfrm>
              <a:off x="0" y="-38100"/>
              <a:ext cx="4040971" cy="297667"/>
            </a:xfrm>
            <a:prstGeom prst="rect">
              <a:avLst/>
            </a:prstGeom>
          </p:spPr>
          <p:txBody>
            <a:bodyPr lIns="50800" tIns="50800" rIns="50800" bIns="50800" rtlCol="0" anchor="ctr"/>
            <a:lstStyle/>
            <a:p>
              <a:pPr algn="ctr">
                <a:lnSpc>
                  <a:spcPts val="2659"/>
                </a:lnSpc>
              </a:pPr>
              <a:endParaRPr/>
            </a:p>
          </p:txBody>
        </p:sp>
      </p:grpSp>
      <p:sp>
        <p:nvSpPr>
          <p:cNvPr id="23" name="TextBox 23"/>
          <p:cNvSpPr txBox="1"/>
          <p:nvPr/>
        </p:nvSpPr>
        <p:spPr>
          <a:xfrm>
            <a:off x="1757867" y="7706435"/>
            <a:ext cx="14037823" cy="516571"/>
          </a:xfrm>
          <a:prstGeom prst="rect">
            <a:avLst/>
          </a:prstGeom>
        </p:spPr>
        <p:txBody>
          <a:bodyPr lIns="0" tIns="0" rIns="0" bIns="0" rtlCol="0" anchor="t">
            <a:spAutoFit/>
          </a:bodyPr>
          <a:lstStyle/>
          <a:p>
            <a:pPr algn="l">
              <a:lnSpc>
                <a:spcPts val="4077"/>
              </a:lnSpc>
            </a:pPr>
            <a:r>
              <a:rPr lang="en-US" sz="2912">
                <a:solidFill>
                  <a:srgbClr val="FFFFFF"/>
                </a:solidFill>
                <a:latin typeface="Poppins"/>
                <a:ea typeface="Poppins"/>
                <a:cs typeface="Poppins"/>
                <a:sym typeface="Poppins"/>
              </a:rPr>
              <a:t>Objectif du projet : aider le ministère avec un outil d'aide à la décision</a:t>
            </a:r>
          </a:p>
        </p:txBody>
      </p:sp>
      <p:sp>
        <p:nvSpPr>
          <p:cNvPr id="24" name="TextBox 24"/>
          <p:cNvSpPr txBox="1"/>
          <p:nvPr/>
        </p:nvSpPr>
        <p:spPr>
          <a:xfrm>
            <a:off x="9417195" y="1309270"/>
            <a:ext cx="4222164" cy="1521559"/>
          </a:xfrm>
          <a:prstGeom prst="rect">
            <a:avLst/>
          </a:prstGeom>
        </p:spPr>
        <p:txBody>
          <a:bodyPr lIns="0" tIns="0" rIns="0" bIns="0" rtlCol="0" anchor="t">
            <a:spAutoFit/>
          </a:bodyPr>
          <a:lstStyle/>
          <a:p>
            <a:pPr algn="ctr">
              <a:lnSpc>
                <a:spcPts val="12464"/>
              </a:lnSpc>
            </a:pPr>
            <a:r>
              <a:rPr lang="en-US" sz="8903">
                <a:solidFill>
                  <a:srgbClr val="9AB7FF"/>
                </a:solidFill>
                <a:latin typeface="Brittany"/>
                <a:ea typeface="Brittany"/>
                <a:cs typeface="Brittany"/>
                <a:sym typeface="Brittany"/>
              </a:rPr>
              <a:t>Introduction</a:t>
            </a:r>
          </a:p>
        </p:txBody>
      </p:sp>
      <p:sp>
        <p:nvSpPr>
          <p:cNvPr id="25" name="TextBox 25"/>
          <p:cNvSpPr txBox="1"/>
          <p:nvPr/>
        </p:nvSpPr>
        <p:spPr>
          <a:xfrm>
            <a:off x="1512753" y="1075640"/>
            <a:ext cx="15262494" cy="1280160"/>
          </a:xfrm>
          <a:prstGeom prst="rect">
            <a:avLst/>
          </a:prstGeom>
        </p:spPr>
        <p:txBody>
          <a:bodyPr lIns="0" tIns="0" rIns="0" bIns="0" rtlCol="0" anchor="t">
            <a:spAutoFit/>
          </a:bodyPr>
          <a:lstStyle/>
          <a:p>
            <a:pPr algn="ctr">
              <a:lnSpc>
                <a:spcPts val="8640"/>
              </a:lnSpc>
            </a:pPr>
            <a:r>
              <a:rPr lang="en-US" sz="9600" b="1">
                <a:solidFill>
                  <a:srgbClr val="2D2261"/>
                </a:solidFill>
                <a:latin typeface="Poppins Bold"/>
                <a:ea typeface="Poppins Bold"/>
                <a:cs typeface="Poppins Bold"/>
                <a:sym typeface="Poppins Bold"/>
              </a:rPr>
              <a:t>INTRODUCTION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grpSp>
        <p:nvGrpSpPr>
          <p:cNvPr id="2" name="Group 2"/>
          <p:cNvGrpSpPr/>
          <p:nvPr/>
        </p:nvGrpSpPr>
        <p:grpSpPr>
          <a:xfrm>
            <a:off x="1028700" y="2721455"/>
            <a:ext cx="5325654" cy="4844089"/>
            <a:chOff x="0" y="0"/>
            <a:chExt cx="1402641" cy="1275810"/>
          </a:xfrm>
        </p:grpSpPr>
        <p:sp>
          <p:nvSpPr>
            <p:cNvPr id="3" name="Freeform 3"/>
            <p:cNvSpPr/>
            <p:nvPr/>
          </p:nvSpPr>
          <p:spPr>
            <a:xfrm>
              <a:off x="0" y="0"/>
              <a:ext cx="1402641" cy="1275810"/>
            </a:xfrm>
            <a:custGeom>
              <a:avLst/>
              <a:gdLst/>
              <a:ahLst/>
              <a:cxnLst/>
              <a:rect l="l" t="t" r="r" b="b"/>
              <a:pathLst>
                <a:path w="1402641" h="1275810">
                  <a:moveTo>
                    <a:pt x="43611" y="0"/>
                  </a:moveTo>
                  <a:lnTo>
                    <a:pt x="1359030" y="0"/>
                  </a:lnTo>
                  <a:cubicBezTo>
                    <a:pt x="1370597" y="0"/>
                    <a:pt x="1381689" y="4595"/>
                    <a:pt x="1389868" y="12773"/>
                  </a:cubicBezTo>
                  <a:cubicBezTo>
                    <a:pt x="1398047" y="20952"/>
                    <a:pt x="1402641" y="32045"/>
                    <a:pt x="1402641" y="43611"/>
                  </a:cubicBezTo>
                  <a:lnTo>
                    <a:pt x="1402641" y="1232198"/>
                  </a:lnTo>
                  <a:cubicBezTo>
                    <a:pt x="1402641" y="1243765"/>
                    <a:pt x="1398047" y="1254858"/>
                    <a:pt x="1389868" y="1263036"/>
                  </a:cubicBezTo>
                  <a:cubicBezTo>
                    <a:pt x="1381689" y="1271215"/>
                    <a:pt x="1370597" y="1275810"/>
                    <a:pt x="1359030" y="1275810"/>
                  </a:cubicBezTo>
                  <a:lnTo>
                    <a:pt x="43611" y="1275810"/>
                  </a:lnTo>
                  <a:cubicBezTo>
                    <a:pt x="19525" y="1275810"/>
                    <a:pt x="0" y="1256284"/>
                    <a:pt x="0" y="1232198"/>
                  </a:cubicBezTo>
                  <a:lnTo>
                    <a:pt x="0" y="43611"/>
                  </a:lnTo>
                  <a:cubicBezTo>
                    <a:pt x="0" y="32045"/>
                    <a:pt x="4595" y="20952"/>
                    <a:pt x="12773" y="12773"/>
                  </a:cubicBezTo>
                  <a:cubicBezTo>
                    <a:pt x="20952" y="4595"/>
                    <a:pt x="32045" y="0"/>
                    <a:pt x="43611" y="0"/>
                  </a:cubicBezTo>
                  <a:close/>
                </a:path>
              </a:pathLst>
            </a:custGeom>
            <a:solidFill>
              <a:srgbClr val="ECE1D7"/>
            </a:solidFill>
          </p:spPr>
        </p:sp>
        <p:sp>
          <p:nvSpPr>
            <p:cNvPr id="4" name="TextBox 4"/>
            <p:cNvSpPr txBox="1"/>
            <p:nvPr/>
          </p:nvSpPr>
          <p:spPr>
            <a:xfrm>
              <a:off x="0" y="-47625"/>
              <a:ext cx="1402641" cy="1323435"/>
            </a:xfrm>
            <a:prstGeom prst="rect">
              <a:avLst/>
            </a:prstGeom>
          </p:spPr>
          <p:txBody>
            <a:bodyPr lIns="50800" tIns="50800" rIns="50800" bIns="50800" rtlCol="0" anchor="ctr"/>
            <a:lstStyle/>
            <a:p>
              <a:pPr algn="ctr">
                <a:lnSpc>
                  <a:spcPts val="3032"/>
                </a:lnSpc>
              </a:pPr>
              <a:endParaRPr/>
            </a:p>
          </p:txBody>
        </p:sp>
      </p:grpSp>
      <p:sp>
        <p:nvSpPr>
          <p:cNvPr id="5" name="Freeform 5"/>
          <p:cNvSpPr/>
          <p:nvPr/>
        </p:nvSpPr>
        <p:spPr>
          <a:xfrm rot="-2080684">
            <a:off x="10082077" y="8242051"/>
            <a:ext cx="10960234" cy="7472887"/>
          </a:xfrm>
          <a:custGeom>
            <a:avLst/>
            <a:gdLst/>
            <a:ahLst/>
            <a:cxnLst/>
            <a:rect l="l" t="t" r="r" b="b"/>
            <a:pathLst>
              <a:path w="10960234" h="7472887">
                <a:moveTo>
                  <a:pt x="0" y="0"/>
                </a:moveTo>
                <a:lnTo>
                  <a:pt x="10960235" y="0"/>
                </a:lnTo>
                <a:lnTo>
                  <a:pt x="10960235" y="7472887"/>
                </a:lnTo>
                <a:lnTo>
                  <a:pt x="0" y="7472887"/>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6" name="Freeform 6"/>
          <p:cNvSpPr/>
          <p:nvPr/>
        </p:nvSpPr>
        <p:spPr>
          <a:xfrm rot="9426524">
            <a:off x="-3984660" y="-4765086"/>
            <a:ext cx="9442126" cy="8000056"/>
          </a:xfrm>
          <a:custGeom>
            <a:avLst/>
            <a:gdLst/>
            <a:ahLst/>
            <a:cxnLst/>
            <a:rect l="l" t="t" r="r" b="b"/>
            <a:pathLst>
              <a:path w="9442126" h="8000056">
                <a:moveTo>
                  <a:pt x="0" y="0"/>
                </a:moveTo>
                <a:lnTo>
                  <a:pt x="9442126" y="0"/>
                </a:lnTo>
                <a:lnTo>
                  <a:pt x="9442126" y="8000056"/>
                </a:lnTo>
                <a:lnTo>
                  <a:pt x="0" y="8000056"/>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7" name="Freeform 7"/>
          <p:cNvSpPr/>
          <p:nvPr/>
        </p:nvSpPr>
        <p:spPr>
          <a:xfrm rot="-2624874">
            <a:off x="-884948" y="9077955"/>
            <a:ext cx="3242701" cy="1827704"/>
          </a:xfrm>
          <a:custGeom>
            <a:avLst/>
            <a:gdLst/>
            <a:ahLst/>
            <a:cxnLst/>
            <a:rect l="l" t="t" r="r" b="b"/>
            <a:pathLst>
              <a:path w="3242701" h="1827704">
                <a:moveTo>
                  <a:pt x="0" y="0"/>
                </a:moveTo>
                <a:lnTo>
                  <a:pt x="3242701" y="0"/>
                </a:lnTo>
                <a:lnTo>
                  <a:pt x="3242701" y="1827704"/>
                </a:lnTo>
                <a:lnTo>
                  <a:pt x="0" y="182770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8" name="Freeform 8"/>
          <p:cNvSpPr/>
          <p:nvPr/>
        </p:nvSpPr>
        <p:spPr>
          <a:xfrm rot="2830696">
            <a:off x="16075185" y="-1028700"/>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9" name="TextBox 9"/>
          <p:cNvSpPr txBox="1"/>
          <p:nvPr/>
        </p:nvSpPr>
        <p:spPr>
          <a:xfrm>
            <a:off x="2269843" y="824659"/>
            <a:ext cx="13338723" cy="1567815"/>
          </a:xfrm>
          <a:prstGeom prst="rect">
            <a:avLst/>
          </a:prstGeom>
        </p:spPr>
        <p:txBody>
          <a:bodyPr lIns="0" tIns="0" rIns="0" bIns="0" rtlCol="0" anchor="t">
            <a:spAutoFit/>
          </a:bodyPr>
          <a:lstStyle/>
          <a:p>
            <a:pPr algn="ctr">
              <a:lnSpc>
                <a:spcPts val="5759"/>
              </a:lnSpc>
            </a:pPr>
            <a:r>
              <a:rPr lang="en-US" sz="6399" b="1">
                <a:solidFill>
                  <a:srgbClr val="2D2261"/>
                </a:solidFill>
                <a:latin typeface="Poppins Bold"/>
                <a:ea typeface="Poppins Bold"/>
                <a:cs typeface="Poppins Bold"/>
                <a:sym typeface="Poppins Bold"/>
              </a:rPr>
              <a:t>Choix et Démarche Méthodologique</a:t>
            </a:r>
          </a:p>
        </p:txBody>
      </p:sp>
      <p:sp>
        <p:nvSpPr>
          <p:cNvPr id="10" name="TextBox 10"/>
          <p:cNvSpPr txBox="1"/>
          <p:nvPr/>
        </p:nvSpPr>
        <p:spPr>
          <a:xfrm>
            <a:off x="2260641" y="8685401"/>
            <a:ext cx="2284068" cy="399302"/>
          </a:xfrm>
          <a:prstGeom prst="rect">
            <a:avLst/>
          </a:prstGeom>
        </p:spPr>
        <p:txBody>
          <a:bodyPr lIns="0" tIns="0" rIns="0" bIns="0" rtlCol="0" anchor="t">
            <a:spAutoFit/>
          </a:bodyPr>
          <a:lstStyle/>
          <a:p>
            <a:pPr algn="ctr">
              <a:lnSpc>
                <a:spcPts val="2480"/>
              </a:lnSpc>
            </a:pPr>
            <a:r>
              <a:rPr lang="en-US" sz="2755">
                <a:solidFill>
                  <a:srgbClr val="FFFFFF"/>
                </a:solidFill>
                <a:latin typeface="Bungee"/>
                <a:ea typeface="Bungee"/>
                <a:cs typeface="Bungee"/>
                <a:sym typeface="Bungee"/>
              </a:rPr>
              <a:t>4</a:t>
            </a:r>
          </a:p>
        </p:txBody>
      </p:sp>
      <p:grpSp>
        <p:nvGrpSpPr>
          <p:cNvPr id="11" name="Group 11"/>
          <p:cNvGrpSpPr/>
          <p:nvPr/>
        </p:nvGrpSpPr>
        <p:grpSpPr>
          <a:xfrm>
            <a:off x="1183338" y="4124902"/>
            <a:ext cx="4953636" cy="632499"/>
            <a:chOff x="0" y="0"/>
            <a:chExt cx="1429732" cy="182554"/>
          </a:xfrm>
        </p:grpSpPr>
        <p:sp>
          <p:nvSpPr>
            <p:cNvPr id="12" name="Freeform 12"/>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13" name="TextBox 13"/>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grpSp>
        <p:nvGrpSpPr>
          <p:cNvPr id="14" name="Group 14"/>
          <p:cNvGrpSpPr/>
          <p:nvPr/>
        </p:nvGrpSpPr>
        <p:grpSpPr>
          <a:xfrm>
            <a:off x="1183338" y="3205058"/>
            <a:ext cx="4953636" cy="632499"/>
            <a:chOff x="0" y="0"/>
            <a:chExt cx="1429732" cy="182554"/>
          </a:xfrm>
        </p:grpSpPr>
        <p:sp>
          <p:nvSpPr>
            <p:cNvPr id="15" name="Freeform 15"/>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16" name="TextBox 16"/>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grpSp>
        <p:nvGrpSpPr>
          <p:cNvPr id="17" name="Group 17"/>
          <p:cNvGrpSpPr/>
          <p:nvPr/>
        </p:nvGrpSpPr>
        <p:grpSpPr>
          <a:xfrm>
            <a:off x="1183338" y="5007698"/>
            <a:ext cx="4953636" cy="632499"/>
            <a:chOff x="0" y="0"/>
            <a:chExt cx="1429732" cy="182554"/>
          </a:xfrm>
        </p:grpSpPr>
        <p:sp>
          <p:nvSpPr>
            <p:cNvPr id="18" name="Freeform 18"/>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19" name="TextBox 19"/>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sp>
        <p:nvSpPr>
          <p:cNvPr id="20" name="TextBox 20"/>
          <p:cNvSpPr txBox="1"/>
          <p:nvPr/>
        </p:nvSpPr>
        <p:spPr>
          <a:xfrm>
            <a:off x="1497484" y="4273304"/>
            <a:ext cx="4273749" cy="302895"/>
          </a:xfrm>
          <a:prstGeom prst="rect">
            <a:avLst/>
          </a:prstGeom>
        </p:spPr>
        <p:txBody>
          <a:bodyPr lIns="0" tIns="0" rIns="0" bIns="0" rtlCol="0" anchor="t">
            <a:spAutoFit/>
          </a:bodyPr>
          <a:lstStyle/>
          <a:p>
            <a:pPr algn="l">
              <a:lnSpc>
                <a:spcPts val="2310"/>
              </a:lnSpc>
            </a:pPr>
            <a:r>
              <a:rPr lang="en-US" sz="2100" b="1">
                <a:solidFill>
                  <a:srgbClr val="FFFFFF"/>
                </a:solidFill>
                <a:latin typeface="Quicksand Bold"/>
                <a:ea typeface="Quicksand Bold"/>
                <a:cs typeface="Quicksand Bold"/>
                <a:sym typeface="Quicksand Bold"/>
              </a:rPr>
              <a:t>Étape 2 : Collecter les données</a:t>
            </a:r>
          </a:p>
        </p:txBody>
      </p:sp>
      <p:sp>
        <p:nvSpPr>
          <p:cNvPr id="21" name="TextBox 21"/>
          <p:cNvSpPr txBox="1"/>
          <p:nvPr/>
        </p:nvSpPr>
        <p:spPr>
          <a:xfrm>
            <a:off x="1487959" y="5167117"/>
            <a:ext cx="4101407" cy="302895"/>
          </a:xfrm>
          <a:prstGeom prst="rect">
            <a:avLst/>
          </a:prstGeom>
        </p:spPr>
        <p:txBody>
          <a:bodyPr lIns="0" tIns="0" rIns="0" bIns="0" rtlCol="0" anchor="t">
            <a:spAutoFit/>
          </a:bodyPr>
          <a:lstStyle/>
          <a:p>
            <a:pPr algn="l">
              <a:lnSpc>
                <a:spcPts val="2310"/>
              </a:lnSpc>
            </a:pPr>
            <a:r>
              <a:rPr lang="en-US" sz="2100" b="1">
                <a:solidFill>
                  <a:srgbClr val="FFFFFF"/>
                </a:solidFill>
                <a:latin typeface="Quicksand Bold"/>
                <a:ea typeface="Quicksand Bold"/>
                <a:cs typeface="Quicksand Bold"/>
                <a:sym typeface="Quicksand Bold"/>
              </a:rPr>
              <a:t>Étape 3 : Explorer les données</a:t>
            </a:r>
          </a:p>
        </p:txBody>
      </p:sp>
      <p:sp>
        <p:nvSpPr>
          <p:cNvPr id="22" name="TextBox 22"/>
          <p:cNvSpPr txBox="1"/>
          <p:nvPr/>
        </p:nvSpPr>
        <p:spPr>
          <a:xfrm>
            <a:off x="1530742" y="3343954"/>
            <a:ext cx="4465273" cy="303610"/>
          </a:xfrm>
          <a:prstGeom prst="rect">
            <a:avLst/>
          </a:prstGeom>
        </p:spPr>
        <p:txBody>
          <a:bodyPr lIns="0" tIns="0" rIns="0" bIns="0" rtlCol="0" anchor="t">
            <a:spAutoFit/>
          </a:bodyPr>
          <a:lstStyle/>
          <a:p>
            <a:pPr algn="l">
              <a:lnSpc>
                <a:spcPts val="2330"/>
              </a:lnSpc>
            </a:pPr>
            <a:r>
              <a:rPr lang="en-US" sz="2118" b="1">
                <a:solidFill>
                  <a:srgbClr val="FFFFFF"/>
                </a:solidFill>
                <a:latin typeface="Quicksand Bold"/>
                <a:ea typeface="Quicksand Bold"/>
                <a:cs typeface="Quicksand Bold"/>
                <a:sym typeface="Quicksand Bold"/>
              </a:rPr>
              <a:t>Étape 1 : Définir le problème</a:t>
            </a:r>
          </a:p>
        </p:txBody>
      </p:sp>
      <p:grpSp>
        <p:nvGrpSpPr>
          <p:cNvPr id="23" name="Group 23"/>
          <p:cNvGrpSpPr/>
          <p:nvPr/>
        </p:nvGrpSpPr>
        <p:grpSpPr>
          <a:xfrm>
            <a:off x="1132731" y="5887364"/>
            <a:ext cx="4953636" cy="632499"/>
            <a:chOff x="0" y="0"/>
            <a:chExt cx="1429732" cy="182554"/>
          </a:xfrm>
        </p:grpSpPr>
        <p:sp>
          <p:nvSpPr>
            <p:cNvPr id="24" name="Freeform 24"/>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25" name="TextBox 25"/>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26"/>
          <p:cNvSpPr txBox="1"/>
          <p:nvPr/>
        </p:nvSpPr>
        <p:spPr>
          <a:xfrm>
            <a:off x="1511692" y="6030721"/>
            <a:ext cx="4155788" cy="302895"/>
          </a:xfrm>
          <a:prstGeom prst="rect">
            <a:avLst/>
          </a:prstGeom>
        </p:spPr>
        <p:txBody>
          <a:bodyPr lIns="0" tIns="0" rIns="0" bIns="0" rtlCol="0" anchor="t">
            <a:spAutoFit/>
          </a:bodyPr>
          <a:lstStyle/>
          <a:p>
            <a:pPr algn="l">
              <a:lnSpc>
                <a:spcPts val="2310"/>
              </a:lnSpc>
            </a:pPr>
            <a:r>
              <a:rPr lang="en-US" sz="2100" b="1">
                <a:solidFill>
                  <a:srgbClr val="FFFFFF"/>
                </a:solidFill>
                <a:latin typeface="Quicksand Bold"/>
                <a:ea typeface="Quicksand Bold"/>
                <a:cs typeface="Quicksand Bold"/>
                <a:sym typeface="Quicksand Bold"/>
              </a:rPr>
              <a:t>Étape 4 : Préparer les données</a:t>
            </a:r>
          </a:p>
        </p:txBody>
      </p:sp>
      <p:grpSp>
        <p:nvGrpSpPr>
          <p:cNvPr id="27" name="Group 27"/>
          <p:cNvGrpSpPr/>
          <p:nvPr/>
        </p:nvGrpSpPr>
        <p:grpSpPr>
          <a:xfrm>
            <a:off x="7003567" y="2706240"/>
            <a:ext cx="5325654" cy="4844089"/>
            <a:chOff x="0" y="0"/>
            <a:chExt cx="1402641" cy="1275810"/>
          </a:xfrm>
        </p:grpSpPr>
        <p:sp>
          <p:nvSpPr>
            <p:cNvPr id="28" name="Freeform 28"/>
            <p:cNvSpPr/>
            <p:nvPr/>
          </p:nvSpPr>
          <p:spPr>
            <a:xfrm>
              <a:off x="0" y="0"/>
              <a:ext cx="1402641" cy="1275810"/>
            </a:xfrm>
            <a:custGeom>
              <a:avLst/>
              <a:gdLst/>
              <a:ahLst/>
              <a:cxnLst/>
              <a:rect l="l" t="t" r="r" b="b"/>
              <a:pathLst>
                <a:path w="1402641" h="1275810">
                  <a:moveTo>
                    <a:pt x="43611" y="0"/>
                  </a:moveTo>
                  <a:lnTo>
                    <a:pt x="1359030" y="0"/>
                  </a:lnTo>
                  <a:cubicBezTo>
                    <a:pt x="1370597" y="0"/>
                    <a:pt x="1381689" y="4595"/>
                    <a:pt x="1389868" y="12773"/>
                  </a:cubicBezTo>
                  <a:cubicBezTo>
                    <a:pt x="1398047" y="20952"/>
                    <a:pt x="1402641" y="32045"/>
                    <a:pt x="1402641" y="43611"/>
                  </a:cubicBezTo>
                  <a:lnTo>
                    <a:pt x="1402641" y="1232198"/>
                  </a:lnTo>
                  <a:cubicBezTo>
                    <a:pt x="1402641" y="1243765"/>
                    <a:pt x="1398047" y="1254858"/>
                    <a:pt x="1389868" y="1263036"/>
                  </a:cubicBezTo>
                  <a:cubicBezTo>
                    <a:pt x="1381689" y="1271215"/>
                    <a:pt x="1370597" y="1275810"/>
                    <a:pt x="1359030" y="1275810"/>
                  </a:cubicBezTo>
                  <a:lnTo>
                    <a:pt x="43611" y="1275810"/>
                  </a:lnTo>
                  <a:cubicBezTo>
                    <a:pt x="19525" y="1275810"/>
                    <a:pt x="0" y="1256284"/>
                    <a:pt x="0" y="1232198"/>
                  </a:cubicBezTo>
                  <a:lnTo>
                    <a:pt x="0" y="43611"/>
                  </a:lnTo>
                  <a:cubicBezTo>
                    <a:pt x="0" y="32045"/>
                    <a:pt x="4595" y="20952"/>
                    <a:pt x="12773" y="12773"/>
                  </a:cubicBezTo>
                  <a:cubicBezTo>
                    <a:pt x="20952" y="4595"/>
                    <a:pt x="32045" y="0"/>
                    <a:pt x="43611" y="0"/>
                  </a:cubicBezTo>
                  <a:close/>
                </a:path>
              </a:pathLst>
            </a:custGeom>
            <a:solidFill>
              <a:srgbClr val="ECE1D7"/>
            </a:solidFill>
          </p:spPr>
        </p:sp>
        <p:sp>
          <p:nvSpPr>
            <p:cNvPr id="29" name="TextBox 29"/>
            <p:cNvSpPr txBox="1"/>
            <p:nvPr/>
          </p:nvSpPr>
          <p:spPr>
            <a:xfrm>
              <a:off x="0" y="-47625"/>
              <a:ext cx="1402641" cy="1323435"/>
            </a:xfrm>
            <a:prstGeom prst="rect">
              <a:avLst/>
            </a:prstGeom>
          </p:spPr>
          <p:txBody>
            <a:bodyPr lIns="50800" tIns="50800" rIns="50800" bIns="50800" rtlCol="0" anchor="ctr"/>
            <a:lstStyle/>
            <a:p>
              <a:pPr algn="ctr">
                <a:lnSpc>
                  <a:spcPts val="3032"/>
                </a:lnSpc>
              </a:pPr>
              <a:endParaRPr/>
            </a:p>
          </p:txBody>
        </p:sp>
      </p:grpSp>
      <p:grpSp>
        <p:nvGrpSpPr>
          <p:cNvPr id="30" name="Group 30"/>
          <p:cNvGrpSpPr/>
          <p:nvPr/>
        </p:nvGrpSpPr>
        <p:grpSpPr>
          <a:xfrm>
            <a:off x="7241096" y="4095595"/>
            <a:ext cx="4953636" cy="632499"/>
            <a:chOff x="0" y="0"/>
            <a:chExt cx="1429732" cy="182554"/>
          </a:xfrm>
        </p:grpSpPr>
        <p:sp>
          <p:nvSpPr>
            <p:cNvPr id="31" name="Freeform 31"/>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32" name="TextBox 32"/>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grpSp>
        <p:nvGrpSpPr>
          <p:cNvPr id="33" name="Group 33"/>
          <p:cNvGrpSpPr/>
          <p:nvPr/>
        </p:nvGrpSpPr>
        <p:grpSpPr>
          <a:xfrm>
            <a:off x="7241096" y="3175750"/>
            <a:ext cx="4953636" cy="632499"/>
            <a:chOff x="0" y="0"/>
            <a:chExt cx="1429732" cy="182554"/>
          </a:xfrm>
        </p:grpSpPr>
        <p:sp>
          <p:nvSpPr>
            <p:cNvPr id="34" name="Freeform 34"/>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35" name="TextBox 35"/>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grpSp>
        <p:nvGrpSpPr>
          <p:cNvPr id="36" name="Group 36"/>
          <p:cNvGrpSpPr/>
          <p:nvPr/>
        </p:nvGrpSpPr>
        <p:grpSpPr>
          <a:xfrm>
            <a:off x="7241096" y="4978390"/>
            <a:ext cx="4953636" cy="632499"/>
            <a:chOff x="0" y="0"/>
            <a:chExt cx="1429732" cy="182554"/>
          </a:xfrm>
        </p:grpSpPr>
        <p:sp>
          <p:nvSpPr>
            <p:cNvPr id="37" name="Freeform 37"/>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38" name="TextBox 38"/>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sp>
        <p:nvSpPr>
          <p:cNvPr id="39" name="TextBox 39"/>
          <p:cNvSpPr txBox="1"/>
          <p:nvPr/>
        </p:nvSpPr>
        <p:spPr>
          <a:xfrm>
            <a:off x="7555243" y="4243997"/>
            <a:ext cx="4273749" cy="302895"/>
          </a:xfrm>
          <a:prstGeom prst="rect">
            <a:avLst/>
          </a:prstGeom>
        </p:spPr>
        <p:txBody>
          <a:bodyPr lIns="0" tIns="0" rIns="0" bIns="0" rtlCol="0" anchor="t">
            <a:spAutoFit/>
          </a:bodyPr>
          <a:lstStyle/>
          <a:p>
            <a:pPr algn="l">
              <a:lnSpc>
                <a:spcPts val="2310"/>
              </a:lnSpc>
            </a:pPr>
            <a:r>
              <a:rPr lang="en-US" sz="2100" b="1">
                <a:solidFill>
                  <a:srgbClr val="FFFFFF"/>
                </a:solidFill>
                <a:latin typeface="Quicksand Bold"/>
                <a:ea typeface="Quicksand Bold"/>
                <a:cs typeface="Quicksand Bold"/>
                <a:sym typeface="Quicksand Bold"/>
              </a:rPr>
              <a:t>Étape 6 : Entraîner </a:t>
            </a:r>
          </a:p>
        </p:txBody>
      </p:sp>
      <p:sp>
        <p:nvSpPr>
          <p:cNvPr id="40" name="TextBox 40"/>
          <p:cNvSpPr txBox="1"/>
          <p:nvPr/>
        </p:nvSpPr>
        <p:spPr>
          <a:xfrm>
            <a:off x="7555243" y="5137809"/>
            <a:ext cx="4101407" cy="302895"/>
          </a:xfrm>
          <a:prstGeom prst="rect">
            <a:avLst/>
          </a:prstGeom>
        </p:spPr>
        <p:txBody>
          <a:bodyPr lIns="0" tIns="0" rIns="0" bIns="0" rtlCol="0" anchor="t">
            <a:spAutoFit/>
          </a:bodyPr>
          <a:lstStyle/>
          <a:p>
            <a:pPr algn="l">
              <a:lnSpc>
                <a:spcPts val="2310"/>
              </a:lnSpc>
            </a:pPr>
            <a:r>
              <a:rPr lang="en-US" sz="2100" b="1">
                <a:solidFill>
                  <a:srgbClr val="FFFFFF"/>
                </a:solidFill>
                <a:latin typeface="Quicksand Bold"/>
                <a:ea typeface="Quicksand Bold"/>
                <a:cs typeface="Quicksand Bold"/>
                <a:sym typeface="Quicksand Bold"/>
              </a:rPr>
              <a:t>Étape 7 : Évaluer</a:t>
            </a:r>
          </a:p>
        </p:txBody>
      </p:sp>
      <p:sp>
        <p:nvSpPr>
          <p:cNvPr id="41" name="TextBox 41"/>
          <p:cNvSpPr txBox="1"/>
          <p:nvPr/>
        </p:nvSpPr>
        <p:spPr>
          <a:xfrm>
            <a:off x="7588500" y="3314647"/>
            <a:ext cx="4465273" cy="303610"/>
          </a:xfrm>
          <a:prstGeom prst="rect">
            <a:avLst/>
          </a:prstGeom>
        </p:spPr>
        <p:txBody>
          <a:bodyPr lIns="0" tIns="0" rIns="0" bIns="0" rtlCol="0" anchor="t">
            <a:spAutoFit/>
          </a:bodyPr>
          <a:lstStyle/>
          <a:p>
            <a:pPr algn="l">
              <a:lnSpc>
                <a:spcPts val="2330"/>
              </a:lnSpc>
            </a:pPr>
            <a:r>
              <a:rPr lang="en-US" sz="2118" b="1">
                <a:solidFill>
                  <a:srgbClr val="FFFFFF"/>
                </a:solidFill>
                <a:latin typeface="Quicksand Bold"/>
                <a:ea typeface="Quicksand Bold"/>
                <a:cs typeface="Quicksand Bold"/>
                <a:sym typeface="Quicksand Bold"/>
              </a:rPr>
              <a:t>Étape 5 : Choisir un modèle</a:t>
            </a:r>
          </a:p>
        </p:txBody>
      </p:sp>
      <p:grpSp>
        <p:nvGrpSpPr>
          <p:cNvPr id="42" name="Group 42"/>
          <p:cNvGrpSpPr/>
          <p:nvPr/>
        </p:nvGrpSpPr>
        <p:grpSpPr>
          <a:xfrm>
            <a:off x="7190489" y="5858056"/>
            <a:ext cx="4953636" cy="632499"/>
            <a:chOff x="0" y="0"/>
            <a:chExt cx="1429732" cy="182554"/>
          </a:xfrm>
        </p:grpSpPr>
        <p:sp>
          <p:nvSpPr>
            <p:cNvPr id="43" name="Freeform 43"/>
            <p:cNvSpPr/>
            <p:nvPr/>
          </p:nvSpPr>
          <p:spPr>
            <a:xfrm>
              <a:off x="0" y="0"/>
              <a:ext cx="1429732" cy="182554"/>
            </a:xfrm>
            <a:custGeom>
              <a:avLst/>
              <a:gdLst/>
              <a:ahLst/>
              <a:cxnLst/>
              <a:rect l="l" t="t" r="r" b="b"/>
              <a:pathLst>
                <a:path w="1429732" h="182554">
                  <a:moveTo>
                    <a:pt x="91277" y="0"/>
                  </a:moveTo>
                  <a:lnTo>
                    <a:pt x="1338456" y="0"/>
                  </a:lnTo>
                  <a:cubicBezTo>
                    <a:pt x="1388866" y="0"/>
                    <a:pt x="1429732" y="40866"/>
                    <a:pt x="1429732" y="91277"/>
                  </a:cubicBezTo>
                  <a:lnTo>
                    <a:pt x="1429732" y="91277"/>
                  </a:lnTo>
                  <a:cubicBezTo>
                    <a:pt x="1429732" y="115485"/>
                    <a:pt x="1420116" y="138701"/>
                    <a:pt x="1402998" y="155819"/>
                  </a:cubicBezTo>
                  <a:cubicBezTo>
                    <a:pt x="1385880" y="172937"/>
                    <a:pt x="1362664" y="182554"/>
                    <a:pt x="1338456" y="182554"/>
                  </a:cubicBezTo>
                  <a:lnTo>
                    <a:pt x="91277" y="182554"/>
                  </a:lnTo>
                  <a:cubicBezTo>
                    <a:pt x="67069" y="182554"/>
                    <a:pt x="43852" y="172937"/>
                    <a:pt x="26734" y="155819"/>
                  </a:cubicBezTo>
                  <a:cubicBezTo>
                    <a:pt x="9617" y="138701"/>
                    <a:pt x="0" y="115485"/>
                    <a:pt x="0" y="91277"/>
                  </a:cubicBezTo>
                  <a:lnTo>
                    <a:pt x="0" y="91277"/>
                  </a:lnTo>
                  <a:cubicBezTo>
                    <a:pt x="0" y="67069"/>
                    <a:pt x="9617" y="43852"/>
                    <a:pt x="26734" y="26734"/>
                  </a:cubicBezTo>
                  <a:cubicBezTo>
                    <a:pt x="43852" y="9617"/>
                    <a:pt x="67069" y="0"/>
                    <a:pt x="91277" y="0"/>
                  </a:cubicBezTo>
                  <a:close/>
                </a:path>
              </a:pathLst>
            </a:custGeom>
            <a:solidFill>
              <a:srgbClr val="1D3163"/>
            </a:solidFill>
            <a:ln w="19050" cap="rnd">
              <a:solidFill>
                <a:srgbClr val="FFFFFF"/>
              </a:solidFill>
              <a:prstDash val="solid"/>
              <a:round/>
            </a:ln>
          </p:spPr>
        </p:sp>
        <p:sp>
          <p:nvSpPr>
            <p:cNvPr id="44" name="TextBox 44"/>
            <p:cNvSpPr txBox="1"/>
            <p:nvPr/>
          </p:nvSpPr>
          <p:spPr>
            <a:xfrm>
              <a:off x="0" y="-38100"/>
              <a:ext cx="1429732" cy="220654"/>
            </a:xfrm>
            <a:prstGeom prst="rect">
              <a:avLst/>
            </a:prstGeom>
          </p:spPr>
          <p:txBody>
            <a:bodyPr lIns="50800" tIns="50800" rIns="50800" bIns="50800" rtlCol="0" anchor="ctr"/>
            <a:lstStyle/>
            <a:p>
              <a:pPr algn="ctr">
                <a:lnSpc>
                  <a:spcPts val="2659"/>
                </a:lnSpc>
                <a:spcBef>
                  <a:spcPct val="0"/>
                </a:spcBef>
              </a:pPr>
              <a:endParaRPr/>
            </a:p>
          </p:txBody>
        </p:sp>
      </p:grpSp>
      <p:sp>
        <p:nvSpPr>
          <p:cNvPr id="45" name="TextBox 45"/>
          <p:cNvSpPr txBox="1"/>
          <p:nvPr/>
        </p:nvSpPr>
        <p:spPr>
          <a:xfrm>
            <a:off x="7588500" y="5991889"/>
            <a:ext cx="4155788" cy="302895"/>
          </a:xfrm>
          <a:prstGeom prst="rect">
            <a:avLst/>
          </a:prstGeom>
        </p:spPr>
        <p:txBody>
          <a:bodyPr lIns="0" tIns="0" rIns="0" bIns="0" rtlCol="0" anchor="t">
            <a:spAutoFit/>
          </a:bodyPr>
          <a:lstStyle/>
          <a:p>
            <a:pPr algn="l">
              <a:lnSpc>
                <a:spcPts val="2310"/>
              </a:lnSpc>
            </a:pPr>
            <a:r>
              <a:rPr lang="en-US" sz="2100" b="1">
                <a:solidFill>
                  <a:srgbClr val="FFFFFF"/>
                </a:solidFill>
                <a:latin typeface="Quicksand Bold"/>
                <a:ea typeface="Quicksand Bold"/>
                <a:cs typeface="Quicksand Bold"/>
                <a:sym typeface="Quicksand Bold"/>
              </a:rPr>
              <a:t>Étape 8 : Déployer</a:t>
            </a:r>
          </a:p>
        </p:txBody>
      </p:sp>
      <p:grpSp>
        <p:nvGrpSpPr>
          <p:cNvPr id="46" name="Group 46"/>
          <p:cNvGrpSpPr/>
          <p:nvPr/>
        </p:nvGrpSpPr>
        <p:grpSpPr>
          <a:xfrm>
            <a:off x="12591515" y="3792491"/>
            <a:ext cx="5313964" cy="3990601"/>
            <a:chOff x="0" y="0"/>
            <a:chExt cx="1399563" cy="1051023"/>
          </a:xfrm>
        </p:grpSpPr>
        <p:sp>
          <p:nvSpPr>
            <p:cNvPr id="47" name="Freeform 47"/>
            <p:cNvSpPr/>
            <p:nvPr/>
          </p:nvSpPr>
          <p:spPr>
            <a:xfrm>
              <a:off x="0" y="0"/>
              <a:ext cx="1399563" cy="1051023"/>
            </a:xfrm>
            <a:custGeom>
              <a:avLst/>
              <a:gdLst/>
              <a:ahLst/>
              <a:cxnLst/>
              <a:rect l="l" t="t" r="r" b="b"/>
              <a:pathLst>
                <a:path w="1399563" h="1051023">
                  <a:moveTo>
                    <a:pt x="43707" y="0"/>
                  </a:moveTo>
                  <a:lnTo>
                    <a:pt x="1355856" y="0"/>
                  </a:lnTo>
                  <a:cubicBezTo>
                    <a:pt x="1367447" y="0"/>
                    <a:pt x="1378564" y="4605"/>
                    <a:pt x="1386761" y="12801"/>
                  </a:cubicBezTo>
                  <a:cubicBezTo>
                    <a:pt x="1394958" y="20998"/>
                    <a:pt x="1399563" y="32115"/>
                    <a:pt x="1399563" y="43707"/>
                  </a:cubicBezTo>
                  <a:lnTo>
                    <a:pt x="1399563" y="1007316"/>
                  </a:lnTo>
                  <a:cubicBezTo>
                    <a:pt x="1399563" y="1031454"/>
                    <a:pt x="1379994" y="1051023"/>
                    <a:pt x="1355856" y="1051023"/>
                  </a:cubicBezTo>
                  <a:lnTo>
                    <a:pt x="43707" y="1051023"/>
                  </a:lnTo>
                  <a:cubicBezTo>
                    <a:pt x="32115" y="1051023"/>
                    <a:pt x="20998" y="1046418"/>
                    <a:pt x="12801" y="1038221"/>
                  </a:cubicBezTo>
                  <a:cubicBezTo>
                    <a:pt x="4605" y="1030024"/>
                    <a:pt x="0" y="1018907"/>
                    <a:pt x="0" y="1007316"/>
                  </a:cubicBezTo>
                  <a:lnTo>
                    <a:pt x="0" y="43707"/>
                  </a:lnTo>
                  <a:cubicBezTo>
                    <a:pt x="0" y="19568"/>
                    <a:pt x="19568" y="0"/>
                    <a:pt x="43707" y="0"/>
                  </a:cubicBezTo>
                  <a:close/>
                </a:path>
              </a:pathLst>
            </a:custGeom>
            <a:solidFill>
              <a:srgbClr val="ECE1D7"/>
            </a:solidFill>
          </p:spPr>
        </p:sp>
        <p:sp>
          <p:nvSpPr>
            <p:cNvPr id="48" name="TextBox 48"/>
            <p:cNvSpPr txBox="1"/>
            <p:nvPr/>
          </p:nvSpPr>
          <p:spPr>
            <a:xfrm>
              <a:off x="0" y="-47625"/>
              <a:ext cx="1399563" cy="1098648"/>
            </a:xfrm>
            <a:prstGeom prst="rect">
              <a:avLst/>
            </a:prstGeom>
          </p:spPr>
          <p:txBody>
            <a:bodyPr lIns="50800" tIns="50800" rIns="50800" bIns="50800" rtlCol="0" anchor="ctr"/>
            <a:lstStyle/>
            <a:p>
              <a:pPr algn="ctr">
                <a:lnSpc>
                  <a:spcPts val="3032"/>
                </a:lnSpc>
              </a:pPr>
              <a:endParaRPr/>
            </a:p>
          </p:txBody>
        </p:sp>
      </p:grpSp>
      <p:sp>
        <p:nvSpPr>
          <p:cNvPr id="49" name="TextBox 49"/>
          <p:cNvSpPr txBox="1"/>
          <p:nvPr/>
        </p:nvSpPr>
        <p:spPr>
          <a:xfrm>
            <a:off x="12977024" y="4330482"/>
            <a:ext cx="4515896" cy="2370058"/>
          </a:xfrm>
          <a:prstGeom prst="rect">
            <a:avLst/>
          </a:prstGeom>
        </p:spPr>
        <p:txBody>
          <a:bodyPr lIns="0" tIns="0" rIns="0" bIns="0" rtlCol="0" anchor="t">
            <a:spAutoFit/>
          </a:bodyPr>
          <a:lstStyle/>
          <a:p>
            <a:pPr marL="0" lvl="0" indent="0" algn="l">
              <a:lnSpc>
                <a:spcPts val="2330"/>
              </a:lnSpc>
              <a:spcBef>
                <a:spcPct val="0"/>
              </a:spcBef>
            </a:pPr>
            <a:r>
              <a:rPr lang="en-US" sz="2118" b="1" u="none" strike="noStrike">
                <a:solidFill>
                  <a:srgbClr val="292562"/>
                </a:solidFill>
                <a:latin typeface="Quicksand Bold"/>
                <a:ea typeface="Quicksand Bold"/>
                <a:cs typeface="Quicksand Bold"/>
                <a:sym typeface="Quicksand Bold"/>
              </a:rPr>
              <a:t>Dataset choisi : Portail Open Data Tunisien (data.gov.tn)</a:t>
            </a:r>
          </a:p>
          <a:p>
            <a:pPr marL="0" lvl="0" indent="0" algn="l">
              <a:lnSpc>
                <a:spcPts val="2330"/>
              </a:lnSpc>
              <a:spcBef>
                <a:spcPct val="0"/>
              </a:spcBef>
            </a:pPr>
            <a:r>
              <a:rPr lang="en-US" sz="2118" b="1" u="none" strike="noStrike">
                <a:solidFill>
                  <a:srgbClr val="292562"/>
                </a:solidFill>
                <a:latin typeface="Quicksand Bold"/>
                <a:ea typeface="Quicksand Bold"/>
                <a:cs typeface="Quicksand Bold"/>
                <a:sym typeface="Quicksand Bold"/>
              </a:rPr>
              <a:t>• 2 datasets officiels </a:t>
            </a:r>
          </a:p>
          <a:p>
            <a:pPr marL="0" lvl="0" indent="0" algn="l">
              <a:lnSpc>
                <a:spcPts val="2330"/>
              </a:lnSpc>
              <a:spcBef>
                <a:spcPct val="0"/>
              </a:spcBef>
            </a:pPr>
            <a:r>
              <a:rPr lang="en-US" sz="2118" b="1" u="none" strike="noStrike">
                <a:solidFill>
                  <a:srgbClr val="292562"/>
                </a:solidFill>
                <a:latin typeface="Quicksand Bold"/>
                <a:ea typeface="Quicksand Bold"/>
                <a:cs typeface="Quicksand Bold"/>
                <a:sym typeface="Quicksand Bold"/>
              </a:rPr>
              <a:t>• 2 083 lignes pour diplômés </a:t>
            </a:r>
          </a:p>
          <a:p>
            <a:pPr marL="0" lvl="0" indent="0" algn="l">
              <a:lnSpc>
                <a:spcPts val="2330"/>
              </a:lnSpc>
              <a:spcBef>
                <a:spcPct val="0"/>
              </a:spcBef>
            </a:pPr>
            <a:r>
              <a:rPr lang="en-US" sz="2118" b="1" u="none" strike="noStrike">
                <a:solidFill>
                  <a:srgbClr val="292562"/>
                </a:solidFill>
                <a:latin typeface="Quicksand Bold"/>
                <a:ea typeface="Quicksand Bold"/>
                <a:cs typeface="Quicksand Bold"/>
                <a:sym typeface="Quicksand Bold"/>
              </a:rPr>
              <a:t>• 19 878 lignes pour inscrits </a:t>
            </a:r>
          </a:p>
          <a:p>
            <a:pPr marL="0" lvl="0" indent="0" algn="l">
              <a:lnSpc>
                <a:spcPts val="2330"/>
              </a:lnSpc>
              <a:spcBef>
                <a:spcPct val="0"/>
              </a:spcBef>
            </a:pPr>
            <a:r>
              <a:rPr lang="en-US" sz="2118" b="1" u="none" strike="noStrike">
                <a:solidFill>
                  <a:srgbClr val="292562"/>
                </a:solidFill>
                <a:latin typeface="Quicksand Bold"/>
                <a:ea typeface="Quicksand Bold"/>
                <a:cs typeface="Quicksand Bold"/>
                <a:sym typeface="Quicksand Bold"/>
              </a:rPr>
              <a:t>• Variable cible : taux de réussite (continue 0-1) → régression</a:t>
            </a:r>
          </a:p>
          <a:p>
            <a:pPr marL="0" lvl="0" indent="0" algn="l">
              <a:lnSpc>
                <a:spcPts val="2330"/>
              </a:lnSpc>
              <a:spcBef>
                <a:spcPct val="0"/>
              </a:spcBef>
            </a:pPr>
            <a:endParaRPr lang="en-US" sz="2118" b="1" u="none" strike="noStrike">
              <a:solidFill>
                <a:srgbClr val="292562"/>
              </a:solidFill>
              <a:latin typeface="Quicksand Bold"/>
              <a:ea typeface="Quicksand Bold"/>
              <a:cs typeface="Quicksand Bold"/>
              <a:sym typeface="Quicksand Bold"/>
            </a:endParaRPr>
          </a:p>
        </p:txBody>
      </p:sp>
      <p:sp>
        <p:nvSpPr>
          <p:cNvPr id="50" name="TextBox 50"/>
          <p:cNvSpPr txBox="1"/>
          <p:nvPr/>
        </p:nvSpPr>
        <p:spPr>
          <a:xfrm>
            <a:off x="12877265" y="3047391"/>
            <a:ext cx="4015710" cy="1027431"/>
          </a:xfrm>
          <a:prstGeom prst="rect">
            <a:avLst/>
          </a:prstGeom>
        </p:spPr>
        <p:txBody>
          <a:bodyPr lIns="0" tIns="0" rIns="0" bIns="0" rtlCol="0" anchor="t">
            <a:spAutoFit/>
          </a:bodyPr>
          <a:lstStyle/>
          <a:p>
            <a:pPr algn="ctr">
              <a:lnSpc>
                <a:spcPts val="8399"/>
              </a:lnSpc>
            </a:pPr>
            <a:r>
              <a:rPr lang="en-US" sz="5999">
                <a:solidFill>
                  <a:srgbClr val="2D2261"/>
                </a:solidFill>
                <a:latin typeface="Brittany"/>
                <a:ea typeface="Brittany"/>
                <a:cs typeface="Brittany"/>
                <a:sym typeface="Brittany"/>
              </a:rPr>
              <a:t>Choix de dataset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grpSp>
        <p:nvGrpSpPr>
          <p:cNvPr id="2" name="Group 2"/>
          <p:cNvGrpSpPr/>
          <p:nvPr/>
        </p:nvGrpSpPr>
        <p:grpSpPr>
          <a:xfrm>
            <a:off x="6812404" y="7552613"/>
            <a:ext cx="1029499" cy="102949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id="4" name="TextBox 4"/>
            <p:cNvSpPr txBox="1"/>
            <p:nvPr/>
          </p:nvSpPr>
          <p:spPr>
            <a:xfrm>
              <a:off x="76200" y="28575"/>
              <a:ext cx="660400" cy="708025"/>
            </a:xfrm>
            <a:prstGeom prst="rect">
              <a:avLst/>
            </a:prstGeom>
          </p:spPr>
          <p:txBody>
            <a:bodyPr lIns="50800" tIns="50800" rIns="50800" bIns="50800" rtlCol="0" anchor="ctr"/>
            <a:lstStyle/>
            <a:p>
              <a:pPr algn="ctr">
                <a:lnSpc>
                  <a:spcPts val="3032"/>
                </a:lnSpc>
              </a:pPr>
              <a:endParaRPr/>
            </a:p>
          </p:txBody>
        </p:sp>
      </p:grpSp>
      <p:sp>
        <p:nvSpPr>
          <p:cNvPr id="5" name="Freeform 5"/>
          <p:cNvSpPr/>
          <p:nvPr/>
        </p:nvSpPr>
        <p:spPr>
          <a:xfrm>
            <a:off x="12993540" y="-2095015"/>
            <a:ext cx="6727323" cy="4586811"/>
          </a:xfrm>
          <a:custGeom>
            <a:avLst/>
            <a:gdLst/>
            <a:ahLst/>
            <a:cxnLst/>
            <a:rect l="l" t="t" r="r" b="b"/>
            <a:pathLst>
              <a:path w="6727323" h="4586811">
                <a:moveTo>
                  <a:pt x="0" y="0"/>
                </a:moveTo>
                <a:lnTo>
                  <a:pt x="6727323" y="0"/>
                </a:lnTo>
                <a:lnTo>
                  <a:pt x="6727323" y="4586812"/>
                </a:lnTo>
                <a:lnTo>
                  <a:pt x="0" y="4586812"/>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6" name="Freeform 6"/>
          <p:cNvSpPr/>
          <p:nvPr/>
        </p:nvSpPr>
        <p:spPr>
          <a:xfrm rot="635325">
            <a:off x="-1442576" y="8071855"/>
            <a:ext cx="7907020" cy="6699403"/>
          </a:xfrm>
          <a:custGeom>
            <a:avLst/>
            <a:gdLst/>
            <a:ahLst/>
            <a:cxnLst/>
            <a:rect l="l" t="t" r="r" b="b"/>
            <a:pathLst>
              <a:path w="7907020" h="6699403">
                <a:moveTo>
                  <a:pt x="0" y="0"/>
                </a:moveTo>
                <a:lnTo>
                  <a:pt x="7907020" y="0"/>
                </a:lnTo>
                <a:lnTo>
                  <a:pt x="7907020" y="6699403"/>
                </a:lnTo>
                <a:lnTo>
                  <a:pt x="0" y="669940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7" name="Freeform 7"/>
          <p:cNvSpPr/>
          <p:nvPr/>
        </p:nvSpPr>
        <p:spPr>
          <a:xfrm rot="-226878">
            <a:off x="-267547" y="148087"/>
            <a:ext cx="4576141" cy="2579280"/>
          </a:xfrm>
          <a:custGeom>
            <a:avLst/>
            <a:gdLst/>
            <a:ahLst/>
            <a:cxnLst/>
            <a:rect l="l" t="t" r="r" b="b"/>
            <a:pathLst>
              <a:path w="4576141" h="2579280">
                <a:moveTo>
                  <a:pt x="0" y="0"/>
                </a:moveTo>
                <a:lnTo>
                  <a:pt x="4576141" y="0"/>
                </a:lnTo>
                <a:lnTo>
                  <a:pt x="4576141" y="2579280"/>
                </a:lnTo>
                <a:lnTo>
                  <a:pt x="0" y="257928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8" name="Freeform 8"/>
          <p:cNvSpPr/>
          <p:nvPr/>
        </p:nvSpPr>
        <p:spPr>
          <a:xfrm rot="2830696">
            <a:off x="16270495" y="8065020"/>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9" name="Freeform 9"/>
          <p:cNvSpPr/>
          <p:nvPr/>
        </p:nvSpPr>
        <p:spPr>
          <a:xfrm>
            <a:off x="457321" y="2709332"/>
            <a:ext cx="9123410" cy="3057915"/>
          </a:xfrm>
          <a:custGeom>
            <a:avLst/>
            <a:gdLst/>
            <a:ahLst/>
            <a:cxnLst/>
            <a:rect l="l" t="t" r="r" b="b"/>
            <a:pathLst>
              <a:path w="9123410" h="3057915">
                <a:moveTo>
                  <a:pt x="0" y="0"/>
                </a:moveTo>
                <a:lnTo>
                  <a:pt x="9123410" y="0"/>
                </a:lnTo>
                <a:lnTo>
                  <a:pt x="9123410" y="3057915"/>
                </a:lnTo>
                <a:lnTo>
                  <a:pt x="0" y="3057915"/>
                </a:lnTo>
                <a:lnTo>
                  <a:pt x="0" y="0"/>
                </a:lnTo>
                <a:close/>
              </a:path>
            </a:pathLst>
          </a:custGeom>
          <a:blipFill>
            <a:blip r:embed="rId6"/>
            <a:stretch>
              <a:fillRect/>
            </a:stretch>
          </a:blipFill>
        </p:spPr>
      </p:sp>
      <p:grpSp>
        <p:nvGrpSpPr>
          <p:cNvPr id="10" name="Group 10"/>
          <p:cNvGrpSpPr/>
          <p:nvPr/>
        </p:nvGrpSpPr>
        <p:grpSpPr>
          <a:xfrm>
            <a:off x="9784382" y="7038269"/>
            <a:ext cx="6270713" cy="2563649"/>
            <a:chOff x="0" y="0"/>
            <a:chExt cx="8360950" cy="3418199"/>
          </a:xfrm>
        </p:grpSpPr>
        <p:grpSp>
          <p:nvGrpSpPr>
            <p:cNvPr id="11" name="Group 11"/>
            <p:cNvGrpSpPr/>
            <p:nvPr/>
          </p:nvGrpSpPr>
          <p:grpSpPr>
            <a:xfrm>
              <a:off x="0" y="0"/>
              <a:ext cx="8360950" cy="3418199"/>
              <a:chOff x="0" y="0"/>
              <a:chExt cx="1851798" cy="757069"/>
            </a:xfrm>
          </p:grpSpPr>
          <p:sp>
            <p:nvSpPr>
              <p:cNvPr id="12" name="Freeform 12"/>
              <p:cNvSpPr/>
              <p:nvPr/>
            </p:nvSpPr>
            <p:spPr>
              <a:xfrm>
                <a:off x="0" y="0"/>
                <a:ext cx="1851798" cy="757069"/>
              </a:xfrm>
              <a:custGeom>
                <a:avLst/>
                <a:gdLst/>
                <a:ahLst/>
                <a:cxnLst/>
                <a:rect l="l" t="t" r="r" b="b"/>
                <a:pathLst>
                  <a:path w="1851798" h="757069">
                    <a:moveTo>
                      <a:pt x="62965" y="0"/>
                    </a:moveTo>
                    <a:lnTo>
                      <a:pt x="1788833" y="0"/>
                    </a:lnTo>
                    <a:cubicBezTo>
                      <a:pt x="1823608" y="0"/>
                      <a:pt x="1851798" y="28191"/>
                      <a:pt x="1851798" y="62965"/>
                    </a:cubicBezTo>
                    <a:lnTo>
                      <a:pt x="1851798" y="694104"/>
                    </a:lnTo>
                    <a:cubicBezTo>
                      <a:pt x="1851798" y="728878"/>
                      <a:pt x="1823608" y="757069"/>
                      <a:pt x="1788833" y="757069"/>
                    </a:cubicBezTo>
                    <a:lnTo>
                      <a:pt x="62965" y="757069"/>
                    </a:lnTo>
                    <a:cubicBezTo>
                      <a:pt x="28191" y="757069"/>
                      <a:pt x="0" y="728878"/>
                      <a:pt x="0" y="694104"/>
                    </a:cubicBezTo>
                    <a:lnTo>
                      <a:pt x="0" y="62965"/>
                    </a:lnTo>
                    <a:cubicBezTo>
                      <a:pt x="0" y="28191"/>
                      <a:pt x="28191" y="0"/>
                      <a:pt x="62965" y="0"/>
                    </a:cubicBezTo>
                    <a:close/>
                  </a:path>
                </a:pathLst>
              </a:custGeom>
              <a:solidFill>
                <a:srgbClr val="ECE0D6"/>
              </a:solidFill>
              <a:ln w="9525" cap="rnd">
                <a:solidFill>
                  <a:srgbClr val="FFFFFF"/>
                </a:solidFill>
                <a:prstDash val="solid"/>
                <a:round/>
              </a:ln>
            </p:spPr>
          </p:sp>
          <p:sp>
            <p:nvSpPr>
              <p:cNvPr id="13" name="TextBox 13"/>
              <p:cNvSpPr txBox="1"/>
              <p:nvPr/>
            </p:nvSpPr>
            <p:spPr>
              <a:xfrm>
                <a:off x="0" y="-38100"/>
                <a:ext cx="1851798" cy="795169"/>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234077" y="207346"/>
              <a:ext cx="5892795" cy="2955882"/>
            </a:xfrm>
            <a:prstGeom prst="rect">
              <a:avLst/>
            </a:prstGeom>
          </p:spPr>
          <p:txBody>
            <a:bodyPr lIns="0" tIns="0" rIns="0" bIns="0" rtlCol="0" anchor="t">
              <a:spAutoFit/>
            </a:bodyPr>
            <a:lstStyle/>
            <a:p>
              <a:pPr algn="l">
                <a:lnSpc>
                  <a:spcPts val="3431"/>
                </a:lnSpc>
              </a:pPr>
              <a:r>
                <a:rPr lang="en-US" sz="2451" b="1">
                  <a:solidFill>
                    <a:srgbClr val="1D3163"/>
                  </a:solidFill>
                  <a:latin typeface="Quicksand Bold"/>
                  <a:ea typeface="Quicksand Bold"/>
                  <a:cs typeface="Quicksand Bold"/>
                  <a:sym typeface="Quicksand Bold"/>
                </a:rPr>
                <a:t>Résultat :</a:t>
              </a:r>
            </a:p>
            <a:p>
              <a:pPr algn="ctr">
                <a:lnSpc>
                  <a:spcPts val="2871"/>
                </a:lnSpc>
                <a:spcBef>
                  <a:spcPct val="0"/>
                </a:spcBef>
              </a:pPr>
              <a:r>
                <a:rPr lang="en-US" sz="2051" b="1">
                  <a:solidFill>
                    <a:srgbClr val="1D3163"/>
                  </a:solidFill>
                  <a:latin typeface="Quicksand Bold"/>
                  <a:ea typeface="Quicksand Bold"/>
                  <a:cs typeface="Quicksand Bold"/>
                  <a:sym typeface="Quicksand Bold"/>
                </a:rPr>
                <a:t> Random Forest et Gradient Boosting sont très proches (R² ≈ 0.976, MAE ≈ 1.3%). La régression linéaire est moins performante (R² = 0.9125).</a:t>
              </a:r>
            </a:p>
          </p:txBody>
        </p:sp>
      </p:grpSp>
      <p:grpSp>
        <p:nvGrpSpPr>
          <p:cNvPr id="15" name="Group 15"/>
          <p:cNvGrpSpPr/>
          <p:nvPr/>
        </p:nvGrpSpPr>
        <p:grpSpPr>
          <a:xfrm>
            <a:off x="10188046" y="3385998"/>
            <a:ext cx="6169155" cy="2547371"/>
            <a:chOff x="0" y="0"/>
            <a:chExt cx="815827" cy="336872"/>
          </a:xfrm>
        </p:grpSpPr>
        <p:sp>
          <p:nvSpPr>
            <p:cNvPr id="16" name="Freeform 16"/>
            <p:cNvSpPr/>
            <p:nvPr/>
          </p:nvSpPr>
          <p:spPr>
            <a:xfrm>
              <a:off x="0" y="0"/>
              <a:ext cx="815827" cy="336872"/>
            </a:xfrm>
            <a:custGeom>
              <a:avLst/>
              <a:gdLst/>
              <a:ahLst/>
              <a:cxnLst/>
              <a:rect l="l" t="t" r="r" b="b"/>
              <a:pathLst>
                <a:path w="815827" h="336872">
                  <a:moveTo>
                    <a:pt x="24511" y="0"/>
                  </a:moveTo>
                  <a:lnTo>
                    <a:pt x="791316" y="0"/>
                  </a:lnTo>
                  <a:cubicBezTo>
                    <a:pt x="797817" y="0"/>
                    <a:pt x="804051" y="2582"/>
                    <a:pt x="808648" y="7179"/>
                  </a:cubicBezTo>
                  <a:cubicBezTo>
                    <a:pt x="813244" y="11776"/>
                    <a:pt x="815827" y="18010"/>
                    <a:pt x="815827" y="24511"/>
                  </a:cubicBezTo>
                  <a:lnTo>
                    <a:pt x="815827" y="312361"/>
                  </a:lnTo>
                  <a:cubicBezTo>
                    <a:pt x="815827" y="325898"/>
                    <a:pt x="804853" y="336872"/>
                    <a:pt x="791316" y="336872"/>
                  </a:cubicBezTo>
                  <a:lnTo>
                    <a:pt x="24511" y="336872"/>
                  </a:lnTo>
                  <a:cubicBezTo>
                    <a:pt x="18010" y="336872"/>
                    <a:pt x="11776" y="334289"/>
                    <a:pt x="7179" y="329693"/>
                  </a:cubicBezTo>
                  <a:cubicBezTo>
                    <a:pt x="2582" y="325096"/>
                    <a:pt x="0" y="318862"/>
                    <a:pt x="0" y="312361"/>
                  </a:cubicBezTo>
                  <a:lnTo>
                    <a:pt x="0" y="24511"/>
                  </a:lnTo>
                  <a:cubicBezTo>
                    <a:pt x="0" y="10974"/>
                    <a:pt x="10974" y="0"/>
                    <a:pt x="24511" y="0"/>
                  </a:cubicBezTo>
                  <a:close/>
                </a:path>
              </a:pathLst>
            </a:custGeom>
            <a:ln w="38100" cap="rnd">
              <a:solidFill>
                <a:srgbClr val="2D2261"/>
              </a:solidFill>
              <a:prstDash val="solid"/>
              <a:round/>
            </a:ln>
          </p:spPr>
        </p:sp>
        <p:sp>
          <p:nvSpPr>
            <p:cNvPr id="17" name="TextBox 17"/>
            <p:cNvSpPr txBox="1"/>
            <p:nvPr/>
          </p:nvSpPr>
          <p:spPr>
            <a:xfrm>
              <a:off x="0" y="-47625"/>
              <a:ext cx="815827" cy="384497"/>
            </a:xfrm>
            <a:prstGeom prst="rect">
              <a:avLst/>
            </a:prstGeom>
          </p:spPr>
          <p:txBody>
            <a:bodyPr lIns="50800" tIns="50800" rIns="50800" bIns="50800" rtlCol="0" anchor="ctr"/>
            <a:lstStyle/>
            <a:p>
              <a:pPr algn="ctr">
                <a:lnSpc>
                  <a:spcPts val="3032"/>
                </a:lnSpc>
              </a:pPr>
              <a:endParaRPr/>
            </a:p>
          </p:txBody>
        </p:sp>
      </p:grpSp>
      <p:sp>
        <p:nvSpPr>
          <p:cNvPr id="18" name="TextBox 18"/>
          <p:cNvSpPr txBox="1"/>
          <p:nvPr/>
        </p:nvSpPr>
        <p:spPr>
          <a:xfrm>
            <a:off x="2966074" y="715732"/>
            <a:ext cx="10308072" cy="1567815"/>
          </a:xfrm>
          <a:prstGeom prst="rect">
            <a:avLst/>
          </a:prstGeom>
        </p:spPr>
        <p:txBody>
          <a:bodyPr lIns="0" tIns="0" rIns="0" bIns="0" rtlCol="0" anchor="t">
            <a:spAutoFit/>
          </a:bodyPr>
          <a:lstStyle/>
          <a:p>
            <a:pPr algn="ctr">
              <a:lnSpc>
                <a:spcPts val="5759"/>
              </a:lnSpc>
            </a:pPr>
            <a:r>
              <a:rPr lang="en-US" sz="6399" b="1">
                <a:solidFill>
                  <a:srgbClr val="2D2261"/>
                </a:solidFill>
                <a:latin typeface="Poppins Bold"/>
                <a:ea typeface="Poppins Bold"/>
                <a:cs typeface="Poppins Bold"/>
                <a:sym typeface="Poppins Bold"/>
              </a:rPr>
              <a:t>Modélisation et Comparaison</a:t>
            </a:r>
          </a:p>
        </p:txBody>
      </p:sp>
      <p:sp>
        <p:nvSpPr>
          <p:cNvPr id="19" name="TextBox 19"/>
          <p:cNvSpPr txBox="1"/>
          <p:nvPr/>
        </p:nvSpPr>
        <p:spPr>
          <a:xfrm>
            <a:off x="435013" y="6135882"/>
            <a:ext cx="7662768" cy="2799080"/>
          </a:xfrm>
          <a:prstGeom prst="rect">
            <a:avLst/>
          </a:prstGeom>
        </p:spPr>
        <p:txBody>
          <a:bodyPr lIns="0" tIns="0" rIns="0" bIns="0" rtlCol="0" anchor="t">
            <a:spAutoFit/>
          </a:bodyPr>
          <a:lstStyle/>
          <a:p>
            <a:pPr marL="496567" lvl="1" indent="-248284" algn="l">
              <a:lnSpc>
                <a:spcPts val="3219"/>
              </a:lnSpc>
              <a:buFont typeface="Arial"/>
              <a:buChar char="•"/>
            </a:pPr>
            <a:r>
              <a:rPr lang="en-US" sz="2299" b="1">
                <a:solidFill>
                  <a:srgbClr val="1D3163"/>
                </a:solidFill>
                <a:latin typeface="Quicksand Bold"/>
                <a:ea typeface="Quicksand Bold"/>
                <a:cs typeface="Quicksand Bold"/>
                <a:sym typeface="Quicksand Bold"/>
              </a:rPr>
              <a:t>Métriques utilisées :</a:t>
            </a:r>
          </a:p>
          <a:p>
            <a:pPr algn="l">
              <a:lnSpc>
                <a:spcPts val="3219"/>
              </a:lnSpc>
            </a:pPr>
            <a:r>
              <a:rPr lang="en-US" sz="2299" b="1">
                <a:solidFill>
                  <a:srgbClr val="1D3163"/>
                </a:solidFill>
                <a:latin typeface="Quicksand Bold"/>
                <a:ea typeface="Quicksand Bold"/>
                <a:cs typeface="Quicksand Bold"/>
                <a:sym typeface="Quicksand Bold"/>
              </a:rPr>
              <a:t> Le R² mesure la proportion de variance expliquée par le modèle (plus il est proche de 1, meilleure est la prédiction). Le MAE (erreur absolue moyenne) indique l'écart moyen entre la valeur réelle et la valeur prédite, exprimé en pourcentage.</a:t>
            </a:r>
          </a:p>
          <a:p>
            <a:pPr algn="l">
              <a:lnSpc>
                <a:spcPts val="3219"/>
              </a:lnSpc>
            </a:pPr>
            <a:endParaRPr lang="en-US" sz="2299" b="1">
              <a:solidFill>
                <a:srgbClr val="1D3163"/>
              </a:solidFill>
              <a:latin typeface="Quicksand Bold"/>
              <a:ea typeface="Quicksand Bold"/>
              <a:cs typeface="Quicksand Bold"/>
              <a:sym typeface="Quicksand Bold"/>
            </a:endParaRPr>
          </a:p>
        </p:txBody>
      </p:sp>
      <p:sp>
        <p:nvSpPr>
          <p:cNvPr id="20" name="TextBox 20"/>
          <p:cNvSpPr txBox="1"/>
          <p:nvPr/>
        </p:nvSpPr>
        <p:spPr>
          <a:xfrm>
            <a:off x="10625232" y="3663686"/>
            <a:ext cx="7662768" cy="1944370"/>
          </a:xfrm>
          <a:prstGeom prst="rect">
            <a:avLst/>
          </a:prstGeom>
        </p:spPr>
        <p:txBody>
          <a:bodyPr lIns="0" tIns="0" rIns="0" bIns="0" rtlCol="0" anchor="t">
            <a:spAutoFit/>
          </a:bodyPr>
          <a:lstStyle/>
          <a:p>
            <a:pPr algn="l">
              <a:lnSpc>
                <a:spcPts val="3079"/>
              </a:lnSpc>
            </a:pPr>
            <a:r>
              <a:rPr lang="en-US" sz="2199" b="1">
                <a:solidFill>
                  <a:srgbClr val="292562"/>
                </a:solidFill>
                <a:latin typeface="Quicksand Bold"/>
                <a:ea typeface="Quicksand Bold"/>
                <a:cs typeface="Quicksand Bold"/>
                <a:sym typeface="Quicksand Bold"/>
              </a:rPr>
              <a:t>Familles de modèles testées :</a:t>
            </a:r>
          </a:p>
          <a:p>
            <a:pPr marL="474978" lvl="1" indent="-237489" algn="l">
              <a:lnSpc>
                <a:spcPts val="3079"/>
              </a:lnSpc>
              <a:buFont typeface="Arial"/>
              <a:buChar char="•"/>
            </a:pPr>
            <a:r>
              <a:rPr lang="en-US" sz="2199" b="1">
                <a:solidFill>
                  <a:srgbClr val="292562"/>
                </a:solidFill>
                <a:latin typeface="Quicksand Bold"/>
                <a:ea typeface="Quicksand Bold"/>
                <a:cs typeface="Quicksand Bold"/>
                <a:sym typeface="Quicksand Bold"/>
              </a:rPr>
              <a:t>Régression linéaire </a:t>
            </a:r>
          </a:p>
          <a:p>
            <a:pPr marL="474978" lvl="1" indent="-237489" algn="l">
              <a:lnSpc>
                <a:spcPts val="3079"/>
              </a:lnSpc>
              <a:buFont typeface="Arial"/>
              <a:buChar char="•"/>
            </a:pPr>
            <a:r>
              <a:rPr lang="en-US" sz="2199" b="1">
                <a:solidFill>
                  <a:srgbClr val="292562"/>
                </a:solidFill>
                <a:latin typeface="Quicksand Bold"/>
                <a:ea typeface="Quicksand Bold"/>
                <a:cs typeface="Quicksand Bold"/>
                <a:sym typeface="Quicksand Bold"/>
              </a:rPr>
              <a:t>Random Forest</a:t>
            </a:r>
          </a:p>
          <a:p>
            <a:pPr marL="474978" lvl="1" indent="-237489" algn="l">
              <a:lnSpc>
                <a:spcPts val="3079"/>
              </a:lnSpc>
              <a:buFont typeface="Arial"/>
              <a:buChar char="•"/>
            </a:pPr>
            <a:r>
              <a:rPr lang="en-US" sz="2199" b="1">
                <a:solidFill>
                  <a:srgbClr val="292562"/>
                </a:solidFill>
                <a:latin typeface="Quicksand Bold"/>
                <a:ea typeface="Quicksand Bold"/>
                <a:cs typeface="Quicksand Bold"/>
                <a:sym typeface="Quicksand Bold"/>
              </a:rPr>
              <a:t>Gradient Boosting </a:t>
            </a:r>
          </a:p>
          <a:p>
            <a:pPr algn="l">
              <a:lnSpc>
                <a:spcPts val="3079"/>
              </a:lnSpc>
            </a:pPr>
            <a:endParaRPr lang="en-US" sz="2199" b="1">
              <a:solidFill>
                <a:srgbClr val="292562"/>
              </a:solidFill>
              <a:latin typeface="Quicksand Bold"/>
              <a:ea typeface="Quicksand Bold"/>
              <a:cs typeface="Quicksand Bold"/>
              <a:sym typeface="Quicksand Bold"/>
            </a:endParaRPr>
          </a:p>
        </p:txBody>
      </p:sp>
      <p:grpSp>
        <p:nvGrpSpPr>
          <p:cNvPr id="21" name="Group 21"/>
          <p:cNvGrpSpPr/>
          <p:nvPr/>
        </p:nvGrpSpPr>
        <p:grpSpPr>
          <a:xfrm>
            <a:off x="344695" y="5991151"/>
            <a:ext cx="7843403" cy="3145691"/>
            <a:chOff x="0" y="0"/>
            <a:chExt cx="839949" cy="336872"/>
          </a:xfrm>
        </p:grpSpPr>
        <p:sp>
          <p:nvSpPr>
            <p:cNvPr id="22" name="Freeform 22"/>
            <p:cNvSpPr/>
            <p:nvPr/>
          </p:nvSpPr>
          <p:spPr>
            <a:xfrm>
              <a:off x="0" y="0"/>
              <a:ext cx="839949" cy="336872"/>
            </a:xfrm>
            <a:custGeom>
              <a:avLst/>
              <a:gdLst/>
              <a:ahLst/>
              <a:cxnLst/>
              <a:rect l="l" t="t" r="r" b="b"/>
              <a:pathLst>
                <a:path w="839949" h="336872">
                  <a:moveTo>
                    <a:pt x="19279" y="0"/>
                  </a:moveTo>
                  <a:lnTo>
                    <a:pt x="820670" y="0"/>
                  </a:lnTo>
                  <a:cubicBezTo>
                    <a:pt x="831318" y="0"/>
                    <a:pt x="839949" y="8631"/>
                    <a:pt x="839949" y="19279"/>
                  </a:cubicBezTo>
                  <a:lnTo>
                    <a:pt x="839949" y="317593"/>
                  </a:lnTo>
                  <a:cubicBezTo>
                    <a:pt x="839949" y="322706"/>
                    <a:pt x="837918" y="327610"/>
                    <a:pt x="834302" y="331225"/>
                  </a:cubicBezTo>
                  <a:cubicBezTo>
                    <a:pt x="830687" y="334840"/>
                    <a:pt x="825783" y="336872"/>
                    <a:pt x="820670" y="336872"/>
                  </a:cubicBezTo>
                  <a:lnTo>
                    <a:pt x="19279" y="336872"/>
                  </a:lnTo>
                  <a:cubicBezTo>
                    <a:pt x="14166" y="336872"/>
                    <a:pt x="9262" y="334840"/>
                    <a:pt x="5647" y="331225"/>
                  </a:cubicBezTo>
                  <a:cubicBezTo>
                    <a:pt x="2031" y="327610"/>
                    <a:pt x="0" y="322706"/>
                    <a:pt x="0" y="317593"/>
                  </a:cubicBezTo>
                  <a:lnTo>
                    <a:pt x="0" y="19279"/>
                  </a:lnTo>
                  <a:cubicBezTo>
                    <a:pt x="0" y="14166"/>
                    <a:pt x="2031" y="9262"/>
                    <a:pt x="5647" y="5647"/>
                  </a:cubicBezTo>
                  <a:cubicBezTo>
                    <a:pt x="9262" y="2031"/>
                    <a:pt x="14166" y="0"/>
                    <a:pt x="19279" y="0"/>
                  </a:cubicBezTo>
                  <a:close/>
                </a:path>
              </a:pathLst>
            </a:custGeom>
            <a:ln w="38100" cap="rnd">
              <a:solidFill>
                <a:srgbClr val="2D2261"/>
              </a:solidFill>
              <a:prstDash val="solid"/>
              <a:round/>
            </a:ln>
          </p:spPr>
        </p:sp>
        <p:sp>
          <p:nvSpPr>
            <p:cNvPr id="23" name="TextBox 23"/>
            <p:cNvSpPr txBox="1"/>
            <p:nvPr/>
          </p:nvSpPr>
          <p:spPr>
            <a:xfrm>
              <a:off x="0" y="-47625"/>
              <a:ext cx="839949" cy="384497"/>
            </a:xfrm>
            <a:prstGeom prst="rect">
              <a:avLst/>
            </a:prstGeom>
          </p:spPr>
          <p:txBody>
            <a:bodyPr lIns="50800" tIns="50800" rIns="50800" bIns="50800" rtlCol="0" anchor="ctr"/>
            <a:lstStyle/>
            <a:p>
              <a:pPr algn="ctr">
                <a:lnSpc>
                  <a:spcPts val="3032"/>
                </a:lnSpc>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sp>
        <p:nvSpPr>
          <p:cNvPr id="2" name="Freeform 2"/>
          <p:cNvSpPr/>
          <p:nvPr/>
        </p:nvSpPr>
        <p:spPr>
          <a:xfrm>
            <a:off x="12993540" y="-2095015"/>
            <a:ext cx="6727323" cy="4586811"/>
          </a:xfrm>
          <a:custGeom>
            <a:avLst/>
            <a:gdLst/>
            <a:ahLst/>
            <a:cxnLst/>
            <a:rect l="l" t="t" r="r" b="b"/>
            <a:pathLst>
              <a:path w="6727323" h="4586811">
                <a:moveTo>
                  <a:pt x="0" y="0"/>
                </a:moveTo>
                <a:lnTo>
                  <a:pt x="6727323" y="0"/>
                </a:lnTo>
                <a:lnTo>
                  <a:pt x="6727323" y="4586812"/>
                </a:lnTo>
                <a:lnTo>
                  <a:pt x="0" y="4586812"/>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3" name="Freeform 3"/>
          <p:cNvSpPr/>
          <p:nvPr/>
        </p:nvSpPr>
        <p:spPr>
          <a:xfrm rot="635325">
            <a:off x="-1442576" y="8071855"/>
            <a:ext cx="7907020" cy="6699403"/>
          </a:xfrm>
          <a:custGeom>
            <a:avLst/>
            <a:gdLst/>
            <a:ahLst/>
            <a:cxnLst/>
            <a:rect l="l" t="t" r="r" b="b"/>
            <a:pathLst>
              <a:path w="7907020" h="6699403">
                <a:moveTo>
                  <a:pt x="0" y="0"/>
                </a:moveTo>
                <a:lnTo>
                  <a:pt x="7907020" y="0"/>
                </a:lnTo>
                <a:lnTo>
                  <a:pt x="7907020" y="6699403"/>
                </a:lnTo>
                <a:lnTo>
                  <a:pt x="0" y="669940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4" name="Freeform 4"/>
          <p:cNvSpPr/>
          <p:nvPr/>
        </p:nvSpPr>
        <p:spPr>
          <a:xfrm rot="-226878">
            <a:off x="-267547" y="148087"/>
            <a:ext cx="4576141" cy="2579280"/>
          </a:xfrm>
          <a:custGeom>
            <a:avLst/>
            <a:gdLst/>
            <a:ahLst/>
            <a:cxnLst/>
            <a:rect l="l" t="t" r="r" b="b"/>
            <a:pathLst>
              <a:path w="4576141" h="2579280">
                <a:moveTo>
                  <a:pt x="0" y="0"/>
                </a:moveTo>
                <a:lnTo>
                  <a:pt x="4576141" y="0"/>
                </a:lnTo>
                <a:lnTo>
                  <a:pt x="4576141" y="2579280"/>
                </a:lnTo>
                <a:lnTo>
                  <a:pt x="0" y="257928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rot="2830696">
            <a:off x="14939466" y="8144946"/>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TextBox 6"/>
          <p:cNvSpPr txBox="1"/>
          <p:nvPr/>
        </p:nvSpPr>
        <p:spPr>
          <a:xfrm>
            <a:off x="1996806" y="676495"/>
            <a:ext cx="15262494" cy="3470910"/>
          </a:xfrm>
          <a:prstGeom prst="rect">
            <a:avLst/>
          </a:prstGeom>
        </p:spPr>
        <p:txBody>
          <a:bodyPr lIns="0" tIns="0" rIns="0" bIns="0" rtlCol="0" anchor="t">
            <a:spAutoFit/>
          </a:bodyPr>
          <a:lstStyle/>
          <a:p>
            <a:pPr algn="ctr">
              <a:lnSpc>
                <a:spcPts val="8640"/>
              </a:lnSpc>
            </a:pPr>
            <a:r>
              <a:rPr lang="en-US" sz="9600" b="1">
                <a:solidFill>
                  <a:srgbClr val="2D2261"/>
                </a:solidFill>
                <a:latin typeface="Poppins Bold"/>
                <a:ea typeface="Poppins Bold"/>
                <a:cs typeface="Poppins Bold"/>
                <a:sym typeface="Poppins Bold"/>
              </a:rPr>
              <a:t>Modèele choisit : RANDOM FOREST</a:t>
            </a:r>
          </a:p>
          <a:p>
            <a:pPr algn="ctr">
              <a:lnSpc>
                <a:spcPts val="8640"/>
              </a:lnSpc>
            </a:pPr>
            <a:endParaRPr lang="en-US" sz="9600" b="1">
              <a:solidFill>
                <a:srgbClr val="2D2261"/>
              </a:solidFill>
              <a:latin typeface="Poppins Bold"/>
              <a:ea typeface="Poppins Bold"/>
              <a:cs typeface="Poppins Bold"/>
              <a:sym typeface="Poppins Bold"/>
            </a:endParaRPr>
          </a:p>
        </p:txBody>
      </p:sp>
      <p:grpSp>
        <p:nvGrpSpPr>
          <p:cNvPr id="7" name="Group 7"/>
          <p:cNvGrpSpPr/>
          <p:nvPr/>
        </p:nvGrpSpPr>
        <p:grpSpPr>
          <a:xfrm>
            <a:off x="443715" y="3224677"/>
            <a:ext cx="4134438" cy="4539345"/>
            <a:chOff x="0" y="0"/>
            <a:chExt cx="1071706" cy="1176664"/>
          </a:xfrm>
        </p:grpSpPr>
        <p:sp>
          <p:nvSpPr>
            <p:cNvPr id="8" name="Freeform 8"/>
            <p:cNvSpPr/>
            <p:nvPr/>
          </p:nvSpPr>
          <p:spPr>
            <a:xfrm>
              <a:off x="0" y="0"/>
              <a:ext cx="1071706" cy="1176664"/>
            </a:xfrm>
            <a:custGeom>
              <a:avLst/>
              <a:gdLst/>
              <a:ahLst/>
              <a:cxnLst/>
              <a:rect l="l" t="t" r="r" b="b"/>
              <a:pathLst>
                <a:path w="1071706" h="1176664">
                  <a:moveTo>
                    <a:pt x="84265" y="0"/>
                  </a:moveTo>
                  <a:lnTo>
                    <a:pt x="987442" y="0"/>
                  </a:lnTo>
                  <a:cubicBezTo>
                    <a:pt x="1033980" y="0"/>
                    <a:pt x="1071706" y="37727"/>
                    <a:pt x="1071706" y="84265"/>
                  </a:cubicBezTo>
                  <a:lnTo>
                    <a:pt x="1071706" y="1092400"/>
                  </a:lnTo>
                  <a:cubicBezTo>
                    <a:pt x="1071706" y="1114748"/>
                    <a:pt x="1062829" y="1136181"/>
                    <a:pt x="1047026" y="1151984"/>
                  </a:cubicBezTo>
                  <a:cubicBezTo>
                    <a:pt x="1031223" y="1167787"/>
                    <a:pt x="1009790" y="1176664"/>
                    <a:pt x="987442" y="1176664"/>
                  </a:cubicBezTo>
                  <a:lnTo>
                    <a:pt x="84265" y="1176664"/>
                  </a:lnTo>
                  <a:cubicBezTo>
                    <a:pt x="37727" y="1176664"/>
                    <a:pt x="0" y="1138938"/>
                    <a:pt x="0" y="1092400"/>
                  </a:cubicBezTo>
                  <a:lnTo>
                    <a:pt x="0" y="84265"/>
                  </a:lnTo>
                  <a:cubicBezTo>
                    <a:pt x="0" y="37727"/>
                    <a:pt x="37727" y="0"/>
                    <a:pt x="84265" y="0"/>
                  </a:cubicBezTo>
                  <a:close/>
                </a:path>
              </a:pathLst>
            </a:custGeom>
            <a:solidFill>
              <a:srgbClr val="CCEBFF"/>
            </a:solidFill>
          </p:spPr>
        </p:sp>
        <p:sp>
          <p:nvSpPr>
            <p:cNvPr id="9" name="TextBox 9"/>
            <p:cNvSpPr txBox="1"/>
            <p:nvPr/>
          </p:nvSpPr>
          <p:spPr>
            <a:xfrm>
              <a:off x="0" y="-66675"/>
              <a:ext cx="1071706" cy="1243339"/>
            </a:xfrm>
            <a:prstGeom prst="rect">
              <a:avLst/>
            </a:prstGeom>
          </p:spPr>
          <p:txBody>
            <a:bodyPr lIns="50800" tIns="50800" rIns="50800" bIns="50800" rtlCol="0" anchor="ctr"/>
            <a:lstStyle/>
            <a:p>
              <a:pPr algn="ctr">
                <a:lnSpc>
                  <a:spcPts val="3919"/>
                </a:lnSpc>
                <a:spcBef>
                  <a:spcPct val="0"/>
                </a:spcBef>
              </a:pPr>
              <a:endParaRPr/>
            </a:p>
          </p:txBody>
        </p:sp>
      </p:grpSp>
      <p:grpSp>
        <p:nvGrpSpPr>
          <p:cNvPr id="10" name="Group 10"/>
          <p:cNvGrpSpPr/>
          <p:nvPr/>
        </p:nvGrpSpPr>
        <p:grpSpPr>
          <a:xfrm>
            <a:off x="6293289" y="7662511"/>
            <a:ext cx="7755644" cy="2462589"/>
            <a:chOff x="0" y="0"/>
            <a:chExt cx="2550769" cy="809926"/>
          </a:xfrm>
        </p:grpSpPr>
        <p:sp>
          <p:nvSpPr>
            <p:cNvPr id="11" name="Freeform 11"/>
            <p:cNvSpPr/>
            <p:nvPr/>
          </p:nvSpPr>
          <p:spPr>
            <a:xfrm>
              <a:off x="0" y="0"/>
              <a:ext cx="2550769" cy="809926"/>
            </a:xfrm>
            <a:custGeom>
              <a:avLst/>
              <a:gdLst/>
              <a:ahLst/>
              <a:cxnLst/>
              <a:rect l="l" t="t" r="r" b="b"/>
              <a:pathLst>
                <a:path w="2550769" h="809926">
                  <a:moveTo>
                    <a:pt x="99823" y="0"/>
                  </a:moveTo>
                  <a:lnTo>
                    <a:pt x="2450946" y="0"/>
                  </a:lnTo>
                  <a:cubicBezTo>
                    <a:pt x="2477421" y="0"/>
                    <a:pt x="2502811" y="10517"/>
                    <a:pt x="2521532" y="29237"/>
                  </a:cubicBezTo>
                  <a:cubicBezTo>
                    <a:pt x="2540252" y="47958"/>
                    <a:pt x="2550769" y="73348"/>
                    <a:pt x="2550769" y="99823"/>
                  </a:cubicBezTo>
                  <a:lnTo>
                    <a:pt x="2550769" y="710103"/>
                  </a:lnTo>
                  <a:cubicBezTo>
                    <a:pt x="2550769" y="736578"/>
                    <a:pt x="2540252" y="761968"/>
                    <a:pt x="2521532" y="780688"/>
                  </a:cubicBezTo>
                  <a:cubicBezTo>
                    <a:pt x="2502811" y="799409"/>
                    <a:pt x="2477421" y="809926"/>
                    <a:pt x="2450946" y="809926"/>
                  </a:cubicBezTo>
                  <a:lnTo>
                    <a:pt x="99823" y="809926"/>
                  </a:lnTo>
                  <a:cubicBezTo>
                    <a:pt x="73348" y="809926"/>
                    <a:pt x="47958" y="799409"/>
                    <a:pt x="29237" y="780688"/>
                  </a:cubicBezTo>
                  <a:cubicBezTo>
                    <a:pt x="10517" y="761968"/>
                    <a:pt x="0" y="736578"/>
                    <a:pt x="0" y="710103"/>
                  </a:cubicBezTo>
                  <a:lnTo>
                    <a:pt x="0" y="99823"/>
                  </a:lnTo>
                  <a:cubicBezTo>
                    <a:pt x="0" y="73348"/>
                    <a:pt x="10517" y="47958"/>
                    <a:pt x="29237" y="29237"/>
                  </a:cubicBezTo>
                  <a:cubicBezTo>
                    <a:pt x="47958" y="10517"/>
                    <a:pt x="73348" y="0"/>
                    <a:pt x="99823" y="0"/>
                  </a:cubicBezTo>
                  <a:close/>
                </a:path>
              </a:pathLst>
            </a:custGeom>
            <a:ln w="28575" cap="rnd">
              <a:solidFill>
                <a:srgbClr val="1D3163"/>
              </a:solidFill>
              <a:prstDash val="solid"/>
              <a:round/>
            </a:ln>
          </p:spPr>
        </p:sp>
        <p:sp>
          <p:nvSpPr>
            <p:cNvPr id="12" name="TextBox 12"/>
            <p:cNvSpPr txBox="1"/>
            <p:nvPr/>
          </p:nvSpPr>
          <p:spPr>
            <a:xfrm>
              <a:off x="0" y="-28575"/>
              <a:ext cx="2550769" cy="838501"/>
            </a:xfrm>
            <a:prstGeom prst="rect">
              <a:avLst/>
            </a:prstGeom>
          </p:spPr>
          <p:txBody>
            <a:bodyPr lIns="48911" tIns="48911" rIns="48911" bIns="48911" rtlCol="0" anchor="ctr"/>
            <a:lstStyle/>
            <a:p>
              <a:pPr algn="ctr">
                <a:lnSpc>
                  <a:spcPts val="2660"/>
                </a:lnSpc>
                <a:spcBef>
                  <a:spcPct val="0"/>
                </a:spcBef>
              </a:pPr>
              <a:endParaRPr/>
            </a:p>
          </p:txBody>
        </p:sp>
      </p:grpSp>
      <p:sp>
        <p:nvSpPr>
          <p:cNvPr id="13" name="Freeform 13"/>
          <p:cNvSpPr/>
          <p:nvPr/>
        </p:nvSpPr>
        <p:spPr>
          <a:xfrm>
            <a:off x="5149216" y="2947811"/>
            <a:ext cx="6467374" cy="4591835"/>
          </a:xfrm>
          <a:custGeom>
            <a:avLst/>
            <a:gdLst/>
            <a:ahLst/>
            <a:cxnLst/>
            <a:rect l="l" t="t" r="r" b="b"/>
            <a:pathLst>
              <a:path w="6467374" h="4591835">
                <a:moveTo>
                  <a:pt x="0" y="0"/>
                </a:moveTo>
                <a:lnTo>
                  <a:pt x="6467374" y="0"/>
                </a:lnTo>
                <a:lnTo>
                  <a:pt x="6467374" y="4591836"/>
                </a:lnTo>
                <a:lnTo>
                  <a:pt x="0" y="4591836"/>
                </a:lnTo>
                <a:lnTo>
                  <a:pt x="0" y="0"/>
                </a:lnTo>
                <a:close/>
              </a:path>
            </a:pathLst>
          </a:custGeom>
          <a:blipFill>
            <a:blip r:embed="rId6"/>
            <a:stretch>
              <a:fillRect/>
            </a:stretch>
          </a:blipFill>
        </p:spPr>
      </p:sp>
      <p:sp>
        <p:nvSpPr>
          <p:cNvPr id="14" name="Freeform 14"/>
          <p:cNvSpPr/>
          <p:nvPr/>
        </p:nvSpPr>
        <p:spPr>
          <a:xfrm>
            <a:off x="11926232" y="3014355"/>
            <a:ext cx="5879455" cy="4648156"/>
          </a:xfrm>
          <a:custGeom>
            <a:avLst/>
            <a:gdLst/>
            <a:ahLst/>
            <a:cxnLst/>
            <a:rect l="l" t="t" r="r" b="b"/>
            <a:pathLst>
              <a:path w="5879455" h="4648156">
                <a:moveTo>
                  <a:pt x="0" y="0"/>
                </a:moveTo>
                <a:lnTo>
                  <a:pt x="5879455" y="0"/>
                </a:lnTo>
                <a:lnTo>
                  <a:pt x="5879455" y="4648156"/>
                </a:lnTo>
                <a:lnTo>
                  <a:pt x="0" y="4648156"/>
                </a:lnTo>
                <a:lnTo>
                  <a:pt x="0" y="0"/>
                </a:lnTo>
                <a:close/>
              </a:path>
            </a:pathLst>
          </a:custGeom>
          <a:blipFill>
            <a:blip r:embed="rId7"/>
            <a:stretch>
              <a:fillRect/>
            </a:stretch>
          </a:blipFill>
        </p:spPr>
      </p:sp>
      <p:sp>
        <p:nvSpPr>
          <p:cNvPr id="15" name="TextBox 15"/>
          <p:cNvSpPr txBox="1"/>
          <p:nvPr/>
        </p:nvSpPr>
        <p:spPr>
          <a:xfrm>
            <a:off x="1024640" y="3694058"/>
            <a:ext cx="2776938" cy="3332152"/>
          </a:xfrm>
          <a:prstGeom prst="rect">
            <a:avLst/>
          </a:prstGeom>
        </p:spPr>
        <p:txBody>
          <a:bodyPr lIns="0" tIns="0" rIns="0" bIns="0" rtlCol="0" anchor="t">
            <a:spAutoFit/>
          </a:bodyPr>
          <a:lstStyle/>
          <a:p>
            <a:pPr algn="just">
              <a:lnSpc>
                <a:spcPts val="2987"/>
              </a:lnSpc>
              <a:spcBef>
                <a:spcPct val="0"/>
              </a:spcBef>
            </a:pPr>
            <a:r>
              <a:rPr lang="en-US" sz="2133" b="1" spc="-76">
                <a:solidFill>
                  <a:srgbClr val="1D3163"/>
                </a:solidFill>
                <a:latin typeface="Quicksand Bold"/>
                <a:ea typeface="Quicksand Bold"/>
                <a:cs typeface="Quicksand Bold"/>
                <a:sym typeface="Quicksand Bold"/>
              </a:rPr>
              <a:t>Le modèle Random Forest fonctionne en construisant une forêt d'arbres de décision où chaque arbre vote pour une prédiction, et le résultat final est la moyenne de tous les arbres.</a:t>
            </a:r>
          </a:p>
        </p:txBody>
      </p:sp>
      <p:sp>
        <p:nvSpPr>
          <p:cNvPr id="16" name="TextBox 16"/>
          <p:cNvSpPr txBox="1"/>
          <p:nvPr/>
        </p:nvSpPr>
        <p:spPr>
          <a:xfrm>
            <a:off x="6652086" y="7823831"/>
            <a:ext cx="7232407" cy="2101850"/>
          </a:xfrm>
          <a:prstGeom prst="rect">
            <a:avLst/>
          </a:prstGeom>
        </p:spPr>
        <p:txBody>
          <a:bodyPr lIns="0" tIns="0" rIns="0" bIns="0" rtlCol="0" anchor="t">
            <a:spAutoFit/>
          </a:bodyPr>
          <a:lstStyle/>
          <a:p>
            <a:pPr algn="l">
              <a:lnSpc>
                <a:spcPts val="2799"/>
              </a:lnSpc>
            </a:pPr>
            <a:r>
              <a:rPr lang="en-US" sz="1999" b="1">
                <a:solidFill>
                  <a:srgbClr val="1D3163"/>
                </a:solidFill>
                <a:latin typeface="Quicksand Bold"/>
                <a:ea typeface="Quicksand Bold"/>
                <a:cs typeface="Quicksand Bold"/>
                <a:sym typeface="Quicksand Bold"/>
              </a:rPr>
              <a:t>Les features sélectionnées : ratio_feminisation, log_taille, efficacite_F, efficacite_M, ecart_genre</a:t>
            </a:r>
          </a:p>
          <a:p>
            <a:pPr algn="l">
              <a:lnSpc>
                <a:spcPts val="2799"/>
              </a:lnSpc>
            </a:pPr>
            <a:r>
              <a:rPr lang="en-US" sz="1999" b="1">
                <a:solidFill>
                  <a:srgbClr val="1D3163"/>
                </a:solidFill>
                <a:latin typeface="Quicksand Bold"/>
                <a:ea typeface="Quicksand Bold"/>
                <a:cs typeface="Quicksand Bold"/>
                <a:sym typeface="Quicksand Bold"/>
              </a:rPr>
              <a:t>Les features supprimées : les codes d'identification (université, établissement, domaine) pour éviter le sur-apprentissage</a:t>
            </a:r>
          </a:p>
          <a:p>
            <a:pPr algn="l">
              <a:lnSpc>
                <a:spcPts val="2799"/>
              </a:lnSpc>
            </a:pPr>
            <a:endParaRPr lang="en-US" sz="1999" b="1">
              <a:solidFill>
                <a:srgbClr val="1D3163"/>
              </a:solidFill>
              <a:latin typeface="Quicksand Bold"/>
              <a:ea typeface="Quicksand Bold"/>
              <a:cs typeface="Quicksand Bold"/>
              <a:sym typeface="Quicksand Bo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sp>
        <p:nvSpPr>
          <p:cNvPr id="2" name="Freeform 2"/>
          <p:cNvSpPr/>
          <p:nvPr/>
        </p:nvSpPr>
        <p:spPr>
          <a:xfrm rot="715246">
            <a:off x="12993540" y="-2095015"/>
            <a:ext cx="6727323" cy="4586811"/>
          </a:xfrm>
          <a:custGeom>
            <a:avLst/>
            <a:gdLst/>
            <a:ahLst/>
            <a:cxnLst/>
            <a:rect l="l" t="t" r="r" b="b"/>
            <a:pathLst>
              <a:path w="6727323" h="4586811">
                <a:moveTo>
                  <a:pt x="0" y="0"/>
                </a:moveTo>
                <a:lnTo>
                  <a:pt x="6727323" y="0"/>
                </a:lnTo>
                <a:lnTo>
                  <a:pt x="6727323" y="4586812"/>
                </a:lnTo>
                <a:lnTo>
                  <a:pt x="0" y="4586812"/>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3" name="Freeform 3"/>
          <p:cNvSpPr/>
          <p:nvPr/>
        </p:nvSpPr>
        <p:spPr>
          <a:xfrm rot="635325">
            <a:off x="-1442576" y="8071855"/>
            <a:ext cx="7907020" cy="6699403"/>
          </a:xfrm>
          <a:custGeom>
            <a:avLst/>
            <a:gdLst/>
            <a:ahLst/>
            <a:cxnLst/>
            <a:rect l="l" t="t" r="r" b="b"/>
            <a:pathLst>
              <a:path w="7907020" h="6699403">
                <a:moveTo>
                  <a:pt x="0" y="0"/>
                </a:moveTo>
                <a:lnTo>
                  <a:pt x="7907020" y="0"/>
                </a:lnTo>
                <a:lnTo>
                  <a:pt x="7907020" y="6699403"/>
                </a:lnTo>
                <a:lnTo>
                  <a:pt x="0" y="669940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4" name="Freeform 4"/>
          <p:cNvSpPr/>
          <p:nvPr/>
        </p:nvSpPr>
        <p:spPr>
          <a:xfrm rot="-226878">
            <a:off x="-267547" y="148087"/>
            <a:ext cx="4576141" cy="2579280"/>
          </a:xfrm>
          <a:custGeom>
            <a:avLst/>
            <a:gdLst/>
            <a:ahLst/>
            <a:cxnLst/>
            <a:rect l="l" t="t" r="r" b="b"/>
            <a:pathLst>
              <a:path w="4576141" h="2579280">
                <a:moveTo>
                  <a:pt x="0" y="0"/>
                </a:moveTo>
                <a:lnTo>
                  <a:pt x="4576141" y="0"/>
                </a:lnTo>
                <a:lnTo>
                  <a:pt x="4576141" y="2579280"/>
                </a:lnTo>
                <a:lnTo>
                  <a:pt x="0" y="257928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rot="1175026">
            <a:off x="16376299" y="7891685"/>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8" name="TextBox 8"/>
          <p:cNvSpPr txBox="1"/>
          <p:nvPr/>
        </p:nvSpPr>
        <p:spPr>
          <a:xfrm>
            <a:off x="3946987" y="888134"/>
            <a:ext cx="15262494" cy="1280160"/>
          </a:xfrm>
          <a:prstGeom prst="rect">
            <a:avLst/>
          </a:prstGeom>
        </p:spPr>
        <p:txBody>
          <a:bodyPr lIns="0" tIns="0" rIns="0" bIns="0" rtlCol="0" anchor="t">
            <a:spAutoFit/>
          </a:bodyPr>
          <a:lstStyle/>
          <a:p>
            <a:pPr algn="ctr">
              <a:lnSpc>
                <a:spcPts val="8640"/>
              </a:lnSpc>
            </a:pPr>
            <a:r>
              <a:rPr lang="en-US" sz="9600" b="1">
                <a:solidFill>
                  <a:srgbClr val="2D2261"/>
                </a:solidFill>
                <a:latin typeface="Poppins Bold"/>
                <a:ea typeface="Poppins Bold"/>
                <a:cs typeface="Poppins Bold"/>
                <a:sym typeface="Poppins Bold"/>
              </a:rPr>
              <a:t>Application Développée</a:t>
            </a:r>
          </a:p>
        </p:txBody>
      </p:sp>
      <p:sp>
        <p:nvSpPr>
          <p:cNvPr id="9" name="TextBox 9"/>
          <p:cNvSpPr txBox="1"/>
          <p:nvPr/>
        </p:nvSpPr>
        <p:spPr>
          <a:xfrm>
            <a:off x="4201774" y="2212946"/>
            <a:ext cx="15262494" cy="2375535"/>
          </a:xfrm>
          <a:prstGeom prst="rect">
            <a:avLst/>
          </a:prstGeom>
        </p:spPr>
        <p:txBody>
          <a:bodyPr lIns="0" tIns="0" rIns="0" bIns="0" rtlCol="0" anchor="t">
            <a:spAutoFit/>
          </a:bodyPr>
          <a:lstStyle/>
          <a:p>
            <a:pPr algn="ctr">
              <a:lnSpc>
                <a:spcPts val="8640"/>
              </a:lnSpc>
            </a:pPr>
            <a:r>
              <a:rPr lang="en-US" sz="9600" b="1">
                <a:solidFill>
                  <a:srgbClr val="2D2261"/>
                </a:solidFill>
                <a:latin typeface="Poppins Bold"/>
                <a:ea typeface="Poppins Bold"/>
                <a:cs typeface="Poppins Bold"/>
                <a:sym typeface="Poppins Bold"/>
              </a:rPr>
              <a:t>Conclusion ET Perspectives</a:t>
            </a:r>
          </a:p>
        </p:txBody>
      </p:sp>
      <p:pic>
        <p:nvPicPr>
          <p:cNvPr id="11" name="Image 10">
            <a:extLst>
              <a:ext uri="{FF2B5EF4-FFF2-40B4-BE49-F238E27FC236}">
                <a16:creationId xmlns:a16="http://schemas.microsoft.com/office/drawing/2014/main" id="{98A3B277-18A7-13C6-2B8C-EDA6A080AEEF}"/>
              </a:ext>
            </a:extLst>
          </p:cNvPr>
          <p:cNvPicPr>
            <a:picLocks noChangeAspect="1"/>
          </p:cNvPicPr>
          <p:nvPr/>
        </p:nvPicPr>
        <p:blipFill>
          <a:blip r:embed="rId6"/>
          <a:stretch>
            <a:fillRect/>
          </a:stretch>
        </p:blipFill>
        <p:spPr>
          <a:xfrm>
            <a:off x="394723" y="3763588"/>
            <a:ext cx="7086600" cy="3206024"/>
          </a:xfrm>
          <a:prstGeom prst="rect">
            <a:avLst/>
          </a:prstGeom>
        </p:spPr>
      </p:pic>
      <p:pic>
        <p:nvPicPr>
          <p:cNvPr id="13" name="Image 12">
            <a:extLst>
              <a:ext uri="{FF2B5EF4-FFF2-40B4-BE49-F238E27FC236}">
                <a16:creationId xmlns:a16="http://schemas.microsoft.com/office/drawing/2014/main" id="{D79CA44D-3631-7D93-CE54-42E4AE8C4B82}"/>
              </a:ext>
            </a:extLst>
          </p:cNvPr>
          <p:cNvPicPr>
            <a:picLocks noChangeAspect="1"/>
          </p:cNvPicPr>
          <p:nvPr/>
        </p:nvPicPr>
        <p:blipFill>
          <a:blip r:embed="rId7"/>
          <a:stretch>
            <a:fillRect/>
          </a:stretch>
        </p:blipFill>
        <p:spPr>
          <a:xfrm>
            <a:off x="370910" y="7133803"/>
            <a:ext cx="7925573" cy="3119859"/>
          </a:xfrm>
          <a:prstGeom prst="rect">
            <a:avLst/>
          </a:prstGeom>
        </p:spPr>
      </p:pic>
      <p:pic>
        <p:nvPicPr>
          <p:cNvPr id="15" name="Image 14">
            <a:extLst>
              <a:ext uri="{FF2B5EF4-FFF2-40B4-BE49-F238E27FC236}">
                <a16:creationId xmlns:a16="http://schemas.microsoft.com/office/drawing/2014/main" id="{508560A7-3895-C453-308D-602F62D29A18}"/>
              </a:ext>
            </a:extLst>
          </p:cNvPr>
          <p:cNvPicPr>
            <a:picLocks noChangeAspect="1"/>
          </p:cNvPicPr>
          <p:nvPr/>
        </p:nvPicPr>
        <p:blipFill>
          <a:blip r:embed="rId8"/>
          <a:stretch>
            <a:fillRect/>
          </a:stretch>
        </p:blipFill>
        <p:spPr>
          <a:xfrm>
            <a:off x="9374358" y="4870872"/>
            <a:ext cx="6644867" cy="50630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sp>
        <p:nvSpPr>
          <p:cNvPr id="2" name="Freeform 2"/>
          <p:cNvSpPr/>
          <p:nvPr/>
        </p:nvSpPr>
        <p:spPr>
          <a:xfrm rot="1026841">
            <a:off x="13266207" y="-2293406"/>
            <a:ext cx="6727323" cy="4586811"/>
          </a:xfrm>
          <a:custGeom>
            <a:avLst/>
            <a:gdLst/>
            <a:ahLst/>
            <a:cxnLst/>
            <a:rect l="l" t="t" r="r" b="b"/>
            <a:pathLst>
              <a:path w="6727323" h="4586811">
                <a:moveTo>
                  <a:pt x="0" y="0"/>
                </a:moveTo>
                <a:lnTo>
                  <a:pt x="6727323" y="0"/>
                </a:lnTo>
                <a:lnTo>
                  <a:pt x="6727323" y="4586812"/>
                </a:lnTo>
                <a:lnTo>
                  <a:pt x="0" y="4586812"/>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3" name="Freeform 3"/>
          <p:cNvSpPr/>
          <p:nvPr/>
        </p:nvSpPr>
        <p:spPr>
          <a:xfrm rot="635325">
            <a:off x="-1442576" y="8071855"/>
            <a:ext cx="7907020" cy="6699403"/>
          </a:xfrm>
          <a:custGeom>
            <a:avLst/>
            <a:gdLst/>
            <a:ahLst/>
            <a:cxnLst/>
            <a:rect l="l" t="t" r="r" b="b"/>
            <a:pathLst>
              <a:path w="7907020" h="6699403">
                <a:moveTo>
                  <a:pt x="0" y="0"/>
                </a:moveTo>
                <a:lnTo>
                  <a:pt x="7907020" y="0"/>
                </a:lnTo>
                <a:lnTo>
                  <a:pt x="7907020" y="6699403"/>
                </a:lnTo>
                <a:lnTo>
                  <a:pt x="0" y="669940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4" name="Freeform 4"/>
          <p:cNvSpPr/>
          <p:nvPr/>
        </p:nvSpPr>
        <p:spPr>
          <a:xfrm rot="-226878">
            <a:off x="-267547" y="148087"/>
            <a:ext cx="4576141" cy="2579280"/>
          </a:xfrm>
          <a:custGeom>
            <a:avLst/>
            <a:gdLst/>
            <a:ahLst/>
            <a:cxnLst/>
            <a:rect l="l" t="t" r="r" b="b"/>
            <a:pathLst>
              <a:path w="4576141" h="2579280">
                <a:moveTo>
                  <a:pt x="0" y="0"/>
                </a:moveTo>
                <a:lnTo>
                  <a:pt x="4576141" y="0"/>
                </a:lnTo>
                <a:lnTo>
                  <a:pt x="4576141" y="2579280"/>
                </a:lnTo>
                <a:lnTo>
                  <a:pt x="0" y="257928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rot="2830696">
            <a:off x="14939466" y="8144946"/>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6" name="Group 6"/>
          <p:cNvGrpSpPr/>
          <p:nvPr/>
        </p:nvGrpSpPr>
        <p:grpSpPr>
          <a:xfrm>
            <a:off x="2308813" y="5073763"/>
            <a:ext cx="5437433" cy="903413"/>
            <a:chOff x="0" y="0"/>
            <a:chExt cx="1875156" cy="311552"/>
          </a:xfrm>
        </p:grpSpPr>
        <p:sp>
          <p:nvSpPr>
            <p:cNvPr id="7" name="Freeform 7"/>
            <p:cNvSpPr/>
            <p:nvPr/>
          </p:nvSpPr>
          <p:spPr>
            <a:xfrm>
              <a:off x="0" y="0"/>
              <a:ext cx="1875156" cy="311552"/>
            </a:xfrm>
            <a:custGeom>
              <a:avLst/>
              <a:gdLst/>
              <a:ahLst/>
              <a:cxnLst/>
              <a:rect l="l" t="t" r="r" b="b"/>
              <a:pathLst>
                <a:path w="1875156" h="311552">
                  <a:moveTo>
                    <a:pt x="113906" y="0"/>
                  </a:moveTo>
                  <a:lnTo>
                    <a:pt x="1761251" y="0"/>
                  </a:lnTo>
                  <a:cubicBezTo>
                    <a:pt x="1791461" y="0"/>
                    <a:pt x="1820433" y="12001"/>
                    <a:pt x="1841794" y="33362"/>
                  </a:cubicBezTo>
                  <a:cubicBezTo>
                    <a:pt x="1863156" y="54724"/>
                    <a:pt x="1875156" y="83696"/>
                    <a:pt x="1875156" y="113906"/>
                  </a:cubicBezTo>
                  <a:lnTo>
                    <a:pt x="1875156" y="197646"/>
                  </a:lnTo>
                  <a:cubicBezTo>
                    <a:pt x="1875156" y="260554"/>
                    <a:pt x="1824159" y="311552"/>
                    <a:pt x="1761251" y="311552"/>
                  </a:cubicBezTo>
                  <a:lnTo>
                    <a:pt x="113906" y="311552"/>
                  </a:lnTo>
                  <a:cubicBezTo>
                    <a:pt x="50997" y="311552"/>
                    <a:pt x="0" y="260554"/>
                    <a:pt x="0" y="197646"/>
                  </a:cubicBezTo>
                  <a:lnTo>
                    <a:pt x="0" y="113906"/>
                  </a:lnTo>
                  <a:cubicBezTo>
                    <a:pt x="0" y="50997"/>
                    <a:pt x="50997" y="0"/>
                    <a:pt x="113906" y="0"/>
                  </a:cubicBezTo>
                  <a:close/>
                </a:path>
              </a:pathLst>
            </a:custGeom>
            <a:solidFill>
              <a:srgbClr val="1C3675"/>
            </a:solidFill>
            <a:ln w="19050" cap="rnd">
              <a:solidFill>
                <a:srgbClr val="CCEBFF"/>
              </a:solidFill>
              <a:prstDash val="solid"/>
              <a:round/>
            </a:ln>
          </p:spPr>
        </p:sp>
        <p:sp>
          <p:nvSpPr>
            <p:cNvPr id="8" name="TextBox 8"/>
            <p:cNvSpPr txBox="1"/>
            <p:nvPr/>
          </p:nvSpPr>
          <p:spPr>
            <a:xfrm>
              <a:off x="0" y="-38100"/>
              <a:ext cx="1875156" cy="349652"/>
            </a:xfrm>
            <a:prstGeom prst="rect">
              <a:avLst/>
            </a:prstGeom>
          </p:spPr>
          <p:txBody>
            <a:bodyPr lIns="50800" tIns="50800" rIns="50800" bIns="50800" rtlCol="0" anchor="ctr"/>
            <a:lstStyle/>
            <a:p>
              <a:pPr algn="ctr">
                <a:lnSpc>
                  <a:spcPts val="2659"/>
                </a:lnSpc>
              </a:pPr>
              <a:endParaRPr/>
            </a:p>
          </p:txBody>
        </p:sp>
      </p:grpSp>
      <p:sp>
        <p:nvSpPr>
          <p:cNvPr id="9" name="Freeform 9"/>
          <p:cNvSpPr/>
          <p:nvPr/>
        </p:nvSpPr>
        <p:spPr>
          <a:xfrm>
            <a:off x="2399536" y="5228658"/>
            <a:ext cx="601927" cy="601927"/>
          </a:xfrm>
          <a:custGeom>
            <a:avLst/>
            <a:gdLst/>
            <a:ahLst/>
            <a:cxnLst/>
            <a:rect l="l" t="t" r="r" b="b"/>
            <a:pathLst>
              <a:path w="601927" h="601927">
                <a:moveTo>
                  <a:pt x="0" y="0"/>
                </a:moveTo>
                <a:lnTo>
                  <a:pt x="601926" y="0"/>
                </a:lnTo>
                <a:lnTo>
                  <a:pt x="601926" y="601927"/>
                </a:lnTo>
                <a:lnTo>
                  <a:pt x="0" y="601927"/>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10" name="Group 10"/>
          <p:cNvGrpSpPr/>
          <p:nvPr/>
        </p:nvGrpSpPr>
        <p:grpSpPr>
          <a:xfrm>
            <a:off x="2308813" y="6380011"/>
            <a:ext cx="5437433" cy="954041"/>
            <a:chOff x="0" y="0"/>
            <a:chExt cx="1875156" cy="329011"/>
          </a:xfrm>
        </p:grpSpPr>
        <p:sp>
          <p:nvSpPr>
            <p:cNvPr id="11" name="Freeform 11"/>
            <p:cNvSpPr/>
            <p:nvPr/>
          </p:nvSpPr>
          <p:spPr>
            <a:xfrm>
              <a:off x="0" y="0"/>
              <a:ext cx="1875156" cy="329011"/>
            </a:xfrm>
            <a:custGeom>
              <a:avLst/>
              <a:gdLst/>
              <a:ahLst/>
              <a:cxnLst/>
              <a:rect l="l" t="t" r="r" b="b"/>
              <a:pathLst>
                <a:path w="1875156" h="329011">
                  <a:moveTo>
                    <a:pt x="113906" y="0"/>
                  </a:moveTo>
                  <a:lnTo>
                    <a:pt x="1761251" y="0"/>
                  </a:lnTo>
                  <a:cubicBezTo>
                    <a:pt x="1791461" y="0"/>
                    <a:pt x="1820433" y="12001"/>
                    <a:pt x="1841794" y="33362"/>
                  </a:cubicBezTo>
                  <a:cubicBezTo>
                    <a:pt x="1863156" y="54724"/>
                    <a:pt x="1875156" y="83696"/>
                    <a:pt x="1875156" y="113906"/>
                  </a:cubicBezTo>
                  <a:lnTo>
                    <a:pt x="1875156" y="215106"/>
                  </a:lnTo>
                  <a:cubicBezTo>
                    <a:pt x="1875156" y="278014"/>
                    <a:pt x="1824159" y="329011"/>
                    <a:pt x="1761251" y="329011"/>
                  </a:cubicBezTo>
                  <a:lnTo>
                    <a:pt x="113906" y="329011"/>
                  </a:lnTo>
                  <a:cubicBezTo>
                    <a:pt x="50997" y="329011"/>
                    <a:pt x="0" y="278014"/>
                    <a:pt x="0" y="215106"/>
                  </a:cubicBezTo>
                  <a:lnTo>
                    <a:pt x="0" y="113906"/>
                  </a:lnTo>
                  <a:cubicBezTo>
                    <a:pt x="0" y="50997"/>
                    <a:pt x="50997" y="0"/>
                    <a:pt x="113906" y="0"/>
                  </a:cubicBezTo>
                  <a:close/>
                </a:path>
              </a:pathLst>
            </a:custGeom>
            <a:solidFill>
              <a:srgbClr val="1C3675"/>
            </a:solidFill>
            <a:ln w="19050" cap="rnd">
              <a:solidFill>
                <a:srgbClr val="CCEBFF"/>
              </a:solidFill>
              <a:prstDash val="solid"/>
              <a:round/>
            </a:ln>
          </p:spPr>
        </p:sp>
        <p:sp>
          <p:nvSpPr>
            <p:cNvPr id="12" name="TextBox 12"/>
            <p:cNvSpPr txBox="1"/>
            <p:nvPr/>
          </p:nvSpPr>
          <p:spPr>
            <a:xfrm>
              <a:off x="0" y="-38100"/>
              <a:ext cx="1875156" cy="367111"/>
            </a:xfrm>
            <a:prstGeom prst="rect">
              <a:avLst/>
            </a:prstGeom>
          </p:spPr>
          <p:txBody>
            <a:bodyPr lIns="50800" tIns="50800" rIns="50800" bIns="50800" rtlCol="0" anchor="ctr"/>
            <a:lstStyle/>
            <a:p>
              <a:pPr algn="ctr">
                <a:lnSpc>
                  <a:spcPts val="2659"/>
                </a:lnSpc>
              </a:pPr>
              <a:endParaRPr/>
            </a:p>
          </p:txBody>
        </p:sp>
      </p:grpSp>
      <p:sp>
        <p:nvSpPr>
          <p:cNvPr id="13" name="Freeform 13"/>
          <p:cNvSpPr/>
          <p:nvPr/>
        </p:nvSpPr>
        <p:spPr>
          <a:xfrm>
            <a:off x="2444555" y="6541986"/>
            <a:ext cx="601927" cy="601927"/>
          </a:xfrm>
          <a:custGeom>
            <a:avLst/>
            <a:gdLst/>
            <a:ahLst/>
            <a:cxnLst/>
            <a:rect l="l" t="t" r="r" b="b"/>
            <a:pathLst>
              <a:path w="601927" h="601927">
                <a:moveTo>
                  <a:pt x="0" y="0"/>
                </a:moveTo>
                <a:lnTo>
                  <a:pt x="601927" y="0"/>
                </a:lnTo>
                <a:lnTo>
                  <a:pt x="601927" y="601927"/>
                </a:lnTo>
                <a:lnTo>
                  <a:pt x="0" y="601927"/>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14" name="TextBox 14"/>
          <p:cNvSpPr txBox="1"/>
          <p:nvPr/>
        </p:nvSpPr>
        <p:spPr>
          <a:xfrm>
            <a:off x="3147694" y="5329546"/>
            <a:ext cx="4598551" cy="362051"/>
          </a:xfrm>
          <a:prstGeom prst="rect">
            <a:avLst/>
          </a:prstGeom>
        </p:spPr>
        <p:txBody>
          <a:bodyPr lIns="0" tIns="0" rIns="0" bIns="0" rtlCol="0" anchor="t">
            <a:spAutoFit/>
          </a:bodyPr>
          <a:lstStyle/>
          <a:p>
            <a:pPr algn="l">
              <a:lnSpc>
                <a:spcPts val="2993"/>
              </a:lnSpc>
            </a:pPr>
            <a:r>
              <a:rPr lang="en-US" sz="2138" b="1">
                <a:solidFill>
                  <a:srgbClr val="FFFFFF"/>
                </a:solidFill>
                <a:latin typeface="Quicksand Bold"/>
                <a:ea typeface="Quicksand Bold"/>
                <a:cs typeface="Quicksand Bold"/>
                <a:sym typeface="Quicksand Bold"/>
              </a:rPr>
              <a:t>Modèle performant</a:t>
            </a:r>
          </a:p>
        </p:txBody>
      </p:sp>
      <p:sp>
        <p:nvSpPr>
          <p:cNvPr id="15" name="TextBox 15"/>
          <p:cNvSpPr txBox="1"/>
          <p:nvPr/>
        </p:nvSpPr>
        <p:spPr>
          <a:xfrm>
            <a:off x="3192714" y="6612880"/>
            <a:ext cx="4553532" cy="362051"/>
          </a:xfrm>
          <a:prstGeom prst="rect">
            <a:avLst/>
          </a:prstGeom>
        </p:spPr>
        <p:txBody>
          <a:bodyPr lIns="0" tIns="0" rIns="0" bIns="0" rtlCol="0" anchor="t">
            <a:spAutoFit/>
          </a:bodyPr>
          <a:lstStyle/>
          <a:p>
            <a:pPr algn="l">
              <a:lnSpc>
                <a:spcPts val="2993"/>
              </a:lnSpc>
            </a:pPr>
            <a:r>
              <a:rPr lang="en-US" sz="2138" b="1">
                <a:solidFill>
                  <a:srgbClr val="FFFFFF"/>
                </a:solidFill>
                <a:latin typeface="Quicksand Bold"/>
                <a:ea typeface="Quicksand Bold"/>
                <a:cs typeface="Quicksand Bold"/>
                <a:sym typeface="Quicksand Bold"/>
              </a:rPr>
              <a:t> Application fonctionnelle</a:t>
            </a:r>
          </a:p>
        </p:txBody>
      </p:sp>
      <p:grpSp>
        <p:nvGrpSpPr>
          <p:cNvPr id="16" name="Group 16"/>
          <p:cNvGrpSpPr/>
          <p:nvPr/>
        </p:nvGrpSpPr>
        <p:grpSpPr>
          <a:xfrm>
            <a:off x="10295763" y="3889848"/>
            <a:ext cx="5633647" cy="752672"/>
            <a:chOff x="0" y="0"/>
            <a:chExt cx="1942823" cy="259567"/>
          </a:xfrm>
        </p:grpSpPr>
        <p:sp>
          <p:nvSpPr>
            <p:cNvPr id="17" name="Freeform 17"/>
            <p:cNvSpPr/>
            <p:nvPr/>
          </p:nvSpPr>
          <p:spPr>
            <a:xfrm>
              <a:off x="0" y="0"/>
              <a:ext cx="1942823" cy="259567"/>
            </a:xfrm>
            <a:custGeom>
              <a:avLst/>
              <a:gdLst/>
              <a:ahLst/>
              <a:cxnLst/>
              <a:rect l="l" t="t" r="r" b="b"/>
              <a:pathLst>
                <a:path w="1942823" h="259567">
                  <a:moveTo>
                    <a:pt x="109938" y="0"/>
                  </a:moveTo>
                  <a:lnTo>
                    <a:pt x="1832885" y="0"/>
                  </a:lnTo>
                  <a:cubicBezTo>
                    <a:pt x="1893602" y="0"/>
                    <a:pt x="1942823" y="49221"/>
                    <a:pt x="1942823" y="109938"/>
                  </a:cubicBezTo>
                  <a:lnTo>
                    <a:pt x="1942823" y="149629"/>
                  </a:lnTo>
                  <a:cubicBezTo>
                    <a:pt x="1942823" y="210346"/>
                    <a:pt x="1893602" y="259567"/>
                    <a:pt x="1832885" y="259567"/>
                  </a:cubicBezTo>
                  <a:lnTo>
                    <a:pt x="109938" y="259567"/>
                  </a:lnTo>
                  <a:cubicBezTo>
                    <a:pt x="80781" y="259567"/>
                    <a:pt x="52818" y="247984"/>
                    <a:pt x="32200" y="227367"/>
                  </a:cubicBezTo>
                  <a:cubicBezTo>
                    <a:pt x="11583" y="206749"/>
                    <a:pt x="0" y="178786"/>
                    <a:pt x="0" y="149629"/>
                  </a:cubicBezTo>
                  <a:lnTo>
                    <a:pt x="0" y="109938"/>
                  </a:lnTo>
                  <a:cubicBezTo>
                    <a:pt x="0" y="80781"/>
                    <a:pt x="11583" y="52818"/>
                    <a:pt x="32200" y="32200"/>
                  </a:cubicBezTo>
                  <a:cubicBezTo>
                    <a:pt x="52818" y="11583"/>
                    <a:pt x="80781" y="0"/>
                    <a:pt x="109938" y="0"/>
                  </a:cubicBezTo>
                  <a:close/>
                </a:path>
              </a:pathLst>
            </a:custGeom>
            <a:solidFill>
              <a:srgbClr val="1C3675"/>
            </a:solidFill>
            <a:ln w="19050" cap="rnd">
              <a:solidFill>
                <a:srgbClr val="CCEBFF"/>
              </a:solidFill>
              <a:prstDash val="solid"/>
              <a:round/>
            </a:ln>
          </p:spPr>
        </p:sp>
        <p:sp>
          <p:nvSpPr>
            <p:cNvPr id="18" name="TextBox 18"/>
            <p:cNvSpPr txBox="1"/>
            <p:nvPr/>
          </p:nvSpPr>
          <p:spPr>
            <a:xfrm>
              <a:off x="0" y="-38100"/>
              <a:ext cx="1942823" cy="297667"/>
            </a:xfrm>
            <a:prstGeom prst="rect">
              <a:avLst/>
            </a:prstGeom>
          </p:spPr>
          <p:txBody>
            <a:bodyPr lIns="50800" tIns="50800" rIns="50800" bIns="50800" rtlCol="0" anchor="ctr"/>
            <a:lstStyle/>
            <a:p>
              <a:pPr algn="ctr">
                <a:lnSpc>
                  <a:spcPts val="2659"/>
                </a:lnSpc>
              </a:pPr>
              <a:endParaRPr/>
            </a:p>
          </p:txBody>
        </p:sp>
      </p:grpSp>
      <p:sp>
        <p:nvSpPr>
          <p:cNvPr id="19" name="TextBox 19"/>
          <p:cNvSpPr txBox="1"/>
          <p:nvPr/>
        </p:nvSpPr>
        <p:spPr>
          <a:xfrm>
            <a:off x="11179664" y="4066108"/>
            <a:ext cx="3195331" cy="362051"/>
          </a:xfrm>
          <a:prstGeom prst="rect">
            <a:avLst/>
          </a:prstGeom>
        </p:spPr>
        <p:txBody>
          <a:bodyPr lIns="0" tIns="0" rIns="0" bIns="0" rtlCol="0" anchor="t">
            <a:spAutoFit/>
          </a:bodyPr>
          <a:lstStyle/>
          <a:p>
            <a:pPr algn="l">
              <a:lnSpc>
                <a:spcPts val="2993"/>
              </a:lnSpc>
            </a:pPr>
            <a:r>
              <a:rPr lang="en-US" sz="2138" b="1">
                <a:solidFill>
                  <a:srgbClr val="FFFFFF"/>
                </a:solidFill>
                <a:latin typeface="Quicksand Bold"/>
                <a:ea typeface="Quicksand Bold"/>
                <a:cs typeface="Quicksand Bold"/>
                <a:sym typeface="Quicksand Bold"/>
              </a:rPr>
              <a:t>Optimisation avancée</a:t>
            </a:r>
          </a:p>
        </p:txBody>
      </p:sp>
      <p:sp>
        <p:nvSpPr>
          <p:cNvPr id="20" name="TextBox 20"/>
          <p:cNvSpPr txBox="1"/>
          <p:nvPr/>
        </p:nvSpPr>
        <p:spPr>
          <a:xfrm>
            <a:off x="11528063" y="2787617"/>
            <a:ext cx="3169047" cy="979635"/>
          </a:xfrm>
          <a:prstGeom prst="rect">
            <a:avLst/>
          </a:prstGeom>
        </p:spPr>
        <p:txBody>
          <a:bodyPr lIns="0" tIns="0" rIns="0" bIns="0" rtlCol="0" anchor="t">
            <a:spAutoFit/>
          </a:bodyPr>
          <a:lstStyle/>
          <a:p>
            <a:pPr algn="ctr">
              <a:lnSpc>
                <a:spcPts val="7954"/>
              </a:lnSpc>
            </a:pPr>
            <a:r>
              <a:rPr lang="en-US" sz="5681">
                <a:solidFill>
                  <a:srgbClr val="9AB7FF"/>
                </a:solidFill>
                <a:latin typeface="Brittany"/>
                <a:ea typeface="Brittany"/>
                <a:cs typeface="Brittany"/>
                <a:sym typeface="Brittany"/>
              </a:rPr>
              <a:t>Perspectives</a:t>
            </a:r>
          </a:p>
        </p:txBody>
      </p:sp>
      <p:sp>
        <p:nvSpPr>
          <p:cNvPr id="21" name="Freeform 21"/>
          <p:cNvSpPr/>
          <p:nvPr/>
        </p:nvSpPr>
        <p:spPr>
          <a:xfrm>
            <a:off x="10430823" y="3965221"/>
            <a:ext cx="601927" cy="601927"/>
          </a:xfrm>
          <a:custGeom>
            <a:avLst/>
            <a:gdLst/>
            <a:ahLst/>
            <a:cxnLst/>
            <a:rect l="l" t="t" r="r" b="b"/>
            <a:pathLst>
              <a:path w="601927" h="601927">
                <a:moveTo>
                  <a:pt x="0" y="0"/>
                </a:moveTo>
                <a:lnTo>
                  <a:pt x="601927" y="0"/>
                </a:lnTo>
                <a:lnTo>
                  <a:pt x="601927" y="601926"/>
                </a:lnTo>
                <a:lnTo>
                  <a:pt x="0" y="601926"/>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22" name="Group 22"/>
          <p:cNvGrpSpPr/>
          <p:nvPr/>
        </p:nvGrpSpPr>
        <p:grpSpPr>
          <a:xfrm>
            <a:off x="10295763" y="4906362"/>
            <a:ext cx="5633647" cy="1053636"/>
            <a:chOff x="0" y="0"/>
            <a:chExt cx="1942823" cy="363357"/>
          </a:xfrm>
        </p:grpSpPr>
        <p:sp>
          <p:nvSpPr>
            <p:cNvPr id="23" name="Freeform 23"/>
            <p:cNvSpPr/>
            <p:nvPr/>
          </p:nvSpPr>
          <p:spPr>
            <a:xfrm>
              <a:off x="0" y="0"/>
              <a:ext cx="1942823" cy="363357"/>
            </a:xfrm>
            <a:custGeom>
              <a:avLst/>
              <a:gdLst/>
              <a:ahLst/>
              <a:cxnLst/>
              <a:rect l="l" t="t" r="r" b="b"/>
              <a:pathLst>
                <a:path w="1942823" h="363357">
                  <a:moveTo>
                    <a:pt x="109938" y="0"/>
                  </a:moveTo>
                  <a:lnTo>
                    <a:pt x="1832885" y="0"/>
                  </a:lnTo>
                  <a:cubicBezTo>
                    <a:pt x="1893602" y="0"/>
                    <a:pt x="1942823" y="49221"/>
                    <a:pt x="1942823" y="109938"/>
                  </a:cubicBezTo>
                  <a:lnTo>
                    <a:pt x="1942823" y="253419"/>
                  </a:lnTo>
                  <a:cubicBezTo>
                    <a:pt x="1942823" y="314136"/>
                    <a:pt x="1893602" y="363357"/>
                    <a:pt x="1832885" y="363357"/>
                  </a:cubicBezTo>
                  <a:lnTo>
                    <a:pt x="109938" y="363357"/>
                  </a:lnTo>
                  <a:cubicBezTo>
                    <a:pt x="80781" y="363357"/>
                    <a:pt x="52818" y="351775"/>
                    <a:pt x="32200" y="331157"/>
                  </a:cubicBezTo>
                  <a:cubicBezTo>
                    <a:pt x="11583" y="310540"/>
                    <a:pt x="0" y="282577"/>
                    <a:pt x="0" y="253419"/>
                  </a:cubicBezTo>
                  <a:lnTo>
                    <a:pt x="0" y="109938"/>
                  </a:lnTo>
                  <a:cubicBezTo>
                    <a:pt x="0" y="80781"/>
                    <a:pt x="11583" y="52818"/>
                    <a:pt x="32200" y="32200"/>
                  </a:cubicBezTo>
                  <a:cubicBezTo>
                    <a:pt x="52818" y="11583"/>
                    <a:pt x="80781" y="0"/>
                    <a:pt x="109938" y="0"/>
                  </a:cubicBezTo>
                  <a:close/>
                </a:path>
              </a:pathLst>
            </a:custGeom>
            <a:solidFill>
              <a:srgbClr val="1C3675"/>
            </a:solidFill>
            <a:ln w="19050" cap="rnd">
              <a:solidFill>
                <a:srgbClr val="CCEBFF"/>
              </a:solidFill>
              <a:prstDash val="solid"/>
              <a:round/>
            </a:ln>
          </p:spPr>
        </p:sp>
        <p:sp>
          <p:nvSpPr>
            <p:cNvPr id="24" name="TextBox 24"/>
            <p:cNvSpPr txBox="1"/>
            <p:nvPr/>
          </p:nvSpPr>
          <p:spPr>
            <a:xfrm>
              <a:off x="0" y="-38100"/>
              <a:ext cx="1942823" cy="401457"/>
            </a:xfrm>
            <a:prstGeom prst="rect">
              <a:avLst/>
            </a:prstGeom>
          </p:spPr>
          <p:txBody>
            <a:bodyPr lIns="50800" tIns="50800" rIns="50800" bIns="50800" rtlCol="0" anchor="ctr"/>
            <a:lstStyle/>
            <a:p>
              <a:pPr algn="ctr">
                <a:lnSpc>
                  <a:spcPts val="2659"/>
                </a:lnSpc>
              </a:pPr>
              <a:endParaRPr/>
            </a:p>
          </p:txBody>
        </p:sp>
      </p:grpSp>
      <p:sp>
        <p:nvSpPr>
          <p:cNvPr id="25" name="TextBox 25"/>
          <p:cNvSpPr txBox="1"/>
          <p:nvPr/>
        </p:nvSpPr>
        <p:spPr>
          <a:xfrm>
            <a:off x="11084414" y="5043970"/>
            <a:ext cx="4844996" cy="740318"/>
          </a:xfrm>
          <a:prstGeom prst="rect">
            <a:avLst/>
          </a:prstGeom>
        </p:spPr>
        <p:txBody>
          <a:bodyPr lIns="0" tIns="0" rIns="0" bIns="0" rtlCol="0" anchor="t">
            <a:spAutoFit/>
          </a:bodyPr>
          <a:lstStyle/>
          <a:p>
            <a:pPr algn="l">
              <a:lnSpc>
                <a:spcPts val="2993"/>
              </a:lnSpc>
            </a:pPr>
            <a:r>
              <a:rPr lang="en-US" sz="2138" b="1">
                <a:solidFill>
                  <a:srgbClr val="FFFFFF"/>
                </a:solidFill>
                <a:latin typeface="Quicksand Bold"/>
                <a:ea typeface="Quicksand Bold"/>
                <a:cs typeface="Quicksand Bold"/>
                <a:sym typeface="Quicksand Bold"/>
              </a:rPr>
              <a:t>Intégrer des données sur les enseignants</a:t>
            </a:r>
          </a:p>
        </p:txBody>
      </p:sp>
      <p:sp>
        <p:nvSpPr>
          <p:cNvPr id="26" name="Freeform 26"/>
          <p:cNvSpPr/>
          <p:nvPr/>
        </p:nvSpPr>
        <p:spPr>
          <a:xfrm>
            <a:off x="10430823" y="5132216"/>
            <a:ext cx="601927" cy="601927"/>
          </a:xfrm>
          <a:custGeom>
            <a:avLst/>
            <a:gdLst/>
            <a:ahLst/>
            <a:cxnLst/>
            <a:rect l="l" t="t" r="r" b="b"/>
            <a:pathLst>
              <a:path w="601927" h="601927">
                <a:moveTo>
                  <a:pt x="0" y="0"/>
                </a:moveTo>
                <a:lnTo>
                  <a:pt x="601927" y="0"/>
                </a:lnTo>
                <a:lnTo>
                  <a:pt x="601927" y="601927"/>
                </a:lnTo>
                <a:lnTo>
                  <a:pt x="0" y="601927"/>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27" name="Group 27"/>
          <p:cNvGrpSpPr/>
          <p:nvPr/>
        </p:nvGrpSpPr>
        <p:grpSpPr>
          <a:xfrm>
            <a:off x="10295763" y="6226698"/>
            <a:ext cx="5633647" cy="752672"/>
            <a:chOff x="0" y="0"/>
            <a:chExt cx="1942823" cy="259567"/>
          </a:xfrm>
        </p:grpSpPr>
        <p:sp>
          <p:nvSpPr>
            <p:cNvPr id="28" name="Freeform 28"/>
            <p:cNvSpPr/>
            <p:nvPr/>
          </p:nvSpPr>
          <p:spPr>
            <a:xfrm>
              <a:off x="0" y="0"/>
              <a:ext cx="1942823" cy="259567"/>
            </a:xfrm>
            <a:custGeom>
              <a:avLst/>
              <a:gdLst/>
              <a:ahLst/>
              <a:cxnLst/>
              <a:rect l="l" t="t" r="r" b="b"/>
              <a:pathLst>
                <a:path w="1942823" h="259567">
                  <a:moveTo>
                    <a:pt x="109938" y="0"/>
                  </a:moveTo>
                  <a:lnTo>
                    <a:pt x="1832885" y="0"/>
                  </a:lnTo>
                  <a:cubicBezTo>
                    <a:pt x="1893602" y="0"/>
                    <a:pt x="1942823" y="49221"/>
                    <a:pt x="1942823" y="109938"/>
                  </a:cubicBezTo>
                  <a:lnTo>
                    <a:pt x="1942823" y="149629"/>
                  </a:lnTo>
                  <a:cubicBezTo>
                    <a:pt x="1942823" y="210346"/>
                    <a:pt x="1893602" y="259567"/>
                    <a:pt x="1832885" y="259567"/>
                  </a:cubicBezTo>
                  <a:lnTo>
                    <a:pt x="109938" y="259567"/>
                  </a:lnTo>
                  <a:cubicBezTo>
                    <a:pt x="80781" y="259567"/>
                    <a:pt x="52818" y="247984"/>
                    <a:pt x="32200" y="227367"/>
                  </a:cubicBezTo>
                  <a:cubicBezTo>
                    <a:pt x="11583" y="206749"/>
                    <a:pt x="0" y="178786"/>
                    <a:pt x="0" y="149629"/>
                  </a:cubicBezTo>
                  <a:lnTo>
                    <a:pt x="0" y="109938"/>
                  </a:lnTo>
                  <a:cubicBezTo>
                    <a:pt x="0" y="80781"/>
                    <a:pt x="11583" y="52818"/>
                    <a:pt x="32200" y="32200"/>
                  </a:cubicBezTo>
                  <a:cubicBezTo>
                    <a:pt x="52818" y="11583"/>
                    <a:pt x="80781" y="0"/>
                    <a:pt x="109938" y="0"/>
                  </a:cubicBezTo>
                  <a:close/>
                </a:path>
              </a:pathLst>
            </a:custGeom>
            <a:solidFill>
              <a:srgbClr val="1C3675"/>
            </a:solidFill>
            <a:ln w="19050" cap="rnd">
              <a:solidFill>
                <a:srgbClr val="CCEBFF"/>
              </a:solidFill>
              <a:prstDash val="solid"/>
              <a:round/>
            </a:ln>
          </p:spPr>
        </p:sp>
        <p:sp>
          <p:nvSpPr>
            <p:cNvPr id="29" name="TextBox 29"/>
            <p:cNvSpPr txBox="1"/>
            <p:nvPr/>
          </p:nvSpPr>
          <p:spPr>
            <a:xfrm>
              <a:off x="0" y="-38100"/>
              <a:ext cx="1942823" cy="297667"/>
            </a:xfrm>
            <a:prstGeom prst="rect">
              <a:avLst/>
            </a:prstGeom>
          </p:spPr>
          <p:txBody>
            <a:bodyPr lIns="50800" tIns="50800" rIns="50800" bIns="50800" rtlCol="0" anchor="ctr"/>
            <a:lstStyle/>
            <a:p>
              <a:pPr algn="ctr">
                <a:lnSpc>
                  <a:spcPts val="2659"/>
                </a:lnSpc>
              </a:pPr>
              <a:endParaRPr/>
            </a:p>
          </p:txBody>
        </p:sp>
      </p:grpSp>
      <p:sp>
        <p:nvSpPr>
          <p:cNvPr id="30" name="TextBox 30"/>
          <p:cNvSpPr txBox="1"/>
          <p:nvPr/>
        </p:nvSpPr>
        <p:spPr>
          <a:xfrm>
            <a:off x="11179664" y="6402958"/>
            <a:ext cx="5520297" cy="355260"/>
          </a:xfrm>
          <a:prstGeom prst="rect">
            <a:avLst/>
          </a:prstGeom>
        </p:spPr>
        <p:txBody>
          <a:bodyPr lIns="0" tIns="0" rIns="0" bIns="0" rtlCol="0" anchor="t">
            <a:spAutoFit/>
          </a:bodyPr>
          <a:lstStyle/>
          <a:p>
            <a:pPr algn="l">
              <a:lnSpc>
                <a:spcPts val="2993"/>
              </a:lnSpc>
            </a:pPr>
            <a:r>
              <a:rPr lang="en-US" sz="2138" b="1">
                <a:solidFill>
                  <a:srgbClr val="FFFFFF"/>
                </a:solidFill>
                <a:latin typeface="Quicksand Bold"/>
                <a:ea typeface="Quicksand Bold"/>
                <a:cs typeface="Quicksand Bold"/>
                <a:sym typeface="Quicksand Bold"/>
              </a:rPr>
              <a:t>ajouter des indicateurs financiers</a:t>
            </a:r>
          </a:p>
        </p:txBody>
      </p:sp>
      <p:sp>
        <p:nvSpPr>
          <p:cNvPr id="31" name="Freeform 31"/>
          <p:cNvSpPr/>
          <p:nvPr/>
        </p:nvSpPr>
        <p:spPr>
          <a:xfrm>
            <a:off x="10430823" y="6302070"/>
            <a:ext cx="601927" cy="601927"/>
          </a:xfrm>
          <a:custGeom>
            <a:avLst/>
            <a:gdLst/>
            <a:ahLst/>
            <a:cxnLst/>
            <a:rect l="l" t="t" r="r" b="b"/>
            <a:pathLst>
              <a:path w="601927" h="601927">
                <a:moveTo>
                  <a:pt x="0" y="0"/>
                </a:moveTo>
                <a:lnTo>
                  <a:pt x="601927" y="0"/>
                </a:lnTo>
                <a:lnTo>
                  <a:pt x="601927" y="601927"/>
                </a:lnTo>
                <a:lnTo>
                  <a:pt x="0" y="601927"/>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2" name="TextBox 32"/>
          <p:cNvSpPr txBox="1"/>
          <p:nvPr/>
        </p:nvSpPr>
        <p:spPr>
          <a:xfrm>
            <a:off x="1777167" y="189426"/>
            <a:ext cx="16510833" cy="2375535"/>
          </a:xfrm>
          <a:prstGeom prst="rect">
            <a:avLst/>
          </a:prstGeom>
        </p:spPr>
        <p:txBody>
          <a:bodyPr lIns="0" tIns="0" rIns="0" bIns="0" rtlCol="0" anchor="t">
            <a:spAutoFit/>
          </a:bodyPr>
          <a:lstStyle/>
          <a:p>
            <a:pPr algn="ctr">
              <a:lnSpc>
                <a:spcPts val="8640"/>
              </a:lnSpc>
            </a:pPr>
            <a:r>
              <a:rPr lang="en-US" sz="9600" b="1">
                <a:solidFill>
                  <a:srgbClr val="2D2261"/>
                </a:solidFill>
                <a:latin typeface="Poppins Bold"/>
                <a:ea typeface="Poppins Bold"/>
                <a:cs typeface="Poppins Bold"/>
                <a:sym typeface="Poppins Bold"/>
              </a:rPr>
              <a:t>Conclusion ET Perspectives</a:t>
            </a:r>
          </a:p>
        </p:txBody>
      </p:sp>
      <p:sp>
        <p:nvSpPr>
          <p:cNvPr id="33" name="TextBox 33"/>
          <p:cNvSpPr txBox="1"/>
          <p:nvPr/>
        </p:nvSpPr>
        <p:spPr>
          <a:xfrm>
            <a:off x="2700499" y="4102436"/>
            <a:ext cx="3047434" cy="979635"/>
          </a:xfrm>
          <a:prstGeom prst="rect">
            <a:avLst/>
          </a:prstGeom>
        </p:spPr>
        <p:txBody>
          <a:bodyPr lIns="0" tIns="0" rIns="0" bIns="0" rtlCol="0" anchor="t">
            <a:spAutoFit/>
          </a:bodyPr>
          <a:lstStyle/>
          <a:p>
            <a:pPr algn="ctr">
              <a:lnSpc>
                <a:spcPts val="7954"/>
              </a:lnSpc>
            </a:pPr>
            <a:r>
              <a:rPr lang="en-US" sz="5681">
                <a:solidFill>
                  <a:srgbClr val="9AB7FF"/>
                </a:solidFill>
                <a:latin typeface="Brittany"/>
                <a:ea typeface="Brittany"/>
                <a:cs typeface="Brittany"/>
                <a:sym typeface="Brittany"/>
              </a:rPr>
              <a:t>Conclusion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CFE"/>
        </a:solidFill>
        <a:effectLst/>
      </p:bgPr>
    </p:bg>
    <p:spTree>
      <p:nvGrpSpPr>
        <p:cNvPr id="1" name=""/>
        <p:cNvGrpSpPr/>
        <p:nvPr/>
      </p:nvGrpSpPr>
      <p:grpSpPr>
        <a:xfrm>
          <a:off x="0" y="0"/>
          <a:ext cx="0" cy="0"/>
          <a:chOff x="0" y="0"/>
          <a:chExt cx="0" cy="0"/>
        </a:xfrm>
      </p:grpSpPr>
      <p:sp>
        <p:nvSpPr>
          <p:cNvPr id="2" name="Freeform 2"/>
          <p:cNvSpPr/>
          <p:nvPr/>
        </p:nvSpPr>
        <p:spPr>
          <a:xfrm rot="1026841">
            <a:off x="13266207" y="-2293406"/>
            <a:ext cx="6727323" cy="4586811"/>
          </a:xfrm>
          <a:custGeom>
            <a:avLst/>
            <a:gdLst/>
            <a:ahLst/>
            <a:cxnLst/>
            <a:rect l="l" t="t" r="r" b="b"/>
            <a:pathLst>
              <a:path w="6727323" h="4586811">
                <a:moveTo>
                  <a:pt x="0" y="0"/>
                </a:moveTo>
                <a:lnTo>
                  <a:pt x="6727323" y="0"/>
                </a:lnTo>
                <a:lnTo>
                  <a:pt x="6727323" y="4586812"/>
                </a:lnTo>
                <a:lnTo>
                  <a:pt x="0" y="4586812"/>
                </a:lnTo>
                <a:lnTo>
                  <a:pt x="0" y="0"/>
                </a:lnTo>
                <a:close/>
              </a:path>
            </a:pathLst>
          </a:custGeom>
          <a:blipFill>
            <a:blip>
              <a:alphaModFix amt="50000"/>
              <a:extLst>
                <a:ext uri="{96DAC541-7B7A-43D3-8B79-37D633B846F1}">
                  <asvg:svgBlip xmlns:asvg="http://schemas.microsoft.com/office/drawing/2016/SVG/main" r:embed="rId2"/>
                </a:ext>
              </a:extLst>
            </a:blip>
            <a:stretch>
              <a:fillRect/>
            </a:stretch>
          </a:blipFill>
        </p:spPr>
      </p:sp>
      <p:sp>
        <p:nvSpPr>
          <p:cNvPr id="3" name="Freeform 3"/>
          <p:cNvSpPr/>
          <p:nvPr/>
        </p:nvSpPr>
        <p:spPr>
          <a:xfrm rot="635325">
            <a:off x="-1442576" y="8071855"/>
            <a:ext cx="7907020" cy="6699403"/>
          </a:xfrm>
          <a:custGeom>
            <a:avLst/>
            <a:gdLst/>
            <a:ahLst/>
            <a:cxnLst/>
            <a:rect l="l" t="t" r="r" b="b"/>
            <a:pathLst>
              <a:path w="7907020" h="6699403">
                <a:moveTo>
                  <a:pt x="0" y="0"/>
                </a:moveTo>
                <a:lnTo>
                  <a:pt x="7907020" y="0"/>
                </a:lnTo>
                <a:lnTo>
                  <a:pt x="7907020" y="6699403"/>
                </a:lnTo>
                <a:lnTo>
                  <a:pt x="0" y="6699403"/>
                </a:lnTo>
                <a:lnTo>
                  <a:pt x="0" y="0"/>
                </a:lnTo>
                <a:close/>
              </a:path>
            </a:pathLst>
          </a:custGeom>
          <a:blipFill>
            <a:blip>
              <a:alphaModFix amt="50000"/>
              <a:extLst>
                <a:ext uri="{96DAC541-7B7A-43D3-8B79-37D633B846F1}">
                  <asvg:svgBlip xmlns:asvg="http://schemas.microsoft.com/office/drawing/2016/SVG/main" r:embed="rId3"/>
                </a:ext>
              </a:extLst>
            </a:blip>
            <a:stretch>
              <a:fillRect/>
            </a:stretch>
          </a:blipFill>
        </p:spPr>
      </p:sp>
      <p:sp>
        <p:nvSpPr>
          <p:cNvPr id="4" name="Freeform 4"/>
          <p:cNvSpPr/>
          <p:nvPr/>
        </p:nvSpPr>
        <p:spPr>
          <a:xfrm rot="-226878">
            <a:off x="-267547" y="148087"/>
            <a:ext cx="4576141" cy="2579280"/>
          </a:xfrm>
          <a:custGeom>
            <a:avLst/>
            <a:gdLst/>
            <a:ahLst/>
            <a:cxnLst/>
            <a:rect l="l" t="t" r="r" b="b"/>
            <a:pathLst>
              <a:path w="4576141" h="2579280">
                <a:moveTo>
                  <a:pt x="0" y="0"/>
                </a:moveTo>
                <a:lnTo>
                  <a:pt x="4576141" y="0"/>
                </a:lnTo>
                <a:lnTo>
                  <a:pt x="4576141" y="2579280"/>
                </a:lnTo>
                <a:lnTo>
                  <a:pt x="0" y="257928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5" name="Freeform 5"/>
          <p:cNvSpPr/>
          <p:nvPr/>
        </p:nvSpPr>
        <p:spPr>
          <a:xfrm rot="2830696">
            <a:off x="14939466" y="8144946"/>
            <a:ext cx="2835471" cy="4114800"/>
          </a:xfrm>
          <a:custGeom>
            <a:avLst/>
            <a:gdLst/>
            <a:ahLst/>
            <a:cxnLst/>
            <a:rect l="l" t="t" r="r" b="b"/>
            <a:pathLst>
              <a:path w="2835471" h="4114800">
                <a:moveTo>
                  <a:pt x="0" y="0"/>
                </a:moveTo>
                <a:lnTo>
                  <a:pt x="2835471" y="0"/>
                </a:lnTo>
                <a:lnTo>
                  <a:pt x="2835471" y="4114800"/>
                </a:lnTo>
                <a:lnTo>
                  <a:pt x="0" y="4114800"/>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6" name="Freeform 6"/>
          <p:cNvSpPr/>
          <p:nvPr/>
        </p:nvSpPr>
        <p:spPr>
          <a:xfrm>
            <a:off x="8454123" y="1715163"/>
            <a:ext cx="7777058" cy="5712603"/>
          </a:xfrm>
          <a:custGeom>
            <a:avLst/>
            <a:gdLst/>
            <a:ahLst/>
            <a:cxnLst/>
            <a:rect l="l" t="t" r="r" b="b"/>
            <a:pathLst>
              <a:path w="7777058" h="5712603">
                <a:moveTo>
                  <a:pt x="0" y="0"/>
                </a:moveTo>
                <a:lnTo>
                  <a:pt x="7777059" y="0"/>
                </a:lnTo>
                <a:lnTo>
                  <a:pt x="7777059" y="5712603"/>
                </a:lnTo>
                <a:lnTo>
                  <a:pt x="0" y="5712603"/>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7" name="TextBox 7"/>
          <p:cNvSpPr txBox="1"/>
          <p:nvPr/>
        </p:nvSpPr>
        <p:spPr>
          <a:xfrm>
            <a:off x="666651" y="3863340"/>
            <a:ext cx="7787472" cy="1280160"/>
          </a:xfrm>
          <a:prstGeom prst="rect">
            <a:avLst/>
          </a:prstGeom>
        </p:spPr>
        <p:txBody>
          <a:bodyPr lIns="0" tIns="0" rIns="0" bIns="0" rtlCol="0" anchor="t">
            <a:spAutoFit/>
          </a:bodyPr>
          <a:lstStyle/>
          <a:p>
            <a:pPr algn="ctr">
              <a:lnSpc>
                <a:spcPts val="8640"/>
              </a:lnSpc>
            </a:pPr>
            <a:r>
              <a:rPr lang="en-US" sz="9600" b="1">
                <a:solidFill>
                  <a:srgbClr val="2D2261"/>
                </a:solidFill>
                <a:latin typeface="Poppins Bold"/>
                <a:ea typeface="Poppins Bold"/>
                <a:cs typeface="Poppins Bold"/>
                <a:sym typeface="Poppins Bold"/>
              </a:rPr>
              <a:t>Merci!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395</Words>
  <Application>Microsoft Office PowerPoint</Application>
  <PresentationFormat>Personnalisé</PresentationFormat>
  <Paragraphs>66</Paragraphs>
  <Slides>9</Slides>
  <Notes>0</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9</vt:i4>
      </vt:variant>
    </vt:vector>
  </HeadingPairs>
  <TitlesOfParts>
    <vt:vector size="19" baseType="lpstr">
      <vt:lpstr>Red Hat Display Bold</vt:lpstr>
      <vt:lpstr>Arial</vt:lpstr>
      <vt:lpstr>Poppins</vt:lpstr>
      <vt:lpstr>Quicksand Bold</vt:lpstr>
      <vt:lpstr>Red Hat Display</vt:lpstr>
      <vt:lpstr>Bungee</vt:lpstr>
      <vt:lpstr>Poppins Bold</vt:lpstr>
      <vt:lpstr>Calibri</vt:lpstr>
      <vt:lpstr>Brittany</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Copie de Présentation AI PCOS</dc:title>
  <cp:lastModifiedBy>PC</cp:lastModifiedBy>
  <cp:revision>2</cp:revision>
  <dcterms:created xsi:type="dcterms:W3CDTF">2006-08-16T00:00:00Z</dcterms:created>
  <dcterms:modified xsi:type="dcterms:W3CDTF">2026-04-15T11:40:53Z</dcterms:modified>
  <dc:identifier>DAHG3fQAOzc</dc:identifier>
</cp:coreProperties>
</file>