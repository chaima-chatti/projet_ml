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Poppins" charset="1" panose="00000500000000000000"/>
      <p:regular r:id="rId15"/>
    </p:embeddedFont>
    <p:embeddedFont>
      <p:font typeface="Poppins Bold" charset="1" panose="00000800000000000000"/>
      <p:regular r:id="rId16"/>
    </p:embeddedFont>
    <p:embeddedFont>
      <p:font typeface="Red Hat Display" charset="1" panose="02010503040201060303"/>
      <p:regular r:id="rId17"/>
    </p:embeddedFont>
    <p:embeddedFont>
      <p:font typeface="Red Hat Display Bold" charset="1" panose="02010803040201060303"/>
      <p:regular r:id="rId18"/>
    </p:embeddedFont>
    <p:embeddedFont>
      <p:font typeface="Brittany" charset="1" panose="00000000000000000000"/>
      <p:regular r:id="rId19"/>
    </p:embeddedFont>
    <p:embeddedFont>
      <p:font typeface="Bungee" charset="1" panose="00000000000000000000"/>
      <p:regular r:id="rId20"/>
    </p:embeddedFont>
    <p:embeddedFont>
      <p:font typeface="Quicksand Bold" charset="1" panose="000000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1.png" Type="http://schemas.openxmlformats.org/officeDocument/2006/relationships/image"/><Relationship Id="rId7"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4.png" Type="http://schemas.openxmlformats.org/officeDocument/2006/relationships/image"/><Relationship Id="rId11" Target="../media/image15.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6.png" Type="http://schemas.openxmlformats.org/officeDocument/2006/relationships/image"/><Relationship Id="rId11" Target="../media/image17.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9868185" y="2136222"/>
            <a:ext cx="6925852" cy="6014556"/>
          </a:xfrm>
          <a:custGeom>
            <a:avLst/>
            <a:gdLst/>
            <a:ahLst/>
            <a:cxnLst/>
            <a:rect r="r" b="b" t="t" l="l"/>
            <a:pathLst>
              <a:path h="6014556" w="6925852">
                <a:moveTo>
                  <a:pt x="0" y="0"/>
                </a:moveTo>
                <a:lnTo>
                  <a:pt x="6925852" y="0"/>
                </a:lnTo>
                <a:lnTo>
                  <a:pt x="6925852" y="6014556"/>
                </a:lnTo>
                <a:lnTo>
                  <a:pt x="0" y="601455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635325">
            <a:off x="-1336143" y="700627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6">
              <a:alphaModFix amt="50000"/>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26878">
            <a:off x="-216283" y="847655"/>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7" id="7"/>
          <p:cNvSpPr txBox="true"/>
          <p:nvPr/>
        </p:nvSpPr>
        <p:spPr>
          <a:xfrm rot="0">
            <a:off x="1028700" y="6130650"/>
            <a:ext cx="5756398" cy="1048356"/>
          </a:xfrm>
          <a:prstGeom prst="rect">
            <a:avLst/>
          </a:prstGeom>
        </p:spPr>
        <p:txBody>
          <a:bodyPr anchor="t" rtlCol="false" tIns="0" lIns="0" bIns="0" rIns="0">
            <a:spAutoFit/>
          </a:bodyPr>
          <a:lstStyle/>
          <a:p>
            <a:pPr algn="l">
              <a:lnSpc>
                <a:spcPts val="4166"/>
              </a:lnSpc>
            </a:pPr>
            <a:r>
              <a:rPr lang="en-US" sz="2976">
                <a:solidFill>
                  <a:srgbClr val="5B7ABE"/>
                </a:solidFill>
                <a:latin typeface="Poppins"/>
                <a:ea typeface="Poppins"/>
                <a:cs typeface="Poppins"/>
                <a:sym typeface="Poppins"/>
              </a:rPr>
              <a:t>Présenté par : </a:t>
            </a:r>
          </a:p>
          <a:p>
            <a:pPr algn="l">
              <a:lnSpc>
                <a:spcPts val="4166"/>
              </a:lnSpc>
            </a:pPr>
            <a:r>
              <a:rPr lang="en-US" sz="2976">
                <a:solidFill>
                  <a:srgbClr val="5B7ABE"/>
                </a:solidFill>
                <a:latin typeface="Poppins"/>
                <a:ea typeface="Poppins"/>
                <a:cs typeface="Poppins"/>
                <a:sym typeface="Poppins"/>
              </a:rPr>
              <a:t>Chaima CHATTI</a:t>
            </a:r>
          </a:p>
        </p:txBody>
      </p:sp>
      <p:sp>
        <p:nvSpPr>
          <p:cNvPr name="TextBox 8" id="8"/>
          <p:cNvSpPr txBox="true"/>
          <p:nvPr/>
        </p:nvSpPr>
        <p:spPr>
          <a:xfrm rot="0">
            <a:off x="674650" y="3455022"/>
            <a:ext cx="8085979" cy="3319805"/>
          </a:xfrm>
          <a:prstGeom prst="rect">
            <a:avLst/>
          </a:prstGeom>
        </p:spPr>
        <p:txBody>
          <a:bodyPr anchor="t" rtlCol="false" tIns="0" lIns="0" bIns="0" rIns="0">
            <a:spAutoFit/>
          </a:bodyPr>
          <a:lstStyle/>
          <a:p>
            <a:pPr algn="l">
              <a:lnSpc>
                <a:spcPts val="5224"/>
              </a:lnSpc>
            </a:pPr>
            <a:r>
              <a:rPr lang="en-US" b="true" sz="4200">
                <a:solidFill>
                  <a:srgbClr val="2D2261"/>
                </a:solidFill>
                <a:latin typeface="Poppins Bold"/>
                <a:ea typeface="Poppins Bold"/>
                <a:cs typeface="Poppins Bold"/>
                <a:sym typeface="Poppins Bold"/>
              </a:rPr>
              <a:t>PRÉDICTI</a:t>
            </a:r>
            <a:r>
              <a:rPr lang="en-US" b="true" sz="4200">
                <a:solidFill>
                  <a:srgbClr val="2D2261"/>
                </a:solidFill>
                <a:latin typeface="Poppins Bold"/>
                <a:ea typeface="Poppins Bold"/>
                <a:cs typeface="Poppins Bold"/>
                <a:sym typeface="Poppins Bold"/>
              </a:rPr>
              <a:t>ON DU TAUX DE RÉUSSITE DES ÉTABLISSEMENTS UNIVERSITAIRES TUNISIENS</a:t>
            </a:r>
          </a:p>
          <a:p>
            <a:pPr algn="l">
              <a:lnSpc>
                <a:spcPts val="5224"/>
              </a:lnSpc>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652020" y="913561"/>
            <a:ext cx="8430282" cy="7797174"/>
            <a:chOff x="0" y="0"/>
            <a:chExt cx="2221782" cy="2054928"/>
          </a:xfrm>
        </p:grpSpPr>
        <p:sp>
          <p:nvSpPr>
            <p:cNvPr name="Freeform 3" id="3"/>
            <p:cNvSpPr/>
            <p:nvPr/>
          </p:nvSpPr>
          <p:spPr>
            <a:xfrm flipH="false" flipV="false" rot="0">
              <a:off x="0" y="0"/>
              <a:ext cx="2221782" cy="2054928"/>
            </a:xfrm>
            <a:custGeom>
              <a:avLst/>
              <a:gdLst/>
              <a:ahLst/>
              <a:cxnLst/>
              <a:rect r="r" b="b" t="t" l="l"/>
              <a:pathLst>
                <a:path h="2054928" w="2221782">
                  <a:moveTo>
                    <a:pt x="91835" y="0"/>
                  </a:moveTo>
                  <a:lnTo>
                    <a:pt x="2129948" y="0"/>
                  </a:lnTo>
                  <a:cubicBezTo>
                    <a:pt x="2180667" y="0"/>
                    <a:pt x="2221782" y="41116"/>
                    <a:pt x="2221782" y="91835"/>
                  </a:cubicBezTo>
                  <a:lnTo>
                    <a:pt x="2221782" y="1963094"/>
                  </a:lnTo>
                  <a:cubicBezTo>
                    <a:pt x="2221782" y="1987450"/>
                    <a:pt x="2212107" y="2010808"/>
                    <a:pt x="2194885" y="2028030"/>
                  </a:cubicBezTo>
                  <a:cubicBezTo>
                    <a:pt x="2177662" y="2045253"/>
                    <a:pt x="2154304" y="2054928"/>
                    <a:pt x="2129948" y="2054928"/>
                  </a:cubicBezTo>
                  <a:lnTo>
                    <a:pt x="91835" y="2054928"/>
                  </a:lnTo>
                  <a:cubicBezTo>
                    <a:pt x="41116" y="2054928"/>
                    <a:pt x="0" y="2013813"/>
                    <a:pt x="0" y="1963094"/>
                  </a:cubicBezTo>
                  <a:lnTo>
                    <a:pt x="0" y="91835"/>
                  </a:lnTo>
                  <a:cubicBezTo>
                    <a:pt x="0" y="67479"/>
                    <a:pt x="9675" y="44120"/>
                    <a:pt x="26898" y="26898"/>
                  </a:cubicBezTo>
                  <a:cubicBezTo>
                    <a:pt x="44120" y="9675"/>
                    <a:pt x="67479" y="0"/>
                    <a:pt x="91835" y="0"/>
                  </a:cubicBezTo>
                  <a:close/>
                </a:path>
              </a:pathLst>
            </a:custGeom>
            <a:ln w="19050" cap="rnd">
              <a:solidFill>
                <a:srgbClr val="FFFFFF"/>
              </a:solidFill>
              <a:prstDash val="solid"/>
              <a:round/>
            </a:ln>
          </p:spPr>
        </p:sp>
        <p:sp>
          <p:nvSpPr>
            <p:cNvPr name="TextBox 4" id="4"/>
            <p:cNvSpPr txBox="true"/>
            <p:nvPr/>
          </p:nvSpPr>
          <p:spPr>
            <a:xfrm>
              <a:off x="0" y="-38100"/>
              <a:ext cx="2221782" cy="2093028"/>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3370311" y="1436060"/>
            <a:ext cx="5774612" cy="726295"/>
            <a:chOff x="0" y="0"/>
            <a:chExt cx="1521886" cy="191414"/>
          </a:xfrm>
        </p:grpSpPr>
        <p:sp>
          <p:nvSpPr>
            <p:cNvPr name="Freeform 6" id="6"/>
            <p:cNvSpPr/>
            <p:nvPr/>
          </p:nvSpPr>
          <p:spPr>
            <a:xfrm flipH="false" flipV="false" rot="0">
              <a:off x="0" y="0"/>
              <a:ext cx="1521886" cy="191414"/>
            </a:xfrm>
            <a:custGeom>
              <a:avLst/>
              <a:gdLst/>
              <a:ahLst/>
              <a:cxnLst/>
              <a:rect r="r" b="b" t="t" l="l"/>
              <a:pathLst>
                <a:path h="191414" w="1521886">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name="TextBox 7" id="7"/>
            <p:cNvSpPr txBox="true"/>
            <p:nvPr/>
          </p:nvSpPr>
          <p:spPr>
            <a:xfrm>
              <a:off x="0" y="-38100"/>
              <a:ext cx="1521886"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2124772" y="1412247"/>
            <a:ext cx="717393" cy="773920"/>
            <a:chOff x="0" y="0"/>
            <a:chExt cx="753433" cy="812800"/>
          </a:xfrm>
        </p:grpSpPr>
        <p:sp>
          <p:nvSpPr>
            <p:cNvPr name="Freeform 9" id="9"/>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10" id="10"/>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1</a:t>
              </a:r>
            </a:p>
          </p:txBody>
        </p:sp>
      </p:grpSp>
      <p:sp>
        <p:nvSpPr>
          <p:cNvPr name="TextBox 11" id="11"/>
          <p:cNvSpPr txBox="true"/>
          <p:nvPr/>
        </p:nvSpPr>
        <p:spPr>
          <a:xfrm rot="0">
            <a:off x="3742509" y="1573736"/>
            <a:ext cx="4680974" cy="847725"/>
          </a:xfrm>
          <a:prstGeom prst="rect">
            <a:avLst/>
          </a:prstGeom>
        </p:spPr>
        <p:txBody>
          <a:bodyPr anchor="t" rtlCol="false" tIns="0" lIns="0" bIns="0" rIns="0">
            <a:spAutoFit/>
          </a:bodyPr>
          <a:lstStyle/>
          <a:p>
            <a:pPr algn="l">
              <a:lnSpc>
                <a:spcPts val="3237"/>
              </a:lnSpc>
            </a:pPr>
            <a:r>
              <a:rPr lang="en-US" sz="2698">
                <a:solidFill>
                  <a:srgbClr val="FBFCFE"/>
                </a:solidFill>
                <a:latin typeface="Poppins"/>
                <a:ea typeface="Poppins"/>
                <a:cs typeface="Poppins"/>
                <a:sym typeface="Poppins"/>
              </a:rPr>
              <a:t>Introduction et Contexte</a:t>
            </a:r>
          </a:p>
          <a:p>
            <a:pPr algn="l">
              <a:lnSpc>
                <a:spcPts val="3237"/>
              </a:lnSpc>
            </a:pPr>
          </a:p>
        </p:txBody>
      </p:sp>
      <p:sp>
        <p:nvSpPr>
          <p:cNvPr name="AutoShape 12" id="12"/>
          <p:cNvSpPr/>
          <p:nvPr/>
        </p:nvSpPr>
        <p:spPr>
          <a:xfrm>
            <a:off x="2730318" y="1807099"/>
            <a:ext cx="639993" cy="0"/>
          </a:xfrm>
          <a:prstGeom prst="line">
            <a:avLst/>
          </a:prstGeom>
          <a:ln cap="flat" w="38100">
            <a:solidFill>
              <a:srgbClr val="2D2261"/>
            </a:solidFill>
            <a:prstDash val="solid"/>
            <a:headEnd type="none" len="sm" w="sm"/>
            <a:tailEnd type="none" len="sm" w="sm"/>
          </a:ln>
        </p:spPr>
      </p:sp>
      <p:grpSp>
        <p:nvGrpSpPr>
          <p:cNvPr name="Group 13" id="13"/>
          <p:cNvGrpSpPr/>
          <p:nvPr/>
        </p:nvGrpSpPr>
        <p:grpSpPr>
          <a:xfrm rot="0">
            <a:off x="3370311" y="2391788"/>
            <a:ext cx="5774612" cy="726295"/>
            <a:chOff x="0" y="0"/>
            <a:chExt cx="1521886" cy="191414"/>
          </a:xfrm>
        </p:grpSpPr>
        <p:sp>
          <p:nvSpPr>
            <p:cNvPr name="Freeform 14" id="14"/>
            <p:cNvSpPr/>
            <p:nvPr/>
          </p:nvSpPr>
          <p:spPr>
            <a:xfrm flipH="false" flipV="false" rot="0">
              <a:off x="0" y="0"/>
              <a:ext cx="1521886" cy="191414"/>
            </a:xfrm>
            <a:custGeom>
              <a:avLst/>
              <a:gdLst/>
              <a:ahLst/>
              <a:cxnLst/>
              <a:rect r="r" b="b" t="t" l="l"/>
              <a:pathLst>
                <a:path h="191414" w="1521886">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name="TextBox 15" id="15"/>
            <p:cNvSpPr txBox="true"/>
            <p:nvPr/>
          </p:nvSpPr>
          <p:spPr>
            <a:xfrm>
              <a:off x="0" y="-38100"/>
              <a:ext cx="1521886"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124772" y="2367976"/>
            <a:ext cx="717393" cy="773920"/>
            <a:chOff x="0" y="0"/>
            <a:chExt cx="753433" cy="812800"/>
          </a:xfrm>
        </p:grpSpPr>
        <p:sp>
          <p:nvSpPr>
            <p:cNvPr name="Freeform 17" id="17"/>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18" id="18"/>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2</a:t>
              </a:r>
            </a:p>
          </p:txBody>
        </p:sp>
      </p:grpSp>
      <p:sp>
        <p:nvSpPr>
          <p:cNvPr name="TextBox 19" id="19"/>
          <p:cNvSpPr txBox="true"/>
          <p:nvPr/>
        </p:nvSpPr>
        <p:spPr>
          <a:xfrm rot="0">
            <a:off x="3684703" y="2548515"/>
            <a:ext cx="5331977" cy="352425"/>
          </a:xfrm>
          <a:prstGeom prst="rect">
            <a:avLst/>
          </a:prstGeom>
        </p:spPr>
        <p:txBody>
          <a:bodyPr anchor="t" rtlCol="false" tIns="0" lIns="0" bIns="0" rIns="0">
            <a:spAutoFit/>
          </a:bodyPr>
          <a:lstStyle/>
          <a:p>
            <a:pPr algn="l">
              <a:lnSpc>
                <a:spcPts val="2637"/>
              </a:lnSpc>
            </a:pPr>
            <a:r>
              <a:rPr lang="en-US" sz="2198">
                <a:solidFill>
                  <a:srgbClr val="FBFCFE"/>
                </a:solidFill>
                <a:latin typeface="Poppins"/>
                <a:ea typeface="Poppins"/>
                <a:cs typeface="Poppins"/>
                <a:sym typeface="Poppins"/>
              </a:rPr>
              <a:t>Choix et Démarche Méthodologique</a:t>
            </a:r>
          </a:p>
        </p:txBody>
      </p:sp>
      <p:sp>
        <p:nvSpPr>
          <p:cNvPr name="AutoShape 20" id="20"/>
          <p:cNvSpPr/>
          <p:nvPr/>
        </p:nvSpPr>
        <p:spPr>
          <a:xfrm>
            <a:off x="2730318" y="2762827"/>
            <a:ext cx="639993" cy="0"/>
          </a:xfrm>
          <a:prstGeom prst="line">
            <a:avLst/>
          </a:prstGeom>
          <a:ln cap="flat" w="38100">
            <a:solidFill>
              <a:srgbClr val="2D2261"/>
            </a:solidFill>
            <a:prstDash val="solid"/>
            <a:headEnd type="none" len="sm" w="sm"/>
            <a:tailEnd type="none" len="sm" w="sm"/>
          </a:ln>
        </p:spPr>
      </p:sp>
      <p:grpSp>
        <p:nvGrpSpPr>
          <p:cNvPr name="Group 21" id="21"/>
          <p:cNvGrpSpPr/>
          <p:nvPr/>
        </p:nvGrpSpPr>
        <p:grpSpPr>
          <a:xfrm rot="0">
            <a:off x="3370311" y="3485208"/>
            <a:ext cx="5774612" cy="726295"/>
            <a:chOff x="0" y="0"/>
            <a:chExt cx="1521886" cy="191414"/>
          </a:xfrm>
        </p:grpSpPr>
        <p:sp>
          <p:nvSpPr>
            <p:cNvPr name="Freeform 22" id="22"/>
            <p:cNvSpPr/>
            <p:nvPr/>
          </p:nvSpPr>
          <p:spPr>
            <a:xfrm flipH="false" flipV="false" rot="0">
              <a:off x="0" y="0"/>
              <a:ext cx="1521886" cy="191414"/>
            </a:xfrm>
            <a:custGeom>
              <a:avLst/>
              <a:gdLst/>
              <a:ahLst/>
              <a:cxnLst/>
              <a:rect r="r" b="b" t="t" l="l"/>
              <a:pathLst>
                <a:path h="191414" w="1521886">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name="TextBox 23" id="23"/>
            <p:cNvSpPr txBox="true"/>
            <p:nvPr/>
          </p:nvSpPr>
          <p:spPr>
            <a:xfrm>
              <a:off x="0" y="-38100"/>
              <a:ext cx="1521886"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24" id="24"/>
          <p:cNvGrpSpPr/>
          <p:nvPr/>
        </p:nvGrpSpPr>
        <p:grpSpPr>
          <a:xfrm rot="0">
            <a:off x="2124772" y="3461395"/>
            <a:ext cx="717393" cy="773920"/>
            <a:chOff x="0" y="0"/>
            <a:chExt cx="753433" cy="812800"/>
          </a:xfrm>
        </p:grpSpPr>
        <p:sp>
          <p:nvSpPr>
            <p:cNvPr name="Freeform 25" id="25"/>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26" id="26"/>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3</a:t>
              </a:r>
            </a:p>
          </p:txBody>
        </p:sp>
      </p:grpSp>
      <p:sp>
        <p:nvSpPr>
          <p:cNvPr name="TextBox 27" id="27"/>
          <p:cNvSpPr txBox="true"/>
          <p:nvPr/>
        </p:nvSpPr>
        <p:spPr>
          <a:xfrm rot="0">
            <a:off x="3684703" y="3651484"/>
            <a:ext cx="5716461" cy="352425"/>
          </a:xfrm>
          <a:prstGeom prst="rect">
            <a:avLst/>
          </a:prstGeom>
        </p:spPr>
        <p:txBody>
          <a:bodyPr anchor="t" rtlCol="false" tIns="0" lIns="0" bIns="0" rIns="0">
            <a:spAutoFit/>
          </a:bodyPr>
          <a:lstStyle/>
          <a:p>
            <a:pPr algn="l">
              <a:lnSpc>
                <a:spcPts val="2637"/>
              </a:lnSpc>
            </a:pPr>
            <a:r>
              <a:rPr lang="en-US" sz="2198">
                <a:solidFill>
                  <a:srgbClr val="FBFCFE"/>
                </a:solidFill>
                <a:latin typeface="Poppins"/>
                <a:ea typeface="Poppins"/>
                <a:cs typeface="Poppins"/>
                <a:sym typeface="Poppins"/>
              </a:rPr>
              <a:t>Modélisation et Comparaison</a:t>
            </a:r>
          </a:p>
        </p:txBody>
      </p:sp>
      <p:sp>
        <p:nvSpPr>
          <p:cNvPr name="AutoShape 28" id="28"/>
          <p:cNvSpPr/>
          <p:nvPr/>
        </p:nvSpPr>
        <p:spPr>
          <a:xfrm>
            <a:off x="2730318" y="3856247"/>
            <a:ext cx="639993" cy="0"/>
          </a:xfrm>
          <a:prstGeom prst="line">
            <a:avLst/>
          </a:prstGeom>
          <a:ln cap="flat" w="38100">
            <a:solidFill>
              <a:srgbClr val="2D2261"/>
            </a:solidFill>
            <a:prstDash val="solid"/>
            <a:headEnd type="none" len="sm" w="sm"/>
            <a:tailEnd type="none" len="sm" w="sm"/>
          </a:ln>
        </p:spPr>
      </p:sp>
      <p:grpSp>
        <p:nvGrpSpPr>
          <p:cNvPr name="Group 29" id="29"/>
          <p:cNvGrpSpPr/>
          <p:nvPr/>
        </p:nvGrpSpPr>
        <p:grpSpPr>
          <a:xfrm rot="0">
            <a:off x="3370311" y="4582978"/>
            <a:ext cx="5774612" cy="726295"/>
            <a:chOff x="0" y="0"/>
            <a:chExt cx="1521886" cy="191414"/>
          </a:xfrm>
        </p:grpSpPr>
        <p:sp>
          <p:nvSpPr>
            <p:cNvPr name="Freeform 30" id="30"/>
            <p:cNvSpPr/>
            <p:nvPr/>
          </p:nvSpPr>
          <p:spPr>
            <a:xfrm flipH="false" flipV="false" rot="0">
              <a:off x="0" y="0"/>
              <a:ext cx="1521886" cy="191414"/>
            </a:xfrm>
            <a:custGeom>
              <a:avLst/>
              <a:gdLst/>
              <a:ahLst/>
              <a:cxnLst/>
              <a:rect r="r" b="b" t="t" l="l"/>
              <a:pathLst>
                <a:path h="191414" w="1521886">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name="TextBox 31" id="31"/>
            <p:cNvSpPr txBox="true"/>
            <p:nvPr/>
          </p:nvSpPr>
          <p:spPr>
            <a:xfrm>
              <a:off x="0" y="-38100"/>
              <a:ext cx="1521886"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32" id="32"/>
          <p:cNvGrpSpPr/>
          <p:nvPr/>
        </p:nvGrpSpPr>
        <p:grpSpPr>
          <a:xfrm rot="0">
            <a:off x="2124772" y="4559166"/>
            <a:ext cx="717393" cy="773920"/>
            <a:chOff x="0" y="0"/>
            <a:chExt cx="753433" cy="812800"/>
          </a:xfrm>
        </p:grpSpPr>
        <p:sp>
          <p:nvSpPr>
            <p:cNvPr name="Freeform 33" id="33"/>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34" id="34"/>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4</a:t>
              </a:r>
            </a:p>
          </p:txBody>
        </p:sp>
      </p:grpSp>
      <p:sp>
        <p:nvSpPr>
          <p:cNvPr name="TextBox 35" id="35"/>
          <p:cNvSpPr txBox="true"/>
          <p:nvPr/>
        </p:nvSpPr>
        <p:spPr>
          <a:xfrm rot="0">
            <a:off x="3713934" y="4739705"/>
            <a:ext cx="4306454" cy="352425"/>
          </a:xfrm>
          <a:prstGeom prst="rect">
            <a:avLst/>
          </a:prstGeom>
        </p:spPr>
        <p:txBody>
          <a:bodyPr anchor="t" rtlCol="false" tIns="0" lIns="0" bIns="0" rIns="0">
            <a:spAutoFit/>
          </a:bodyPr>
          <a:lstStyle/>
          <a:p>
            <a:pPr algn="l">
              <a:lnSpc>
                <a:spcPts val="2759"/>
              </a:lnSpc>
            </a:pPr>
            <a:r>
              <a:rPr lang="en-US" sz="2299">
                <a:solidFill>
                  <a:srgbClr val="FBFCFE"/>
                </a:solidFill>
                <a:latin typeface="Poppins"/>
                <a:ea typeface="Poppins"/>
                <a:cs typeface="Poppins"/>
                <a:sym typeface="Poppins"/>
              </a:rPr>
              <a:t>Modèle choisit</a:t>
            </a:r>
          </a:p>
        </p:txBody>
      </p:sp>
      <p:sp>
        <p:nvSpPr>
          <p:cNvPr name="AutoShape 36" id="36"/>
          <p:cNvSpPr/>
          <p:nvPr/>
        </p:nvSpPr>
        <p:spPr>
          <a:xfrm>
            <a:off x="2730318" y="4954017"/>
            <a:ext cx="639993" cy="0"/>
          </a:xfrm>
          <a:prstGeom prst="line">
            <a:avLst/>
          </a:prstGeom>
          <a:ln cap="flat" w="38100">
            <a:solidFill>
              <a:srgbClr val="2D2261"/>
            </a:solidFill>
            <a:prstDash val="solid"/>
            <a:headEnd type="none" len="sm" w="sm"/>
            <a:tailEnd type="none" len="sm" w="sm"/>
          </a:ln>
        </p:spPr>
      </p:sp>
      <p:grpSp>
        <p:nvGrpSpPr>
          <p:cNvPr name="Group 37" id="37"/>
          <p:cNvGrpSpPr/>
          <p:nvPr/>
        </p:nvGrpSpPr>
        <p:grpSpPr>
          <a:xfrm rot="0">
            <a:off x="3370311" y="5680748"/>
            <a:ext cx="5882693" cy="726295"/>
            <a:chOff x="0" y="0"/>
            <a:chExt cx="1550371" cy="191414"/>
          </a:xfrm>
        </p:grpSpPr>
        <p:sp>
          <p:nvSpPr>
            <p:cNvPr name="Freeform 38" id="38"/>
            <p:cNvSpPr/>
            <p:nvPr/>
          </p:nvSpPr>
          <p:spPr>
            <a:xfrm flipH="false" flipV="false" rot="0">
              <a:off x="0" y="0"/>
              <a:ext cx="1550371" cy="191414"/>
            </a:xfrm>
            <a:custGeom>
              <a:avLst/>
              <a:gdLst/>
              <a:ahLst/>
              <a:cxnLst/>
              <a:rect r="r" b="b" t="t" l="l"/>
              <a:pathLst>
                <a:path h="191414" w="1550371">
                  <a:moveTo>
                    <a:pt x="95707" y="0"/>
                  </a:moveTo>
                  <a:lnTo>
                    <a:pt x="1454664" y="0"/>
                  </a:lnTo>
                  <a:cubicBezTo>
                    <a:pt x="1507521" y="0"/>
                    <a:pt x="1550371" y="42849"/>
                    <a:pt x="1550371" y="95707"/>
                  </a:cubicBezTo>
                  <a:lnTo>
                    <a:pt x="1550371" y="95707"/>
                  </a:lnTo>
                  <a:cubicBezTo>
                    <a:pt x="1550371" y="121090"/>
                    <a:pt x="1540287" y="145433"/>
                    <a:pt x="1522339" y="163382"/>
                  </a:cubicBezTo>
                  <a:cubicBezTo>
                    <a:pt x="1504391" y="181330"/>
                    <a:pt x="1480047" y="191414"/>
                    <a:pt x="1454664"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name="TextBox 39" id="39"/>
            <p:cNvSpPr txBox="true"/>
            <p:nvPr/>
          </p:nvSpPr>
          <p:spPr>
            <a:xfrm>
              <a:off x="0" y="-38100"/>
              <a:ext cx="1550371"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40" id="40"/>
          <p:cNvGrpSpPr/>
          <p:nvPr/>
        </p:nvGrpSpPr>
        <p:grpSpPr>
          <a:xfrm rot="0">
            <a:off x="2124772" y="5656936"/>
            <a:ext cx="717393" cy="773920"/>
            <a:chOff x="0" y="0"/>
            <a:chExt cx="753433" cy="812800"/>
          </a:xfrm>
        </p:grpSpPr>
        <p:sp>
          <p:nvSpPr>
            <p:cNvPr name="Freeform 41" id="41"/>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42" id="42"/>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5</a:t>
              </a:r>
            </a:p>
          </p:txBody>
        </p:sp>
      </p:grpSp>
      <p:sp>
        <p:nvSpPr>
          <p:cNvPr name="TextBox 43" id="43"/>
          <p:cNvSpPr txBox="true"/>
          <p:nvPr/>
        </p:nvSpPr>
        <p:spPr>
          <a:xfrm rot="0">
            <a:off x="3742509" y="5818425"/>
            <a:ext cx="4267147" cy="438150"/>
          </a:xfrm>
          <a:prstGeom prst="rect">
            <a:avLst/>
          </a:prstGeom>
        </p:spPr>
        <p:txBody>
          <a:bodyPr anchor="t" rtlCol="false" tIns="0" lIns="0" bIns="0" rIns="0">
            <a:spAutoFit/>
          </a:bodyPr>
          <a:lstStyle/>
          <a:p>
            <a:pPr algn="l">
              <a:lnSpc>
                <a:spcPts val="3237"/>
              </a:lnSpc>
            </a:pPr>
            <a:r>
              <a:rPr lang="en-US" sz="2698">
                <a:solidFill>
                  <a:srgbClr val="FBFCFE"/>
                </a:solidFill>
                <a:latin typeface="Poppins"/>
                <a:ea typeface="Poppins"/>
                <a:cs typeface="Poppins"/>
                <a:sym typeface="Poppins"/>
              </a:rPr>
              <a:t>Application Développée</a:t>
            </a:r>
          </a:p>
        </p:txBody>
      </p:sp>
      <p:sp>
        <p:nvSpPr>
          <p:cNvPr name="AutoShape 44" id="44"/>
          <p:cNvSpPr/>
          <p:nvPr/>
        </p:nvSpPr>
        <p:spPr>
          <a:xfrm>
            <a:off x="2730318" y="6051787"/>
            <a:ext cx="639993" cy="0"/>
          </a:xfrm>
          <a:prstGeom prst="line">
            <a:avLst/>
          </a:prstGeom>
          <a:ln cap="flat" w="38100">
            <a:solidFill>
              <a:srgbClr val="2D2261"/>
            </a:solidFill>
            <a:prstDash val="solid"/>
            <a:headEnd type="none" len="sm" w="sm"/>
            <a:tailEnd type="none" len="sm" w="sm"/>
          </a:ln>
        </p:spPr>
      </p:sp>
      <p:sp>
        <p:nvSpPr>
          <p:cNvPr name="TextBox 45" id="45"/>
          <p:cNvSpPr txBox="true"/>
          <p:nvPr/>
        </p:nvSpPr>
        <p:spPr>
          <a:xfrm rot="0">
            <a:off x="-524871" y="9567077"/>
            <a:ext cx="2284068" cy="332285"/>
          </a:xfrm>
          <a:prstGeom prst="rect">
            <a:avLst/>
          </a:prstGeom>
        </p:spPr>
        <p:txBody>
          <a:bodyPr anchor="t" rtlCol="false" tIns="0" lIns="0" bIns="0" rIns="0">
            <a:spAutoFit/>
          </a:bodyPr>
          <a:lstStyle/>
          <a:p>
            <a:pPr algn="ctr">
              <a:lnSpc>
                <a:spcPts val="2449"/>
              </a:lnSpc>
            </a:pPr>
            <a:r>
              <a:rPr lang="en-US" b="true" sz="2721">
                <a:solidFill>
                  <a:srgbClr val="2D2261"/>
                </a:solidFill>
                <a:latin typeface="Red Hat Display Bold"/>
                <a:ea typeface="Red Hat Display Bold"/>
                <a:cs typeface="Red Hat Display Bold"/>
                <a:sym typeface="Red Hat Display Bold"/>
              </a:rPr>
              <a:t>2</a:t>
            </a:r>
          </a:p>
        </p:txBody>
      </p:sp>
      <p:grpSp>
        <p:nvGrpSpPr>
          <p:cNvPr name="Group 46" id="46"/>
          <p:cNvGrpSpPr/>
          <p:nvPr/>
        </p:nvGrpSpPr>
        <p:grpSpPr>
          <a:xfrm rot="0">
            <a:off x="3370311" y="6653997"/>
            <a:ext cx="5882693" cy="726295"/>
            <a:chOff x="0" y="0"/>
            <a:chExt cx="1550371" cy="191414"/>
          </a:xfrm>
        </p:grpSpPr>
        <p:sp>
          <p:nvSpPr>
            <p:cNvPr name="Freeform 47" id="47"/>
            <p:cNvSpPr/>
            <p:nvPr/>
          </p:nvSpPr>
          <p:spPr>
            <a:xfrm flipH="false" flipV="false" rot="0">
              <a:off x="0" y="0"/>
              <a:ext cx="1550371" cy="191414"/>
            </a:xfrm>
            <a:custGeom>
              <a:avLst/>
              <a:gdLst/>
              <a:ahLst/>
              <a:cxnLst/>
              <a:rect r="r" b="b" t="t" l="l"/>
              <a:pathLst>
                <a:path h="191414" w="1550371">
                  <a:moveTo>
                    <a:pt x="95707" y="0"/>
                  </a:moveTo>
                  <a:lnTo>
                    <a:pt x="1454664" y="0"/>
                  </a:lnTo>
                  <a:cubicBezTo>
                    <a:pt x="1507521" y="0"/>
                    <a:pt x="1550371" y="42849"/>
                    <a:pt x="1550371" y="95707"/>
                  </a:cubicBezTo>
                  <a:lnTo>
                    <a:pt x="1550371" y="95707"/>
                  </a:lnTo>
                  <a:cubicBezTo>
                    <a:pt x="1550371" y="121090"/>
                    <a:pt x="1540287" y="145433"/>
                    <a:pt x="1522339" y="163382"/>
                  </a:cubicBezTo>
                  <a:cubicBezTo>
                    <a:pt x="1504391" y="181330"/>
                    <a:pt x="1480047" y="191414"/>
                    <a:pt x="1454664"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name="TextBox 48" id="48"/>
            <p:cNvSpPr txBox="true"/>
            <p:nvPr/>
          </p:nvSpPr>
          <p:spPr>
            <a:xfrm>
              <a:off x="0" y="-38100"/>
              <a:ext cx="1550371" cy="229514"/>
            </a:xfrm>
            <a:prstGeom prst="rect">
              <a:avLst/>
            </a:prstGeom>
          </p:spPr>
          <p:txBody>
            <a:bodyPr anchor="ctr" rtlCol="false" tIns="50800" lIns="50800" bIns="50800" rIns="50800"/>
            <a:lstStyle/>
            <a:p>
              <a:pPr algn="ctr">
                <a:lnSpc>
                  <a:spcPts val="2659"/>
                </a:lnSpc>
                <a:spcBef>
                  <a:spcPct val="0"/>
                </a:spcBef>
              </a:pPr>
            </a:p>
          </p:txBody>
        </p:sp>
      </p:grpSp>
      <p:grpSp>
        <p:nvGrpSpPr>
          <p:cNvPr name="Group 49" id="49"/>
          <p:cNvGrpSpPr/>
          <p:nvPr/>
        </p:nvGrpSpPr>
        <p:grpSpPr>
          <a:xfrm rot="0">
            <a:off x="2124772" y="6630185"/>
            <a:ext cx="717393" cy="773920"/>
            <a:chOff x="0" y="0"/>
            <a:chExt cx="753433" cy="812800"/>
          </a:xfrm>
        </p:grpSpPr>
        <p:sp>
          <p:nvSpPr>
            <p:cNvPr name="Freeform 50" id="50"/>
            <p:cNvSpPr/>
            <p:nvPr/>
          </p:nvSpPr>
          <p:spPr>
            <a:xfrm flipH="false" flipV="false" rot="0">
              <a:off x="0" y="0"/>
              <a:ext cx="753433" cy="812800"/>
            </a:xfrm>
            <a:custGeom>
              <a:avLst/>
              <a:gdLst/>
              <a:ahLst/>
              <a:cxnLst/>
              <a:rect r="r" b="b" t="t" l="l"/>
              <a:pathLst>
                <a:path h="812800" w="753433">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name="TextBox 51" id="51"/>
            <p:cNvSpPr txBox="true"/>
            <p:nvPr/>
          </p:nvSpPr>
          <p:spPr>
            <a:xfrm>
              <a:off x="70634" y="47625"/>
              <a:ext cx="612164" cy="688975"/>
            </a:xfrm>
            <a:prstGeom prst="rect">
              <a:avLst/>
            </a:prstGeom>
          </p:spPr>
          <p:txBody>
            <a:bodyPr anchor="ctr" rtlCol="false" tIns="50800" lIns="50800" bIns="50800" rIns="50800"/>
            <a:lstStyle/>
            <a:p>
              <a:pPr algn="ctr">
                <a:lnSpc>
                  <a:spcPts val="2240"/>
                </a:lnSpc>
              </a:pPr>
              <a:r>
                <a:rPr lang="en-US" sz="1600">
                  <a:solidFill>
                    <a:srgbClr val="FBFCFE"/>
                  </a:solidFill>
                  <a:latin typeface="Red Hat Display"/>
                  <a:ea typeface="Red Hat Display"/>
                  <a:cs typeface="Red Hat Display"/>
                  <a:sym typeface="Red Hat Display"/>
                </a:rPr>
                <a:t>6</a:t>
              </a:r>
            </a:p>
          </p:txBody>
        </p:sp>
      </p:grpSp>
      <p:sp>
        <p:nvSpPr>
          <p:cNvPr name="TextBox 52" id="52"/>
          <p:cNvSpPr txBox="true"/>
          <p:nvPr/>
        </p:nvSpPr>
        <p:spPr>
          <a:xfrm rot="0">
            <a:off x="3742509" y="6791674"/>
            <a:ext cx="5100019" cy="847725"/>
          </a:xfrm>
          <a:prstGeom prst="rect">
            <a:avLst/>
          </a:prstGeom>
        </p:spPr>
        <p:txBody>
          <a:bodyPr anchor="t" rtlCol="false" tIns="0" lIns="0" bIns="0" rIns="0">
            <a:spAutoFit/>
          </a:bodyPr>
          <a:lstStyle/>
          <a:p>
            <a:pPr algn="l">
              <a:lnSpc>
                <a:spcPts val="3237"/>
              </a:lnSpc>
            </a:pPr>
            <a:r>
              <a:rPr lang="en-US" sz="2698">
                <a:solidFill>
                  <a:srgbClr val="FBFCFE"/>
                </a:solidFill>
                <a:latin typeface="Poppins"/>
                <a:ea typeface="Poppins"/>
                <a:cs typeface="Poppins"/>
                <a:sym typeface="Poppins"/>
              </a:rPr>
              <a:t>Conclusion et Perspectives</a:t>
            </a:r>
          </a:p>
          <a:p>
            <a:pPr algn="l">
              <a:lnSpc>
                <a:spcPts val="3237"/>
              </a:lnSpc>
            </a:pPr>
          </a:p>
        </p:txBody>
      </p:sp>
      <p:sp>
        <p:nvSpPr>
          <p:cNvPr name="AutoShape 53" id="53"/>
          <p:cNvSpPr/>
          <p:nvPr/>
        </p:nvSpPr>
        <p:spPr>
          <a:xfrm>
            <a:off x="2730318" y="7025036"/>
            <a:ext cx="639993" cy="0"/>
          </a:xfrm>
          <a:prstGeom prst="line">
            <a:avLst/>
          </a:prstGeom>
          <a:ln cap="flat" w="38100">
            <a:solidFill>
              <a:srgbClr val="2D2261"/>
            </a:solidFill>
            <a:prstDash val="solid"/>
            <a:headEnd type="none" len="sm" w="sm"/>
            <a:tailEnd type="none" len="sm" w="sm"/>
          </a:ln>
        </p:spPr>
      </p:sp>
      <p:sp>
        <p:nvSpPr>
          <p:cNvPr name="Freeform 54" id="54"/>
          <p:cNvSpPr/>
          <p:nvPr/>
        </p:nvSpPr>
        <p:spPr>
          <a:xfrm flipH="false" flipV="false" rot="0">
            <a:off x="12247090" y="3461395"/>
            <a:ext cx="5893914" cy="4358938"/>
          </a:xfrm>
          <a:custGeom>
            <a:avLst/>
            <a:gdLst/>
            <a:ahLst/>
            <a:cxnLst/>
            <a:rect r="r" b="b" t="t" l="l"/>
            <a:pathLst>
              <a:path h="4358938" w="5893914">
                <a:moveTo>
                  <a:pt x="0" y="0"/>
                </a:moveTo>
                <a:lnTo>
                  <a:pt x="5893914" y="0"/>
                </a:lnTo>
                <a:lnTo>
                  <a:pt x="5893914" y="4358939"/>
                </a:lnTo>
                <a:lnTo>
                  <a:pt x="0" y="435893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5" id="55"/>
          <p:cNvSpPr/>
          <p:nvPr/>
        </p:nvSpPr>
        <p:spPr>
          <a:xfrm flipH="false" flipV="false" rot="635325">
            <a:off x="-754076" y="80735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56" id="56"/>
          <p:cNvSpPr/>
          <p:nvPr/>
        </p:nvSpPr>
        <p:spPr>
          <a:xfrm flipH="false" flipV="false" rot="715246">
            <a:off x="12993540" y="-2095015"/>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6">
              <a:alphaModFix amt="50000"/>
              <a:extLst>
                <a:ext uri="{96DAC541-7B7A-43D3-8B79-37D633B846F1}">
                  <asvg:svgBlip xmlns:asvg="http://schemas.microsoft.com/office/drawing/2016/SVG/main" r:embed="rId7"/>
                </a:ext>
              </a:extLst>
            </a:blip>
            <a:stretch>
              <a:fillRect l="0" t="0" r="0" b="0"/>
            </a:stretch>
          </a:blipFill>
        </p:spPr>
      </p:sp>
      <p:sp>
        <p:nvSpPr>
          <p:cNvPr name="TextBox 57" id="57"/>
          <p:cNvSpPr txBox="true"/>
          <p:nvPr/>
        </p:nvSpPr>
        <p:spPr>
          <a:xfrm rot="0">
            <a:off x="6913585" y="1054055"/>
            <a:ext cx="12287011" cy="1938892"/>
          </a:xfrm>
          <a:prstGeom prst="rect">
            <a:avLst/>
          </a:prstGeom>
        </p:spPr>
        <p:txBody>
          <a:bodyPr anchor="t" rtlCol="false" tIns="0" lIns="0" bIns="0" rIns="0">
            <a:spAutoFit/>
          </a:bodyPr>
          <a:lstStyle/>
          <a:p>
            <a:pPr algn="ctr">
              <a:lnSpc>
                <a:spcPts val="13175"/>
              </a:lnSpc>
            </a:pPr>
            <a:r>
              <a:rPr lang="en-US" b="true" sz="14639">
                <a:solidFill>
                  <a:srgbClr val="2D2261"/>
                </a:solidFill>
                <a:latin typeface="Poppins Bold"/>
                <a:ea typeface="Poppins Bold"/>
                <a:cs typeface="Poppins Bold"/>
                <a:sym typeface="Poppins Bold"/>
              </a:rPr>
              <a:t>PLAN</a:t>
            </a:r>
          </a:p>
        </p:txBody>
      </p:sp>
      <p:sp>
        <p:nvSpPr>
          <p:cNvPr name="TextBox 58" id="58"/>
          <p:cNvSpPr txBox="true"/>
          <p:nvPr/>
        </p:nvSpPr>
        <p:spPr>
          <a:xfrm rot="0">
            <a:off x="12699491" y="2068669"/>
            <a:ext cx="2007045" cy="1521559"/>
          </a:xfrm>
          <a:prstGeom prst="rect">
            <a:avLst/>
          </a:prstGeom>
        </p:spPr>
        <p:txBody>
          <a:bodyPr anchor="t" rtlCol="false" tIns="0" lIns="0" bIns="0" rIns="0">
            <a:spAutoFit/>
          </a:bodyPr>
          <a:lstStyle/>
          <a:p>
            <a:pPr algn="ctr">
              <a:lnSpc>
                <a:spcPts val="12464"/>
              </a:lnSpc>
            </a:pPr>
            <a:r>
              <a:rPr lang="en-US" sz="8903">
                <a:solidFill>
                  <a:srgbClr val="9AB7FF"/>
                </a:solidFill>
                <a:latin typeface="Brittany"/>
                <a:ea typeface="Brittany"/>
                <a:cs typeface="Brittany"/>
                <a:sym typeface="Brittany"/>
              </a:rPr>
              <a:t>Plan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55435" y="3522789"/>
            <a:ext cx="3173706" cy="396240"/>
          </a:xfrm>
          <a:prstGeom prst="rect">
            <a:avLst/>
          </a:prstGeom>
        </p:spPr>
        <p:txBody>
          <a:bodyPr anchor="t" rtlCol="false" tIns="0" lIns="0" bIns="0" rIns="0">
            <a:spAutoFit/>
          </a:bodyPr>
          <a:lstStyle/>
          <a:p>
            <a:pPr algn="ctr">
              <a:lnSpc>
                <a:spcPts val="3359"/>
              </a:lnSpc>
            </a:pPr>
            <a:r>
              <a:rPr lang="en-US" sz="2400">
                <a:solidFill>
                  <a:srgbClr val="FBFCFE"/>
                </a:solidFill>
                <a:latin typeface="Red Hat Display"/>
                <a:ea typeface="Red Hat Display"/>
                <a:cs typeface="Red Hat Display"/>
                <a:sym typeface="Red Hat Display"/>
              </a:rPr>
              <a:t>Collaborative Process</a:t>
            </a:r>
          </a:p>
        </p:txBody>
      </p:sp>
      <p:sp>
        <p:nvSpPr>
          <p:cNvPr name="TextBox 3" id="3"/>
          <p:cNvSpPr txBox="true"/>
          <p:nvPr/>
        </p:nvSpPr>
        <p:spPr>
          <a:xfrm rot="0">
            <a:off x="12388488" y="3522789"/>
            <a:ext cx="3173706" cy="396240"/>
          </a:xfrm>
          <a:prstGeom prst="rect">
            <a:avLst/>
          </a:prstGeom>
        </p:spPr>
        <p:txBody>
          <a:bodyPr anchor="t" rtlCol="false" tIns="0" lIns="0" bIns="0" rIns="0">
            <a:spAutoFit/>
          </a:bodyPr>
          <a:lstStyle/>
          <a:p>
            <a:pPr algn="ctr">
              <a:lnSpc>
                <a:spcPts val="3359"/>
              </a:lnSpc>
            </a:pPr>
            <a:r>
              <a:rPr lang="en-US" b="true" sz="2400">
                <a:solidFill>
                  <a:srgbClr val="FBFCFE"/>
                </a:solidFill>
                <a:latin typeface="Red Hat Display Bold"/>
                <a:ea typeface="Red Hat Display Bold"/>
                <a:cs typeface="Red Hat Display Bold"/>
                <a:sym typeface="Red Hat Display Bold"/>
              </a:rPr>
              <a:t>Objectif du projet </a:t>
            </a:r>
          </a:p>
        </p:txBody>
      </p:sp>
      <p:sp>
        <p:nvSpPr>
          <p:cNvPr name="Freeform 4" id="4"/>
          <p:cNvSpPr/>
          <p:nvPr/>
        </p:nvSpPr>
        <p:spPr>
          <a:xfrm flipH="false" flipV="false" rot="-2080684">
            <a:off x="10082077" y="8242051"/>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9426524">
            <a:off x="-3984660" y="-4765086"/>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2624874">
            <a:off x="-884948" y="9077955"/>
            <a:ext cx="3242701" cy="1827704"/>
          </a:xfrm>
          <a:custGeom>
            <a:avLst/>
            <a:gdLst/>
            <a:ahLst/>
            <a:cxnLst/>
            <a:rect r="r" b="b" t="t" l="l"/>
            <a:pathLst>
              <a:path h="1827704" w="3242701">
                <a:moveTo>
                  <a:pt x="0" y="0"/>
                </a:moveTo>
                <a:lnTo>
                  <a:pt x="3242701" y="0"/>
                </a:lnTo>
                <a:lnTo>
                  <a:pt x="3242701" y="1827704"/>
                </a:lnTo>
                <a:lnTo>
                  <a:pt x="0" y="182770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2830696">
            <a:off x="16075185" y="-10287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8" id="8"/>
          <p:cNvGrpSpPr/>
          <p:nvPr/>
        </p:nvGrpSpPr>
        <p:grpSpPr>
          <a:xfrm rot="0">
            <a:off x="1057275" y="3364229"/>
            <a:ext cx="15959684" cy="1282252"/>
            <a:chOff x="0" y="0"/>
            <a:chExt cx="4040971" cy="324665"/>
          </a:xfrm>
        </p:grpSpPr>
        <p:sp>
          <p:nvSpPr>
            <p:cNvPr name="Freeform 9" id="9"/>
            <p:cNvSpPr/>
            <p:nvPr/>
          </p:nvSpPr>
          <p:spPr>
            <a:xfrm flipH="false" flipV="false" rot="0">
              <a:off x="0" y="0"/>
              <a:ext cx="4040971" cy="324665"/>
            </a:xfrm>
            <a:custGeom>
              <a:avLst/>
              <a:gdLst/>
              <a:ahLst/>
              <a:cxnLst/>
              <a:rect r="r" b="b" t="t" l="l"/>
              <a:pathLst>
                <a:path h="324665" w="4040971">
                  <a:moveTo>
                    <a:pt x="38807" y="0"/>
                  </a:moveTo>
                  <a:lnTo>
                    <a:pt x="4002164" y="0"/>
                  </a:lnTo>
                  <a:cubicBezTo>
                    <a:pt x="4023597" y="0"/>
                    <a:pt x="4040971" y="17375"/>
                    <a:pt x="4040971" y="38807"/>
                  </a:cubicBezTo>
                  <a:lnTo>
                    <a:pt x="4040971" y="285857"/>
                  </a:lnTo>
                  <a:cubicBezTo>
                    <a:pt x="4040971" y="307290"/>
                    <a:pt x="4023597" y="324665"/>
                    <a:pt x="4002164" y="324665"/>
                  </a:cubicBezTo>
                  <a:lnTo>
                    <a:pt x="38807" y="324665"/>
                  </a:lnTo>
                  <a:cubicBezTo>
                    <a:pt x="28515" y="324665"/>
                    <a:pt x="18644" y="320576"/>
                    <a:pt x="11366" y="313298"/>
                  </a:cubicBezTo>
                  <a:cubicBezTo>
                    <a:pt x="4089" y="306020"/>
                    <a:pt x="0" y="296150"/>
                    <a:pt x="0" y="285857"/>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9BFB5"/>
              </a:solidFill>
              <a:prstDash val="solid"/>
              <a:round/>
            </a:ln>
          </p:spPr>
        </p:sp>
        <p:sp>
          <p:nvSpPr>
            <p:cNvPr name="TextBox 10" id="10"/>
            <p:cNvSpPr txBox="true"/>
            <p:nvPr/>
          </p:nvSpPr>
          <p:spPr>
            <a:xfrm>
              <a:off x="0" y="-38100"/>
              <a:ext cx="4040971" cy="362765"/>
            </a:xfrm>
            <a:prstGeom prst="rect">
              <a:avLst/>
            </a:prstGeom>
          </p:spPr>
          <p:txBody>
            <a:bodyPr anchor="ctr" rtlCol="false" tIns="50800" lIns="50800" bIns="50800" rIns="50800"/>
            <a:lstStyle/>
            <a:p>
              <a:pPr algn="ctr">
                <a:lnSpc>
                  <a:spcPts val="2659"/>
                </a:lnSpc>
              </a:pPr>
            </a:p>
          </p:txBody>
        </p:sp>
      </p:grpSp>
      <p:grpSp>
        <p:nvGrpSpPr>
          <p:cNvPr name="Group 11" id="11"/>
          <p:cNvGrpSpPr/>
          <p:nvPr/>
        </p:nvGrpSpPr>
        <p:grpSpPr>
          <a:xfrm rot="0">
            <a:off x="1028700" y="5089737"/>
            <a:ext cx="15959684" cy="1025152"/>
            <a:chOff x="0" y="0"/>
            <a:chExt cx="4040971" cy="259567"/>
          </a:xfrm>
        </p:grpSpPr>
        <p:sp>
          <p:nvSpPr>
            <p:cNvPr name="Freeform 12" id="12"/>
            <p:cNvSpPr/>
            <p:nvPr/>
          </p:nvSpPr>
          <p:spPr>
            <a:xfrm flipH="false" flipV="false" rot="0">
              <a:off x="0" y="0"/>
              <a:ext cx="4040971" cy="259567"/>
            </a:xfrm>
            <a:custGeom>
              <a:avLst/>
              <a:gdLst/>
              <a:ahLst/>
              <a:cxnLst/>
              <a:rect r="r" b="b" t="t" l="l"/>
              <a:pathLst>
                <a:path h="259567" w="4040971">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name="TextBox 13" id="13"/>
            <p:cNvSpPr txBox="true"/>
            <p:nvPr/>
          </p:nvSpPr>
          <p:spPr>
            <a:xfrm>
              <a:off x="0" y="-38100"/>
              <a:ext cx="4040971" cy="297667"/>
            </a:xfrm>
            <a:prstGeom prst="rect">
              <a:avLst/>
            </a:prstGeom>
          </p:spPr>
          <p:txBody>
            <a:bodyPr anchor="ctr" rtlCol="false" tIns="50800" lIns="50800" bIns="50800" rIns="50800"/>
            <a:lstStyle/>
            <a:p>
              <a:pPr algn="ctr">
                <a:lnSpc>
                  <a:spcPts val="2659"/>
                </a:lnSpc>
              </a:pPr>
            </a:p>
          </p:txBody>
        </p:sp>
      </p:grpSp>
      <p:grpSp>
        <p:nvGrpSpPr>
          <p:cNvPr name="Group 14" id="14"/>
          <p:cNvGrpSpPr/>
          <p:nvPr/>
        </p:nvGrpSpPr>
        <p:grpSpPr>
          <a:xfrm rot="0">
            <a:off x="1057275" y="6262183"/>
            <a:ext cx="15959684" cy="1025152"/>
            <a:chOff x="0" y="0"/>
            <a:chExt cx="4040971" cy="259567"/>
          </a:xfrm>
        </p:grpSpPr>
        <p:sp>
          <p:nvSpPr>
            <p:cNvPr name="Freeform 15" id="15"/>
            <p:cNvSpPr/>
            <p:nvPr/>
          </p:nvSpPr>
          <p:spPr>
            <a:xfrm flipH="false" flipV="false" rot="0">
              <a:off x="0" y="0"/>
              <a:ext cx="4040971" cy="259567"/>
            </a:xfrm>
            <a:custGeom>
              <a:avLst/>
              <a:gdLst/>
              <a:ahLst/>
              <a:cxnLst/>
              <a:rect r="r" b="b" t="t" l="l"/>
              <a:pathLst>
                <a:path h="259567" w="4040971">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name="TextBox 16" id="16"/>
            <p:cNvSpPr txBox="true"/>
            <p:nvPr/>
          </p:nvSpPr>
          <p:spPr>
            <a:xfrm>
              <a:off x="0" y="-38100"/>
              <a:ext cx="4040971" cy="297667"/>
            </a:xfrm>
            <a:prstGeom prst="rect">
              <a:avLst/>
            </a:prstGeom>
          </p:spPr>
          <p:txBody>
            <a:bodyPr anchor="ctr" rtlCol="false" tIns="50800" lIns="50800" bIns="50800" rIns="50800"/>
            <a:lstStyle/>
            <a:p>
              <a:pPr algn="ctr">
                <a:lnSpc>
                  <a:spcPts val="2659"/>
                </a:lnSpc>
              </a:pPr>
            </a:p>
          </p:txBody>
        </p:sp>
      </p:grpSp>
      <p:sp>
        <p:nvSpPr>
          <p:cNvPr name="TextBox 17" id="17"/>
          <p:cNvSpPr txBox="true"/>
          <p:nvPr/>
        </p:nvSpPr>
        <p:spPr>
          <a:xfrm rot="0">
            <a:off x="1757867" y="3377435"/>
            <a:ext cx="14435000" cy="1030921"/>
          </a:xfrm>
          <a:prstGeom prst="rect">
            <a:avLst/>
          </a:prstGeom>
        </p:spPr>
        <p:txBody>
          <a:bodyPr anchor="t" rtlCol="false" tIns="0" lIns="0" bIns="0" rIns="0">
            <a:spAutoFit/>
          </a:bodyPr>
          <a:lstStyle/>
          <a:p>
            <a:pPr algn="l">
              <a:lnSpc>
                <a:spcPts val="4077"/>
              </a:lnSpc>
            </a:pPr>
            <a:r>
              <a:rPr lang="en-US" sz="2912">
                <a:solidFill>
                  <a:srgbClr val="FFFFFF"/>
                </a:solidFill>
                <a:latin typeface="Poppins"/>
                <a:ea typeface="Poppins"/>
                <a:cs typeface="Poppins"/>
                <a:sym typeface="Poppins"/>
              </a:rPr>
              <a:t>Le taux de réussite dans l'enseignement supérieur tunisien est un indicateur stratégique pour le Ministère de l'Enseignement Supérieur.</a:t>
            </a:r>
          </a:p>
        </p:txBody>
      </p:sp>
      <p:sp>
        <p:nvSpPr>
          <p:cNvPr name="TextBox 18" id="18"/>
          <p:cNvSpPr txBox="true"/>
          <p:nvPr/>
        </p:nvSpPr>
        <p:spPr>
          <a:xfrm rot="0">
            <a:off x="1757867" y="6221212"/>
            <a:ext cx="14772267" cy="1030921"/>
          </a:xfrm>
          <a:prstGeom prst="rect">
            <a:avLst/>
          </a:prstGeom>
        </p:spPr>
        <p:txBody>
          <a:bodyPr anchor="t" rtlCol="false" tIns="0" lIns="0" bIns="0" rIns="0">
            <a:spAutoFit/>
          </a:bodyPr>
          <a:lstStyle/>
          <a:p>
            <a:pPr algn="l">
              <a:lnSpc>
                <a:spcPts val="4077"/>
              </a:lnSpc>
            </a:pPr>
            <a:r>
              <a:rPr lang="en-US" sz="2912">
                <a:solidFill>
                  <a:srgbClr val="FFFFFF"/>
                </a:solidFill>
                <a:latin typeface="Poppins"/>
                <a:ea typeface="Poppins"/>
                <a:cs typeface="Poppins"/>
                <a:sym typeface="Poppins"/>
              </a:rPr>
              <a:t>Conséquences possibles : mauvaise allocation des ressources, inégalités entre établissements</a:t>
            </a:r>
          </a:p>
        </p:txBody>
      </p:sp>
      <p:sp>
        <p:nvSpPr>
          <p:cNvPr name="TextBox 19" id="19"/>
          <p:cNvSpPr txBox="true"/>
          <p:nvPr/>
        </p:nvSpPr>
        <p:spPr>
          <a:xfrm rot="0">
            <a:off x="1757867" y="5157946"/>
            <a:ext cx="14002724" cy="516571"/>
          </a:xfrm>
          <a:prstGeom prst="rect">
            <a:avLst/>
          </a:prstGeom>
        </p:spPr>
        <p:txBody>
          <a:bodyPr anchor="t" rtlCol="false" tIns="0" lIns="0" bIns="0" rIns="0">
            <a:spAutoFit/>
          </a:bodyPr>
          <a:lstStyle/>
          <a:p>
            <a:pPr algn="l">
              <a:lnSpc>
                <a:spcPts val="4077"/>
              </a:lnSpc>
            </a:pPr>
            <a:r>
              <a:rPr lang="en-US" sz="2912">
                <a:solidFill>
                  <a:srgbClr val="FFFFFF"/>
                </a:solidFill>
                <a:latin typeface="Poppins"/>
                <a:ea typeface="Poppins"/>
                <a:cs typeface="Poppins"/>
                <a:sym typeface="Poppins"/>
              </a:rPr>
              <a:t>14 universités publiques → répartition inégale des performances</a:t>
            </a:r>
          </a:p>
        </p:txBody>
      </p:sp>
      <p:grpSp>
        <p:nvGrpSpPr>
          <p:cNvPr name="Group 20" id="20"/>
          <p:cNvGrpSpPr/>
          <p:nvPr/>
        </p:nvGrpSpPr>
        <p:grpSpPr>
          <a:xfrm rot="0">
            <a:off x="1057275" y="7582637"/>
            <a:ext cx="15959684" cy="1025152"/>
            <a:chOff x="0" y="0"/>
            <a:chExt cx="4040971" cy="259567"/>
          </a:xfrm>
        </p:grpSpPr>
        <p:sp>
          <p:nvSpPr>
            <p:cNvPr name="Freeform 21" id="21"/>
            <p:cNvSpPr/>
            <p:nvPr/>
          </p:nvSpPr>
          <p:spPr>
            <a:xfrm flipH="false" flipV="false" rot="0">
              <a:off x="0" y="0"/>
              <a:ext cx="4040971" cy="259567"/>
            </a:xfrm>
            <a:custGeom>
              <a:avLst/>
              <a:gdLst/>
              <a:ahLst/>
              <a:cxnLst/>
              <a:rect r="r" b="b" t="t" l="l"/>
              <a:pathLst>
                <a:path h="259567" w="4040971">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name="TextBox 22" id="22"/>
            <p:cNvSpPr txBox="true"/>
            <p:nvPr/>
          </p:nvSpPr>
          <p:spPr>
            <a:xfrm>
              <a:off x="0" y="-38100"/>
              <a:ext cx="4040971" cy="297667"/>
            </a:xfrm>
            <a:prstGeom prst="rect">
              <a:avLst/>
            </a:prstGeom>
          </p:spPr>
          <p:txBody>
            <a:bodyPr anchor="ctr" rtlCol="false" tIns="50800" lIns="50800" bIns="50800" rIns="50800"/>
            <a:lstStyle/>
            <a:p>
              <a:pPr algn="ctr">
                <a:lnSpc>
                  <a:spcPts val="2659"/>
                </a:lnSpc>
              </a:pPr>
            </a:p>
          </p:txBody>
        </p:sp>
      </p:grpSp>
      <p:sp>
        <p:nvSpPr>
          <p:cNvPr name="TextBox 23" id="23"/>
          <p:cNvSpPr txBox="true"/>
          <p:nvPr/>
        </p:nvSpPr>
        <p:spPr>
          <a:xfrm rot="0">
            <a:off x="1757867" y="7706435"/>
            <a:ext cx="14037823" cy="516571"/>
          </a:xfrm>
          <a:prstGeom prst="rect">
            <a:avLst/>
          </a:prstGeom>
        </p:spPr>
        <p:txBody>
          <a:bodyPr anchor="t" rtlCol="false" tIns="0" lIns="0" bIns="0" rIns="0">
            <a:spAutoFit/>
          </a:bodyPr>
          <a:lstStyle/>
          <a:p>
            <a:pPr algn="l">
              <a:lnSpc>
                <a:spcPts val="4077"/>
              </a:lnSpc>
            </a:pPr>
            <a:r>
              <a:rPr lang="en-US" sz="2912">
                <a:solidFill>
                  <a:srgbClr val="FFFFFF"/>
                </a:solidFill>
                <a:latin typeface="Poppins"/>
                <a:ea typeface="Poppins"/>
                <a:cs typeface="Poppins"/>
                <a:sym typeface="Poppins"/>
              </a:rPr>
              <a:t>Objectif du projet : aider le ministère avec un outil d'aide à la décision</a:t>
            </a:r>
          </a:p>
        </p:txBody>
      </p:sp>
      <p:sp>
        <p:nvSpPr>
          <p:cNvPr name="TextBox 24" id="24"/>
          <p:cNvSpPr txBox="true"/>
          <p:nvPr/>
        </p:nvSpPr>
        <p:spPr>
          <a:xfrm rot="0">
            <a:off x="9417195" y="1309270"/>
            <a:ext cx="4222164" cy="1521559"/>
          </a:xfrm>
          <a:prstGeom prst="rect">
            <a:avLst/>
          </a:prstGeom>
        </p:spPr>
        <p:txBody>
          <a:bodyPr anchor="t" rtlCol="false" tIns="0" lIns="0" bIns="0" rIns="0">
            <a:spAutoFit/>
          </a:bodyPr>
          <a:lstStyle/>
          <a:p>
            <a:pPr algn="ctr">
              <a:lnSpc>
                <a:spcPts val="12464"/>
              </a:lnSpc>
            </a:pPr>
            <a:r>
              <a:rPr lang="en-US" sz="8903">
                <a:solidFill>
                  <a:srgbClr val="9AB7FF"/>
                </a:solidFill>
                <a:latin typeface="Brittany"/>
                <a:ea typeface="Brittany"/>
                <a:cs typeface="Brittany"/>
                <a:sym typeface="Brittany"/>
              </a:rPr>
              <a:t>Introduction</a:t>
            </a:r>
          </a:p>
        </p:txBody>
      </p:sp>
      <p:sp>
        <p:nvSpPr>
          <p:cNvPr name="TextBox 25" id="25"/>
          <p:cNvSpPr txBox="true"/>
          <p:nvPr/>
        </p:nvSpPr>
        <p:spPr>
          <a:xfrm rot="0">
            <a:off x="1512753" y="1075640"/>
            <a:ext cx="15262494" cy="1280160"/>
          </a:xfrm>
          <a:prstGeom prst="rect">
            <a:avLst/>
          </a:prstGeom>
        </p:spPr>
        <p:txBody>
          <a:bodyPr anchor="t" rtlCol="false" tIns="0" lIns="0" bIns="0" rIns="0">
            <a:spAutoFit/>
          </a:bodyPr>
          <a:lstStyle/>
          <a:p>
            <a:pPr algn="ctr">
              <a:lnSpc>
                <a:spcPts val="8640"/>
              </a:lnSpc>
            </a:pPr>
            <a:r>
              <a:rPr lang="en-US" b="true" sz="9600">
                <a:solidFill>
                  <a:srgbClr val="2D2261"/>
                </a:solidFill>
                <a:latin typeface="Poppins Bold"/>
                <a:ea typeface="Poppins Bold"/>
                <a:cs typeface="Poppins Bold"/>
                <a:sym typeface="Poppins Bold"/>
              </a:rPr>
              <a:t>INTRODUCTION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28700" y="2721455"/>
            <a:ext cx="5325654" cy="4844089"/>
            <a:chOff x="0" y="0"/>
            <a:chExt cx="1402641" cy="1275810"/>
          </a:xfrm>
        </p:grpSpPr>
        <p:sp>
          <p:nvSpPr>
            <p:cNvPr name="Freeform 3" id="3"/>
            <p:cNvSpPr/>
            <p:nvPr/>
          </p:nvSpPr>
          <p:spPr>
            <a:xfrm flipH="false" flipV="false" rot="0">
              <a:off x="0" y="0"/>
              <a:ext cx="1402641" cy="1275810"/>
            </a:xfrm>
            <a:custGeom>
              <a:avLst/>
              <a:gdLst/>
              <a:ahLst/>
              <a:cxnLst/>
              <a:rect r="r" b="b" t="t" l="l"/>
              <a:pathLst>
                <a:path h="1275810" w="1402641">
                  <a:moveTo>
                    <a:pt x="43611" y="0"/>
                  </a:moveTo>
                  <a:lnTo>
                    <a:pt x="1359030" y="0"/>
                  </a:lnTo>
                  <a:cubicBezTo>
                    <a:pt x="1370597" y="0"/>
                    <a:pt x="1381689" y="4595"/>
                    <a:pt x="1389868" y="12773"/>
                  </a:cubicBezTo>
                  <a:cubicBezTo>
                    <a:pt x="1398047" y="20952"/>
                    <a:pt x="1402641" y="32045"/>
                    <a:pt x="1402641" y="43611"/>
                  </a:cubicBezTo>
                  <a:lnTo>
                    <a:pt x="1402641" y="1232198"/>
                  </a:lnTo>
                  <a:cubicBezTo>
                    <a:pt x="1402641" y="1243765"/>
                    <a:pt x="1398047" y="1254858"/>
                    <a:pt x="1389868" y="1263036"/>
                  </a:cubicBezTo>
                  <a:cubicBezTo>
                    <a:pt x="1381689" y="1271215"/>
                    <a:pt x="1370597" y="1275810"/>
                    <a:pt x="1359030" y="1275810"/>
                  </a:cubicBezTo>
                  <a:lnTo>
                    <a:pt x="43611" y="1275810"/>
                  </a:lnTo>
                  <a:cubicBezTo>
                    <a:pt x="19525" y="1275810"/>
                    <a:pt x="0" y="1256284"/>
                    <a:pt x="0" y="1232198"/>
                  </a:cubicBezTo>
                  <a:lnTo>
                    <a:pt x="0" y="43611"/>
                  </a:lnTo>
                  <a:cubicBezTo>
                    <a:pt x="0" y="32045"/>
                    <a:pt x="4595" y="20952"/>
                    <a:pt x="12773" y="12773"/>
                  </a:cubicBezTo>
                  <a:cubicBezTo>
                    <a:pt x="20952" y="4595"/>
                    <a:pt x="32045" y="0"/>
                    <a:pt x="43611" y="0"/>
                  </a:cubicBezTo>
                  <a:close/>
                </a:path>
              </a:pathLst>
            </a:custGeom>
            <a:solidFill>
              <a:srgbClr val="ECE1D7"/>
            </a:solidFill>
          </p:spPr>
        </p:sp>
        <p:sp>
          <p:nvSpPr>
            <p:cNvPr name="TextBox 4" id="4"/>
            <p:cNvSpPr txBox="true"/>
            <p:nvPr/>
          </p:nvSpPr>
          <p:spPr>
            <a:xfrm>
              <a:off x="0" y="-47625"/>
              <a:ext cx="1402641" cy="132343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2080684">
            <a:off x="10082077" y="8242051"/>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9426524">
            <a:off x="-3984660" y="-4765086"/>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624874">
            <a:off x="-884948" y="9077955"/>
            <a:ext cx="3242701" cy="1827704"/>
          </a:xfrm>
          <a:custGeom>
            <a:avLst/>
            <a:gdLst/>
            <a:ahLst/>
            <a:cxnLst/>
            <a:rect r="r" b="b" t="t" l="l"/>
            <a:pathLst>
              <a:path h="1827704" w="3242701">
                <a:moveTo>
                  <a:pt x="0" y="0"/>
                </a:moveTo>
                <a:lnTo>
                  <a:pt x="3242701" y="0"/>
                </a:lnTo>
                <a:lnTo>
                  <a:pt x="3242701" y="1827704"/>
                </a:lnTo>
                <a:lnTo>
                  <a:pt x="0" y="182770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6075185" y="-10287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9" id="9"/>
          <p:cNvSpPr txBox="true"/>
          <p:nvPr/>
        </p:nvSpPr>
        <p:spPr>
          <a:xfrm rot="0">
            <a:off x="2269843" y="824659"/>
            <a:ext cx="13338723" cy="1567815"/>
          </a:xfrm>
          <a:prstGeom prst="rect">
            <a:avLst/>
          </a:prstGeom>
        </p:spPr>
        <p:txBody>
          <a:bodyPr anchor="t" rtlCol="false" tIns="0" lIns="0" bIns="0" rIns="0">
            <a:spAutoFit/>
          </a:bodyPr>
          <a:lstStyle/>
          <a:p>
            <a:pPr algn="ctr">
              <a:lnSpc>
                <a:spcPts val="5759"/>
              </a:lnSpc>
            </a:pPr>
            <a:r>
              <a:rPr lang="en-US" b="true" sz="6399">
                <a:solidFill>
                  <a:srgbClr val="2D2261"/>
                </a:solidFill>
                <a:latin typeface="Poppins Bold"/>
                <a:ea typeface="Poppins Bold"/>
                <a:cs typeface="Poppins Bold"/>
                <a:sym typeface="Poppins Bold"/>
              </a:rPr>
              <a:t>Choix et Démarche Méthodologique</a:t>
            </a:r>
          </a:p>
        </p:txBody>
      </p:sp>
      <p:sp>
        <p:nvSpPr>
          <p:cNvPr name="TextBox 10" id="10"/>
          <p:cNvSpPr txBox="true"/>
          <p:nvPr/>
        </p:nvSpPr>
        <p:spPr>
          <a:xfrm rot="0">
            <a:off x="2260641" y="8685401"/>
            <a:ext cx="2284068" cy="399302"/>
          </a:xfrm>
          <a:prstGeom prst="rect">
            <a:avLst/>
          </a:prstGeom>
        </p:spPr>
        <p:txBody>
          <a:bodyPr anchor="t" rtlCol="false" tIns="0" lIns="0" bIns="0" rIns="0">
            <a:spAutoFit/>
          </a:bodyPr>
          <a:lstStyle/>
          <a:p>
            <a:pPr algn="ctr">
              <a:lnSpc>
                <a:spcPts val="2480"/>
              </a:lnSpc>
            </a:pPr>
            <a:r>
              <a:rPr lang="en-US" sz="2755">
                <a:solidFill>
                  <a:srgbClr val="FFFFFF"/>
                </a:solidFill>
                <a:latin typeface="Bungee"/>
                <a:ea typeface="Bungee"/>
                <a:cs typeface="Bungee"/>
                <a:sym typeface="Bungee"/>
              </a:rPr>
              <a:t>4</a:t>
            </a:r>
          </a:p>
        </p:txBody>
      </p:sp>
      <p:grpSp>
        <p:nvGrpSpPr>
          <p:cNvPr name="Group 11" id="11"/>
          <p:cNvGrpSpPr/>
          <p:nvPr/>
        </p:nvGrpSpPr>
        <p:grpSpPr>
          <a:xfrm rot="0">
            <a:off x="1183338" y="4124902"/>
            <a:ext cx="4953636" cy="632499"/>
            <a:chOff x="0" y="0"/>
            <a:chExt cx="1429732" cy="182554"/>
          </a:xfrm>
        </p:grpSpPr>
        <p:sp>
          <p:nvSpPr>
            <p:cNvPr name="Freeform 12" id="12"/>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13" id="13"/>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grpSp>
        <p:nvGrpSpPr>
          <p:cNvPr name="Group 14" id="14"/>
          <p:cNvGrpSpPr/>
          <p:nvPr/>
        </p:nvGrpSpPr>
        <p:grpSpPr>
          <a:xfrm rot="0">
            <a:off x="1183338" y="3205058"/>
            <a:ext cx="4953636" cy="632499"/>
            <a:chOff x="0" y="0"/>
            <a:chExt cx="1429732" cy="182554"/>
          </a:xfrm>
        </p:grpSpPr>
        <p:sp>
          <p:nvSpPr>
            <p:cNvPr name="Freeform 15" id="15"/>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16" id="16"/>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183338" y="5007698"/>
            <a:ext cx="4953636" cy="632499"/>
            <a:chOff x="0" y="0"/>
            <a:chExt cx="1429732" cy="182554"/>
          </a:xfrm>
        </p:grpSpPr>
        <p:sp>
          <p:nvSpPr>
            <p:cNvPr name="Freeform 18" id="18"/>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19" id="19"/>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sp>
        <p:nvSpPr>
          <p:cNvPr name="TextBox 20" id="20"/>
          <p:cNvSpPr txBox="true"/>
          <p:nvPr/>
        </p:nvSpPr>
        <p:spPr>
          <a:xfrm rot="0">
            <a:off x="1497484" y="4273304"/>
            <a:ext cx="4273749"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2 : Collecter les données</a:t>
            </a:r>
          </a:p>
        </p:txBody>
      </p:sp>
      <p:sp>
        <p:nvSpPr>
          <p:cNvPr name="TextBox 21" id="21"/>
          <p:cNvSpPr txBox="true"/>
          <p:nvPr/>
        </p:nvSpPr>
        <p:spPr>
          <a:xfrm rot="0">
            <a:off x="1487959" y="5167117"/>
            <a:ext cx="4101407"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3 : Explorer les données</a:t>
            </a:r>
          </a:p>
        </p:txBody>
      </p:sp>
      <p:sp>
        <p:nvSpPr>
          <p:cNvPr name="TextBox 22" id="22"/>
          <p:cNvSpPr txBox="true"/>
          <p:nvPr/>
        </p:nvSpPr>
        <p:spPr>
          <a:xfrm rot="0">
            <a:off x="1530742" y="3343954"/>
            <a:ext cx="4465273" cy="303610"/>
          </a:xfrm>
          <a:prstGeom prst="rect">
            <a:avLst/>
          </a:prstGeom>
        </p:spPr>
        <p:txBody>
          <a:bodyPr anchor="t" rtlCol="false" tIns="0" lIns="0" bIns="0" rIns="0">
            <a:spAutoFit/>
          </a:bodyPr>
          <a:lstStyle/>
          <a:p>
            <a:pPr algn="l">
              <a:lnSpc>
                <a:spcPts val="2330"/>
              </a:lnSpc>
            </a:pPr>
            <a:r>
              <a:rPr lang="en-US" sz="2118" b="true">
                <a:solidFill>
                  <a:srgbClr val="FFFFFF"/>
                </a:solidFill>
                <a:latin typeface="Quicksand Bold"/>
                <a:ea typeface="Quicksand Bold"/>
                <a:cs typeface="Quicksand Bold"/>
                <a:sym typeface="Quicksand Bold"/>
              </a:rPr>
              <a:t>Étape 1 : Définir le problème</a:t>
            </a:r>
          </a:p>
        </p:txBody>
      </p:sp>
      <p:grpSp>
        <p:nvGrpSpPr>
          <p:cNvPr name="Group 23" id="23"/>
          <p:cNvGrpSpPr/>
          <p:nvPr/>
        </p:nvGrpSpPr>
        <p:grpSpPr>
          <a:xfrm rot="0">
            <a:off x="1132731" y="5887364"/>
            <a:ext cx="4953636" cy="632499"/>
            <a:chOff x="0" y="0"/>
            <a:chExt cx="1429732" cy="182554"/>
          </a:xfrm>
        </p:grpSpPr>
        <p:sp>
          <p:nvSpPr>
            <p:cNvPr name="Freeform 24" id="24"/>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25" id="25"/>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sp>
        <p:nvSpPr>
          <p:cNvPr name="TextBox 26" id="26"/>
          <p:cNvSpPr txBox="true"/>
          <p:nvPr/>
        </p:nvSpPr>
        <p:spPr>
          <a:xfrm rot="0">
            <a:off x="1511692" y="6030721"/>
            <a:ext cx="4155788"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4 : Préparer les données</a:t>
            </a:r>
          </a:p>
        </p:txBody>
      </p:sp>
      <p:grpSp>
        <p:nvGrpSpPr>
          <p:cNvPr name="Group 27" id="27"/>
          <p:cNvGrpSpPr/>
          <p:nvPr/>
        </p:nvGrpSpPr>
        <p:grpSpPr>
          <a:xfrm rot="0">
            <a:off x="7003567" y="2706240"/>
            <a:ext cx="5325654" cy="4844089"/>
            <a:chOff x="0" y="0"/>
            <a:chExt cx="1402641" cy="1275810"/>
          </a:xfrm>
        </p:grpSpPr>
        <p:sp>
          <p:nvSpPr>
            <p:cNvPr name="Freeform 28" id="28"/>
            <p:cNvSpPr/>
            <p:nvPr/>
          </p:nvSpPr>
          <p:spPr>
            <a:xfrm flipH="false" flipV="false" rot="0">
              <a:off x="0" y="0"/>
              <a:ext cx="1402641" cy="1275810"/>
            </a:xfrm>
            <a:custGeom>
              <a:avLst/>
              <a:gdLst/>
              <a:ahLst/>
              <a:cxnLst/>
              <a:rect r="r" b="b" t="t" l="l"/>
              <a:pathLst>
                <a:path h="1275810" w="1402641">
                  <a:moveTo>
                    <a:pt x="43611" y="0"/>
                  </a:moveTo>
                  <a:lnTo>
                    <a:pt x="1359030" y="0"/>
                  </a:lnTo>
                  <a:cubicBezTo>
                    <a:pt x="1370597" y="0"/>
                    <a:pt x="1381689" y="4595"/>
                    <a:pt x="1389868" y="12773"/>
                  </a:cubicBezTo>
                  <a:cubicBezTo>
                    <a:pt x="1398047" y="20952"/>
                    <a:pt x="1402641" y="32045"/>
                    <a:pt x="1402641" y="43611"/>
                  </a:cubicBezTo>
                  <a:lnTo>
                    <a:pt x="1402641" y="1232198"/>
                  </a:lnTo>
                  <a:cubicBezTo>
                    <a:pt x="1402641" y="1243765"/>
                    <a:pt x="1398047" y="1254858"/>
                    <a:pt x="1389868" y="1263036"/>
                  </a:cubicBezTo>
                  <a:cubicBezTo>
                    <a:pt x="1381689" y="1271215"/>
                    <a:pt x="1370597" y="1275810"/>
                    <a:pt x="1359030" y="1275810"/>
                  </a:cubicBezTo>
                  <a:lnTo>
                    <a:pt x="43611" y="1275810"/>
                  </a:lnTo>
                  <a:cubicBezTo>
                    <a:pt x="19525" y="1275810"/>
                    <a:pt x="0" y="1256284"/>
                    <a:pt x="0" y="1232198"/>
                  </a:cubicBezTo>
                  <a:lnTo>
                    <a:pt x="0" y="43611"/>
                  </a:lnTo>
                  <a:cubicBezTo>
                    <a:pt x="0" y="32045"/>
                    <a:pt x="4595" y="20952"/>
                    <a:pt x="12773" y="12773"/>
                  </a:cubicBezTo>
                  <a:cubicBezTo>
                    <a:pt x="20952" y="4595"/>
                    <a:pt x="32045" y="0"/>
                    <a:pt x="43611" y="0"/>
                  </a:cubicBezTo>
                  <a:close/>
                </a:path>
              </a:pathLst>
            </a:custGeom>
            <a:solidFill>
              <a:srgbClr val="ECE1D7"/>
            </a:solidFill>
          </p:spPr>
        </p:sp>
        <p:sp>
          <p:nvSpPr>
            <p:cNvPr name="TextBox 29" id="29"/>
            <p:cNvSpPr txBox="true"/>
            <p:nvPr/>
          </p:nvSpPr>
          <p:spPr>
            <a:xfrm>
              <a:off x="0" y="-47625"/>
              <a:ext cx="1402641" cy="1323435"/>
            </a:xfrm>
            <a:prstGeom prst="rect">
              <a:avLst/>
            </a:prstGeom>
          </p:spPr>
          <p:txBody>
            <a:bodyPr anchor="ctr" rtlCol="false" tIns="50800" lIns="50800" bIns="50800" rIns="50800"/>
            <a:lstStyle/>
            <a:p>
              <a:pPr algn="ctr">
                <a:lnSpc>
                  <a:spcPts val="3032"/>
                </a:lnSpc>
              </a:pPr>
            </a:p>
          </p:txBody>
        </p:sp>
      </p:grpSp>
      <p:grpSp>
        <p:nvGrpSpPr>
          <p:cNvPr name="Group 30" id="30"/>
          <p:cNvGrpSpPr/>
          <p:nvPr/>
        </p:nvGrpSpPr>
        <p:grpSpPr>
          <a:xfrm rot="0">
            <a:off x="7241096" y="4095595"/>
            <a:ext cx="4953636" cy="632499"/>
            <a:chOff x="0" y="0"/>
            <a:chExt cx="1429732" cy="182554"/>
          </a:xfrm>
        </p:grpSpPr>
        <p:sp>
          <p:nvSpPr>
            <p:cNvPr name="Freeform 31" id="31"/>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32" id="32"/>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grpSp>
        <p:nvGrpSpPr>
          <p:cNvPr name="Group 33" id="33"/>
          <p:cNvGrpSpPr/>
          <p:nvPr/>
        </p:nvGrpSpPr>
        <p:grpSpPr>
          <a:xfrm rot="0">
            <a:off x="7241096" y="3175750"/>
            <a:ext cx="4953636" cy="632499"/>
            <a:chOff x="0" y="0"/>
            <a:chExt cx="1429732" cy="182554"/>
          </a:xfrm>
        </p:grpSpPr>
        <p:sp>
          <p:nvSpPr>
            <p:cNvPr name="Freeform 34" id="34"/>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35" id="35"/>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grpSp>
        <p:nvGrpSpPr>
          <p:cNvPr name="Group 36" id="36"/>
          <p:cNvGrpSpPr/>
          <p:nvPr/>
        </p:nvGrpSpPr>
        <p:grpSpPr>
          <a:xfrm rot="0">
            <a:off x="7241096" y="4978390"/>
            <a:ext cx="4953636" cy="632499"/>
            <a:chOff x="0" y="0"/>
            <a:chExt cx="1429732" cy="182554"/>
          </a:xfrm>
        </p:grpSpPr>
        <p:sp>
          <p:nvSpPr>
            <p:cNvPr name="Freeform 37" id="37"/>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38" id="38"/>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sp>
        <p:nvSpPr>
          <p:cNvPr name="TextBox 39" id="39"/>
          <p:cNvSpPr txBox="true"/>
          <p:nvPr/>
        </p:nvSpPr>
        <p:spPr>
          <a:xfrm rot="0">
            <a:off x="7555243" y="4243997"/>
            <a:ext cx="4273749"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6 : Entraîner </a:t>
            </a:r>
          </a:p>
        </p:txBody>
      </p:sp>
      <p:sp>
        <p:nvSpPr>
          <p:cNvPr name="TextBox 40" id="40"/>
          <p:cNvSpPr txBox="true"/>
          <p:nvPr/>
        </p:nvSpPr>
        <p:spPr>
          <a:xfrm rot="0">
            <a:off x="7555243" y="5137809"/>
            <a:ext cx="4101407"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7 : Évaluer</a:t>
            </a:r>
          </a:p>
        </p:txBody>
      </p:sp>
      <p:sp>
        <p:nvSpPr>
          <p:cNvPr name="TextBox 41" id="41"/>
          <p:cNvSpPr txBox="true"/>
          <p:nvPr/>
        </p:nvSpPr>
        <p:spPr>
          <a:xfrm rot="0">
            <a:off x="7588500" y="3314647"/>
            <a:ext cx="4465273" cy="303610"/>
          </a:xfrm>
          <a:prstGeom prst="rect">
            <a:avLst/>
          </a:prstGeom>
        </p:spPr>
        <p:txBody>
          <a:bodyPr anchor="t" rtlCol="false" tIns="0" lIns="0" bIns="0" rIns="0">
            <a:spAutoFit/>
          </a:bodyPr>
          <a:lstStyle/>
          <a:p>
            <a:pPr algn="l">
              <a:lnSpc>
                <a:spcPts val="2330"/>
              </a:lnSpc>
            </a:pPr>
            <a:r>
              <a:rPr lang="en-US" sz="2118" b="true">
                <a:solidFill>
                  <a:srgbClr val="FFFFFF"/>
                </a:solidFill>
                <a:latin typeface="Quicksand Bold"/>
                <a:ea typeface="Quicksand Bold"/>
                <a:cs typeface="Quicksand Bold"/>
                <a:sym typeface="Quicksand Bold"/>
              </a:rPr>
              <a:t>Étape 5 : Choisir un modèle</a:t>
            </a:r>
          </a:p>
        </p:txBody>
      </p:sp>
      <p:grpSp>
        <p:nvGrpSpPr>
          <p:cNvPr name="Group 42" id="42"/>
          <p:cNvGrpSpPr/>
          <p:nvPr/>
        </p:nvGrpSpPr>
        <p:grpSpPr>
          <a:xfrm rot="0">
            <a:off x="7190489" y="5858056"/>
            <a:ext cx="4953636" cy="632499"/>
            <a:chOff x="0" y="0"/>
            <a:chExt cx="1429732" cy="182554"/>
          </a:xfrm>
        </p:grpSpPr>
        <p:sp>
          <p:nvSpPr>
            <p:cNvPr name="Freeform 43" id="43"/>
            <p:cNvSpPr/>
            <p:nvPr/>
          </p:nvSpPr>
          <p:spPr>
            <a:xfrm flipH="false" flipV="false" rot="0">
              <a:off x="0" y="0"/>
              <a:ext cx="1429732" cy="182554"/>
            </a:xfrm>
            <a:custGeom>
              <a:avLst/>
              <a:gdLst/>
              <a:ahLst/>
              <a:cxnLst/>
              <a:rect r="r" b="b" t="t" l="l"/>
              <a:pathLst>
                <a:path h="182554" w="1429732">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name="TextBox 44" id="44"/>
            <p:cNvSpPr txBox="true"/>
            <p:nvPr/>
          </p:nvSpPr>
          <p:spPr>
            <a:xfrm>
              <a:off x="0" y="-38100"/>
              <a:ext cx="1429732" cy="220654"/>
            </a:xfrm>
            <a:prstGeom prst="rect">
              <a:avLst/>
            </a:prstGeom>
          </p:spPr>
          <p:txBody>
            <a:bodyPr anchor="ctr" rtlCol="false" tIns="50800" lIns="50800" bIns="50800" rIns="50800"/>
            <a:lstStyle/>
            <a:p>
              <a:pPr algn="ctr">
                <a:lnSpc>
                  <a:spcPts val="2659"/>
                </a:lnSpc>
                <a:spcBef>
                  <a:spcPct val="0"/>
                </a:spcBef>
              </a:pPr>
            </a:p>
          </p:txBody>
        </p:sp>
      </p:grpSp>
      <p:sp>
        <p:nvSpPr>
          <p:cNvPr name="TextBox 45" id="45"/>
          <p:cNvSpPr txBox="true"/>
          <p:nvPr/>
        </p:nvSpPr>
        <p:spPr>
          <a:xfrm rot="0">
            <a:off x="7588500" y="5991889"/>
            <a:ext cx="4155788" cy="302895"/>
          </a:xfrm>
          <a:prstGeom prst="rect">
            <a:avLst/>
          </a:prstGeom>
        </p:spPr>
        <p:txBody>
          <a:bodyPr anchor="t" rtlCol="false" tIns="0" lIns="0" bIns="0" rIns="0">
            <a:spAutoFit/>
          </a:bodyPr>
          <a:lstStyle/>
          <a:p>
            <a:pPr algn="l">
              <a:lnSpc>
                <a:spcPts val="2310"/>
              </a:lnSpc>
            </a:pPr>
            <a:r>
              <a:rPr lang="en-US" sz="2100" b="true">
                <a:solidFill>
                  <a:srgbClr val="FFFFFF"/>
                </a:solidFill>
                <a:latin typeface="Quicksand Bold"/>
                <a:ea typeface="Quicksand Bold"/>
                <a:cs typeface="Quicksand Bold"/>
                <a:sym typeface="Quicksand Bold"/>
              </a:rPr>
              <a:t>Étape 8 : Déployer</a:t>
            </a:r>
          </a:p>
        </p:txBody>
      </p:sp>
      <p:grpSp>
        <p:nvGrpSpPr>
          <p:cNvPr name="Group 46" id="46"/>
          <p:cNvGrpSpPr/>
          <p:nvPr/>
        </p:nvGrpSpPr>
        <p:grpSpPr>
          <a:xfrm rot="0">
            <a:off x="12591515" y="3792491"/>
            <a:ext cx="5313964" cy="3990601"/>
            <a:chOff x="0" y="0"/>
            <a:chExt cx="1399563" cy="1051023"/>
          </a:xfrm>
        </p:grpSpPr>
        <p:sp>
          <p:nvSpPr>
            <p:cNvPr name="Freeform 47" id="47"/>
            <p:cNvSpPr/>
            <p:nvPr/>
          </p:nvSpPr>
          <p:spPr>
            <a:xfrm flipH="false" flipV="false" rot="0">
              <a:off x="0" y="0"/>
              <a:ext cx="1399563" cy="1051023"/>
            </a:xfrm>
            <a:custGeom>
              <a:avLst/>
              <a:gdLst/>
              <a:ahLst/>
              <a:cxnLst/>
              <a:rect r="r" b="b" t="t" l="l"/>
              <a:pathLst>
                <a:path h="1051023" w="1399563">
                  <a:moveTo>
                    <a:pt x="43707" y="0"/>
                  </a:moveTo>
                  <a:lnTo>
                    <a:pt x="1355856" y="0"/>
                  </a:lnTo>
                  <a:cubicBezTo>
                    <a:pt x="1367447" y="0"/>
                    <a:pt x="1378564" y="4605"/>
                    <a:pt x="1386761" y="12801"/>
                  </a:cubicBezTo>
                  <a:cubicBezTo>
                    <a:pt x="1394958" y="20998"/>
                    <a:pt x="1399563" y="32115"/>
                    <a:pt x="1399563" y="43707"/>
                  </a:cubicBezTo>
                  <a:lnTo>
                    <a:pt x="1399563" y="1007316"/>
                  </a:lnTo>
                  <a:cubicBezTo>
                    <a:pt x="1399563" y="1031454"/>
                    <a:pt x="1379994" y="1051023"/>
                    <a:pt x="1355856" y="1051023"/>
                  </a:cubicBezTo>
                  <a:lnTo>
                    <a:pt x="43707" y="1051023"/>
                  </a:lnTo>
                  <a:cubicBezTo>
                    <a:pt x="32115" y="1051023"/>
                    <a:pt x="20998" y="1046418"/>
                    <a:pt x="12801" y="1038221"/>
                  </a:cubicBezTo>
                  <a:cubicBezTo>
                    <a:pt x="4605" y="1030024"/>
                    <a:pt x="0" y="1018907"/>
                    <a:pt x="0" y="1007316"/>
                  </a:cubicBezTo>
                  <a:lnTo>
                    <a:pt x="0" y="43707"/>
                  </a:lnTo>
                  <a:cubicBezTo>
                    <a:pt x="0" y="19568"/>
                    <a:pt x="19568" y="0"/>
                    <a:pt x="43707" y="0"/>
                  </a:cubicBezTo>
                  <a:close/>
                </a:path>
              </a:pathLst>
            </a:custGeom>
            <a:solidFill>
              <a:srgbClr val="ECE1D7"/>
            </a:solidFill>
          </p:spPr>
        </p:sp>
        <p:sp>
          <p:nvSpPr>
            <p:cNvPr name="TextBox 48" id="48"/>
            <p:cNvSpPr txBox="true"/>
            <p:nvPr/>
          </p:nvSpPr>
          <p:spPr>
            <a:xfrm>
              <a:off x="0" y="-47625"/>
              <a:ext cx="1399563" cy="1098648"/>
            </a:xfrm>
            <a:prstGeom prst="rect">
              <a:avLst/>
            </a:prstGeom>
          </p:spPr>
          <p:txBody>
            <a:bodyPr anchor="ctr" rtlCol="false" tIns="50800" lIns="50800" bIns="50800" rIns="50800"/>
            <a:lstStyle/>
            <a:p>
              <a:pPr algn="ctr">
                <a:lnSpc>
                  <a:spcPts val="3032"/>
                </a:lnSpc>
              </a:pPr>
            </a:p>
          </p:txBody>
        </p:sp>
      </p:grpSp>
      <p:sp>
        <p:nvSpPr>
          <p:cNvPr name="TextBox 49" id="49"/>
          <p:cNvSpPr txBox="true"/>
          <p:nvPr/>
        </p:nvSpPr>
        <p:spPr>
          <a:xfrm rot="0">
            <a:off x="12977024" y="4330482"/>
            <a:ext cx="4515896" cy="2370058"/>
          </a:xfrm>
          <a:prstGeom prst="rect">
            <a:avLst/>
          </a:prstGeom>
        </p:spPr>
        <p:txBody>
          <a:bodyPr anchor="t" rtlCol="false" tIns="0" lIns="0" bIns="0" rIns="0">
            <a:spAutoFit/>
          </a:bodyPr>
          <a:lstStyle/>
          <a:p>
            <a:pPr algn="l" marL="0" indent="0" lvl="0">
              <a:lnSpc>
                <a:spcPts val="2330"/>
              </a:lnSpc>
              <a:spcBef>
                <a:spcPct val="0"/>
              </a:spcBef>
            </a:pPr>
            <a:r>
              <a:rPr lang="en-US" b="true" sz="2118" strike="noStrike" u="none">
                <a:solidFill>
                  <a:srgbClr val="292562"/>
                </a:solidFill>
                <a:latin typeface="Quicksand Bold"/>
                <a:ea typeface="Quicksand Bold"/>
                <a:cs typeface="Quicksand Bold"/>
                <a:sym typeface="Quicksand Bold"/>
              </a:rPr>
              <a:t>Dataset choisi : Portail Open Data Tunisien (data.gov.tn)</a:t>
            </a:r>
          </a:p>
          <a:p>
            <a:pPr algn="l" marL="0" indent="0" lvl="0">
              <a:lnSpc>
                <a:spcPts val="2330"/>
              </a:lnSpc>
              <a:spcBef>
                <a:spcPct val="0"/>
              </a:spcBef>
            </a:pPr>
            <a:r>
              <a:rPr lang="en-US" b="true" sz="2118" strike="noStrike" u="none">
                <a:solidFill>
                  <a:srgbClr val="292562"/>
                </a:solidFill>
                <a:latin typeface="Quicksand Bold"/>
                <a:ea typeface="Quicksand Bold"/>
                <a:cs typeface="Quicksand Bold"/>
                <a:sym typeface="Quicksand Bold"/>
              </a:rPr>
              <a:t>• 2 datasets officiels </a:t>
            </a:r>
          </a:p>
          <a:p>
            <a:pPr algn="l" marL="0" indent="0" lvl="0">
              <a:lnSpc>
                <a:spcPts val="2330"/>
              </a:lnSpc>
              <a:spcBef>
                <a:spcPct val="0"/>
              </a:spcBef>
            </a:pPr>
            <a:r>
              <a:rPr lang="en-US" b="true" sz="2118" strike="noStrike" u="none">
                <a:solidFill>
                  <a:srgbClr val="292562"/>
                </a:solidFill>
                <a:latin typeface="Quicksand Bold"/>
                <a:ea typeface="Quicksand Bold"/>
                <a:cs typeface="Quicksand Bold"/>
                <a:sym typeface="Quicksand Bold"/>
              </a:rPr>
              <a:t>• 2 083 lignes pour diplômés </a:t>
            </a:r>
          </a:p>
          <a:p>
            <a:pPr algn="l" marL="0" indent="0" lvl="0">
              <a:lnSpc>
                <a:spcPts val="2330"/>
              </a:lnSpc>
              <a:spcBef>
                <a:spcPct val="0"/>
              </a:spcBef>
            </a:pPr>
            <a:r>
              <a:rPr lang="en-US" b="true" sz="2118" strike="noStrike" u="none">
                <a:solidFill>
                  <a:srgbClr val="292562"/>
                </a:solidFill>
                <a:latin typeface="Quicksand Bold"/>
                <a:ea typeface="Quicksand Bold"/>
                <a:cs typeface="Quicksand Bold"/>
                <a:sym typeface="Quicksand Bold"/>
              </a:rPr>
              <a:t>• 19 878 lignes pour inscrits </a:t>
            </a:r>
          </a:p>
          <a:p>
            <a:pPr algn="l" marL="0" indent="0" lvl="0">
              <a:lnSpc>
                <a:spcPts val="2330"/>
              </a:lnSpc>
              <a:spcBef>
                <a:spcPct val="0"/>
              </a:spcBef>
            </a:pPr>
            <a:r>
              <a:rPr lang="en-US" b="true" sz="2118" strike="noStrike" u="none">
                <a:solidFill>
                  <a:srgbClr val="292562"/>
                </a:solidFill>
                <a:latin typeface="Quicksand Bold"/>
                <a:ea typeface="Quicksand Bold"/>
                <a:cs typeface="Quicksand Bold"/>
                <a:sym typeface="Quicksand Bold"/>
              </a:rPr>
              <a:t>• Variable cible : taux de réussite (continue 0-1) → régression</a:t>
            </a:r>
          </a:p>
          <a:p>
            <a:pPr algn="l" marL="0" indent="0" lvl="0">
              <a:lnSpc>
                <a:spcPts val="2330"/>
              </a:lnSpc>
              <a:spcBef>
                <a:spcPct val="0"/>
              </a:spcBef>
            </a:pPr>
          </a:p>
        </p:txBody>
      </p:sp>
      <p:sp>
        <p:nvSpPr>
          <p:cNvPr name="TextBox 50" id="50"/>
          <p:cNvSpPr txBox="true"/>
          <p:nvPr/>
        </p:nvSpPr>
        <p:spPr>
          <a:xfrm rot="0">
            <a:off x="12877265" y="3047391"/>
            <a:ext cx="4015710" cy="1027431"/>
          </a:xfrm>
          <a:prstGeom prst="rect">
            <a:avLst/>
          </a:prstGeom>
        </p:spPr>
        <p:txBody>
          <a:bodyPr anchor="t" rtlCol="false" tIns="0" lIns="0" bIns="0" rIns="0">
            <a:spAutoFit/>
          </a:bodyPr>
          <a:lstStyle/>
          <a:p>
            <a:pPr algn="ctr">
              <a:lnSpc>
                <a:spcPts val="8399"/>
              </a:lnSpc>
            </a:pPr>
            <a:r>
              <a:rPr lang="en-US" sz="5999">
                <a:solidFill>
                  <a:srgbClr val="2D2261"/>
                </a:solidFill>
                <a:latin typeface="Brittany"/>
                <a:ea typeface="Brittany"/>
                <a:cs typeface="Brittany"/>
                <a:sym typeface="Brittany"/>
              </a:rPr>
              <a:t>Choix de dataset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6812404" y="7552613"/>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0">
            <a:off x="12993540" y="-2095015"/>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267547" y="14808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6270495" y="806502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false" flipV="false" rot="0">
            <a:off x="457321" y="2709332"/>
            <a:ext cx="9123410" cy="3057915"/>
          </a:xfrm>
          <a:custGeom>
            <a:avLst/>
            <a:gdLst/>
            <a:ahLst/>
            <a:cxnLst/>
            <a:rect r="r" b="b" t="t" l="l"/>
            <a:pathLst>
              <a:path h="3057915" w="9123410">
                <a:moveTo>
                  <a:pt x="0" y="0"/>
                </a:moveTo>
                <a:lnTo>
                  <a:pt x="9123410" y="0"/>
                </a:lnTo>
                <a:lnTo>
                  <a:pt x="9123410" y="3057915"/>
                </a:lnTo>
                <a:lnTo>
                  <a:pt x="0" y="3057915"/>
                </a:lnTo>
                <a:lnTo>
                  <a:pt x="0" y="0"/>
                </a:lnTo>
                <a:close/>
              </a:path>
            </a:pathLst>
          </a:custGeom>
          <a:blipFill>
            <a:blip r:embed="rId10"/>
            <a:stretch>
              <a:fillRect l="0" t="0" r="0" b="0"/>
            </a:stretch>
          </a:blipFill>
        </p:spPr>
      </p:sp>
      <p:grpSp>
        <p:nvGrpSpPr>
          <p:cNvPr name="Group 10" id="10"/>
          <p:cNvGrpSpPr/>
          <p:nvPr/>
        </p:nvGrpSpPr>
        <p:grpSpPr>
          <a:xfrm rot="0">
            <a:off x="9784382" y="7038269"/>
            <a:ext cx="6270713" cy="2563649"/>
            <a:chOff x="0" y="0"/>
            <a:chExt cx="8360950" cy="3418199"/>
          </a:xfrm>
        </p:grpSpPr>
        <p:grpSp>
          <p:nvGrpSpPr>
            <p:cNvPr name="Group 11" id="11"/>
            <p:cNvGrpSpPr/>
            <p:nvPr/>
          </p:nvGrpSpPr>
          <p:grpSpPr>
            <a:xfrm rot="0">
              <a:off x="0" y="0"/>
              <a:ext cx="8360950" cy="3418199"/>
              <a:chOff x="0" y="0"/>
              <a:chExt cx="1851798" cy="757069"/>
            </a:xfrm>
          </p:grpSpPr>
          <p:sp>
            <p:nvSpPr>
              <p:cNvPr name="Freeform 12" id="12"/>
              <p:cNvSpPr/>
              <p:nvPr/>
            </p:nvSpPr>
            <p:spPr>
              <a:xfrm flipH="false" flipV="false" rot="0">
                <a:off x="0" y="0"/>
                <a:ext cx="1851798" cy="757069"/>
              </a:xfrm>
              <a:custGeom>
                <a:avLst/>
                <a:gdLst/>
                <a:ahLst/>
                <a:cxnLst/>
                <a:rect r="r" b="b" t="t" l="l"/>
                <a:pathLst>
                  <a:path h="757069" w="1851798">
                    <a:moveTo>
                      <a:pt x="62965" y="0"/>
                    </a:moveTo>
                    <a:lnTo>
                      <a:pt x="1788833" y="0"/>
                    </a:lnTo>
                    <a:cubicBezTo>
                      <a:pt x="1823608" y="0"/>
                      <a:pt x="1851798" y="28191"/>
                      <a:pt x="1851798" y="62965"/>
                    </a:cubicBezTo>
                    <a:lnTo>
                      <a:pt x="1851798" y="694104"/>
                    </a:lnTo>
                    <a:cubicBezTo>
                      <a:pt x="1851798" y="728878"/>
                      <a:pt x="1823608" y="757069"/>
                      <a:pt x="1788833" y="757069"/>
                    </a:cubicBezTo>
                    <a:lnTo>
                      <a:pt x="62965" y="757069"/>
                    </a:lnTo>
                    <a:cubicBezTo>
                      <a:pt x="28191" y="757069"/>
                      <a:pt x="0" y="728878"/>
                      <a:pt x="0" y="694104"/>
                    </a:cubicBezTo>
                    <a:lnTo>
                      <a:pt x="0" y="62965"/>
                    </a:lnTo>
                    <a:cubicBezTo>
                      <a:pt x="0" y="28191"/>
                      <a:pt x="28191" y="0"/>
                      <a:pt x="62965" y="0"/>
                    </a:cubicBezTo>
                    <a:close/>
                  </a:path>
                </a:pathLst>
              </a:custGeom>
              <a:solidFill>
                <a:srgbClr val="ECE0D6"/>
              </a:solidFill>
              <a:ln w="9525" cap="rnd">
                <a:solidFill>
                  <a:srgbClr val="FFFFFF"/>
                </a:solidFill>
                <a:prstDash val="solid"/>
                <a:round/>
              </a:ln>
            </p:spPr>
          </p:sp>
          <p:sp>
            <p:nvSpPr>
              <p:cNvPr name="TextBox 13" id="13"/>
              <p:cNvSpPr txBox="true"/>
              <p:nvPr/>
            </p:nvSpPr>
            <p:spPr>
              <a:xfrm>
                <a:off x="0" y="-38100"/>
                <a:ext cx="1851798" cy="795169"/>
              </a:xfrm>
              <a:prstGeom prst="rect">
                <a:avLst/>
              </a:prstGeom>
            </p:spPr>
            <p:txBody>
              <a:bodyPr anchor="ctr" rtlCol="false" tIns="50800" lIns="50800" bIns="50800" rIns="50800"/>
              <a:lstStyle/>
              <a:p>
                <a:pPr algn="ctr">
                  <a:lnSpc>
                    <a:spcPts val="2659"/>
                  </a:lnSpc>
                </a:pPr>
              </a:p>
            </p:txBody>
          </p:sp>
        </p:grpSp>
        <p:sp>
          <p:nvSpPr>
            <p:cNvPr name="TextBox 14" id="14"/>
            <p:cNvSpPr txBox="true"/>
            <p:nvPr/>
          </p:nvSpPr>
          <p:spPr>
            <a:xfrm rot="0">
              <a:off x="1234077" y="207346"/>
              <a:ext cx="5892795" cy="2955882"/>
            </a:xfrm>
            <a:prstGeom prst="rect">
              <a:avLst/>
            </a:prstGeom>
          </p:spPr>
          <p:txBody>
            <a:bodyPr anchor="t" rtlCol="false" tIns="0" lIns="0" bIns="0" rIns="0">
              <a:spAutoFit/>
            </a:bodyPr>
            <a:lstStyle/>
            <a:p>
              <a:pPr algn="l">
                <a:lnSpc>
                  <a:spcPts val="3431"/>
                </a:lnSpc>
              </a:pPr>
              <a:r>
                <a:rPr lang="en-US" sz="2451" b="true">
                  <a:solidFill>
                    <a:srgbClr val="1D3163"/>
                  </a:solidFill>
                  <a:latin typeface="Quicksand Bold"/>
                  <a:ea typeface="Quicksand Bold"/>
                  <a:cs typeface="Quicksand Bold"/>
                  <a:sym typeface="Quicksand Bold"/>
                </a:rPr>
                <a:t>Résultat :</a:t>
              </a:r>
            </a:p>
            <a:p>
              <a:pPr algn="ctr">
                <a:lnSpc>
                  <a:spcPts val="2871"/>
                </a:lnSpc>
                <a:spcBef>
                  <a:spcPct val="0"/>
                </a:spcBef>
              </a:pPr>
              <a:r>
                <a:rPr lang="en-US" b="true" sz="2051">
                  <a:solidFill>
                    <a:srgbClr val="1D3163"/>
                  </a:solidFill>
                  <a:latin typeface="Quicksand Bold"/>
                  <a:ea typeface="Quicksand Bold"/>
                  <a:cs typeface="Quicksand Bold"/>
                  <a:sym typeface="Quicksand Bold"/>
                </a:rPr>
                <a:t> Random Forest et Gradient Boosting sont très proches (R² ≈ 0.976, MAE ≈ 1.3%).</a:t>
              </a:r>
              <a:r>
                <a:rPr lang="en-US" b="true" sz="2051">
                  <a:solidFill>
                    <a:srgbClr val="1D3163"/>
                  </a:solidFill>
                  <a:latin typeface="Quicksand Bold"/>
                  <a:ea typeface="Quicksand Bold"/>
                  <a:cs typeface="Quicksand Bold"/>
                  <a:sym typeface="Quicksand Bold"/>
                </a:rPr>
                <a:t> La régression linéaire est moins performante (R² = 0.9125).</a:t>
              </a:r>
            </a:p>
          </p:txBody>
        </p:sp>
      </p:grpSp>
      <p:grpSp>
        <p:nvGrpSpPr>
          <p:cNvPr name="Group 15" id="15"/>
          <p:cNvGrpSpPr/>
          <p:nvPr/>
        </p:nvGrpSpPr>
        <p:grpSpPr>
          <a:xfrm rot="0">
            <a:off x="10188046" y="3385998"/>
            <a:ext cx="6169155" cy="2547371"/>
            <a:chOff x="0" y="0"/>
            <a:chExt cx="815827" cy="336872"/>
          </a:xfrm>
        </p:grpSpPr>
        <p:sp>
          <p:nvSpPr>
            <p:cNvPr name="Freeform 16" id="16"/>
            <p:cNvSpPr/>
            <p:nvPr/>
          </p:nvSpPr>
          <p:spPr>
            <a:xfrm flipH="false" flipV="false" rot="0">
              <a:off x="0" y="0"/>
              <a:ext cx="815827" cy="336872"/>
            </a:xfrm>
            <a:custGeom>
              <a:avLst/>
              <a:gdLst/>
              <a:ahLst/>
              <a:cxnLst/>
              <a:rect r="r" b="b" t="t" l="l"/>
              <a:pathLst>
                <a:path h="336872" w="815827">
                  <a:moveTo>
                    <a:pt x="24511" y="0"/>
                  </a:moveTo>
                  <a:lnTo>
                    <a:pt x="791316" y="0"/>
                  </a:lnTo>
                  <a:cubicBezTo>
                    <a:pt x="797817" y="0"/>
                    <a:pt x="804051" y="2582"/>
                    <a:pt x="808648" y="7179"/>
                  </a:cubicBezTo>
                  <a:cubicBezTo>
                    <a:pt x="813244" y="11776"/>
                    <a:pt x="815827" y="18010"/>
                    <a:pt x="815827" y="24511"/>
                  </a:cubicBezTo>
                  <a:lnTo>
                    <a:pt x="815827" y="312361"/>
                  </a:lnTo>
                  <a:cubicBezTo>
                    <a:pt x="815827" y="325898"/>
                    <a:pt x="804853" y="336872"/>
                    <a:pt x="791316" y="336872"/>
                  </a:cubicBezTo>
                  <a:lnTo>
                    <a:pt x="24511" y="336872"/>
                  </a:lnTo>
                  <a:cubicBezTo>
                    <a:pt x="18010" y="336872"/>
                    <a:pt x="11776" y="334289"/>
                    <a:pt x="7179" y="329693"/>
                  </a:cubicBezTo>
                  <a:cubicBezTo>
                    <a:pt x="2582" y="325096"/>
                    <a:pt x="0" y="318862"/>
                    <a:pt x="0" y="312361"/>
                  </a:cubicBezTo>
                  <a:lnTo>
                    <a:pt x="0" y="24511"/>
                  </a:lnTo>
                  <a:cubicBezTo>
                    <a:pt x="0" y="10974"/>
                    <a:pt x="10974" y="0"/>
                    <a:pt x="24511" y="0"/>
                  </a:cubicBezTo>
                  <a:close/>
                </a:path>
              </a:pathLst>
            </a:custGeom>
            <a:ln w="38100" cap="rnd">
              <a:solidFill>
                <a:srgbClr val="2D2261"/>
              </a:solidFill>
              <a:prstDash val="solid"/>
              <a:round/>
            </a:ln>
          </p:spPr>
        </p:sp>
        <p:sp>
          <p:nvSpPr>
            <p:cNvPr name="TextBox 17" id="17"/>
            <p:cNvSpPr txBox="true"/>
            <p:nvPr/>
          </p:nvSpPr>
          <p:spPr>
            <a:xfrm>
              <a:off x="0" y="-47625"/>
              <a:ext cx="815827" cy="384497"/>
            </a:xfrm>
            <a:prstGeom prst="rect">
              <a:avLst/>
            </a:prstGeom>
          </p:spPr>
          <p:txBody>
            <a:bodyPr anchor="ctr" rtlCol="false" tIns="50800" lIns="50800" bIns="50800" rIns="50800"/>
            <a:lstStyle/>
            <a:p>
              <a:pPr algn="ctr">
                <a:lnSpc>
                  <a:spcPts val="3032"/>
                </a:lnSpc>
              </a:pPr>
            </a:p>
          </p:txBody>
        </p:sp>
      </p:grpSp>
      <p:sp>
        <p:nvSpPr>
          <p:cNvPr name="TextBox 18" id="18"/>
          <p:cNvSpPr txBox="true"/>
          <p:nvPr/>
        </p:nvSpPr>
        <p:spPr>
          <a:xfrm rot="0">
            <a:off x="2966074" y="715732"/>
            <a:ext cx="10308072" cy="1567815"/>
          </a:xfrm>
          <a:prstGeom prst="rect">
            <a:avLst/>
          </a:prstGeom>
        </p:spPr>
        <p:txBody>
          <a:bodyPr anchor="t" rtlCol="false" tIns="0" lIns="0" bIns="0" rIns="0">
            <a:spAutoFit/>
          </a:bodyPr>
          <a:lstStyle/>
          <a:p>
            <a:pPr algn="ctr">
              <a:lnSpc>
                <a:spcPts val="5759"/>
              </a:lnSpc>
            </a:pPr>
            <a:r>
              <a:rPr lang="en-US" b="true" sz="6399">
                <a:solidFill>
                  <a:srgbClr val="2D2261"/>
                </a:solidFill>
                <a:latin typeface="Poppins Bold"/>
                <a:ea typeface="Poppins Bold"/>
                <a:cs typeface="Poppins Bold"/>
                <a:sym typeface="Poppins Bold"/>
              </a:rPr>
              <a:t>Modélisation et Comparaison</a:t>
            </a:r>
          </a:p>
        </p:txBody>
      </p:sp>
      <p:sp>
        <p:nvSpPr>
          <p:cNvPr name="TextBox 19" id="19"/>
          <p:cNvSpPr txBox="true"/>
          <p:nvPr/>
        </p:nvSpPr>
        <p:spPr>
          <a:xfrm rot="0">
            <a:off x="435013" y="6135882"/>
            <a:ext cx="7662768" cy="2799080"/>
          </a:xfrm>
          <a:prstGeom prst="rect">
            <a:avLst/>
          </a:prstGeom>
        </p:spPr>
        <p:txBody>
          <a:bodyPr anchor="t" rtlCol="false" tIns="0" lIns="0" bIns="0" rIns="0">
            <a:spAutoFit/>
          </a:bodyPr>
          <a:lstStyle/>
          <a:p>
            <a:pPr algn="l" marL="496567" indent="-248284" lvl="1">
              <a:lnSpc>
                <a:spcPts val="3219"/>
              </a:lnSpc>
              <a:buFont typeface="Arial"/>
              <a:buChar char="•"/>
            </a:pPr>
            <a:r>
              <a:rPr lang="en-US" b="true" sz="2299">
                <a:solidFill>
                  <a:srgbClr val="1D3163"/>
                </a:solidFill>
                <a:latin typeface="Quicksand Bold"/>
                <a:ea typeface="Quicksand Bold"/>
                <a:cs typeface="Quicksand Bold"/>
                <a:sym typeface="Quicksand Bold"/>
              </a:rPr>
              <a:t>Métriques utilisées :</a:t>
            </a:r>
          </a:p>
          <a:p>
            <a:pPr algn="l">
              <a:lnSpc>
                <a:spcPts val="3219"/>
              </a:lnSpc>
            </a:pPr>
            <a:r>
              <a:rPr lang="en-US" b="true" sz="2299">
                <a:solidFill>
                  <a:srgbClr val="1D3163"/>
                </a:solidFill>
                <a:latin typeface="Quicksand Bold"/>
                <a:ea typeface="Quicksand Bold"/>
                <a:cs typeface="Quicksand Bold"/>
                <a:sym typeface="Quicksand Bold"/>
              </a:rPr>
              <a:t> Le R² mesure la proportion de variance expliquée par le modèle (plus il est proche de 1, meilleure est la prédiction). Le MAE (erreur absolue moyenne) indique l'écart moyen entre la valeur réelle et la valeur prédite, exprimé en pourcentage.</a:t>
            </a:r>
          </a:p>
          <a:p>
            <a:pPr algn="l">
              <a:lnSpc>
                <a:spcPts val="3219"/>
              </a:lnSpc>
            </a:pPr>
          </a:p>
        </p:txBody>
      </p:sp>
      <p:sp>
        <p:nvSpPr>
          <p:cNvPr name="TextBox 20" id="20"/>
          <p:cNvSpPr txBox="true"/>
          <p:nvPr/>
        </p:nvSpPr>
        <p:spPr>
          <a:xfrm rot="0">
            <a:off x="10625232" y="3663686"/>
            <a:ext cx="7662768" cy="1944370"/>
          </a:xfrm>
          <a:prstGeom prst="rect">
            <a:avLst/>
          </a:prstGeom>
        </p:spPr>
        <p:txBody>
          <a:bodyPr anchor="t" rtlCol="false" tIns="0" lIns="0" bIns="0" rIns="0">
            <a:spAutoFit/>
          </a:bodyPr>
          <a:lstStyle/>
          <a:p>
            <a:pPr algn="l">
              <a:lnSpc>
                <a:spcPts val="3079"/>
              </a:lnSpc>
            </a:pPr>
            <a:r>
              <a:rPr lang="en-US" sz="2199" b="true">
                <a:solidFill>
                  <a:srgbClr val="292562"/>
                </a:solidFill>
                <a:latin typeface="Quicksand Bold"/>
                <a:ea typeface="Quicksand Bold"/>
                <a:cs typeface="Quicksand Bold"/>
                <a:sym typeface="Quicksand Bold"/>
              </a:rPr>
              <a:t>Familles de modèles testées :</a:t>
            </a:r>
          </a:p>
          <a:p>
            <a:pPr algn="l" marL="474978" indent="-237489" lvl="1">
              <a:lnSpc>
                <a:spcPts val="3079"/>
              </a:lnSpc>
              <a:buFont typeface="Arial"/>
              <a:buChar char="•"/>
            </a:pPr>
            <a:r>
              <a:rPr lang="en-US" b="true" sz="2199">
                <a:solidFill>
                  <a:srgbClr val="292562"/>
                </a:solidFill>
                <a:latin typeface="Quicksand Bold"/>
                <a:ea typeface="Quicksand Bold"/>
                <a:cs typeface="Quicksand Bold"/>
                <a:sym typeface="Quicksand Bold"/>
              </a:rPr>
              <a:t>R</a:t>
            </a:r>
            <a:r>
              <a:rPr lang="en-US" b="true" sz="2199">
                <a:solidFill>
                  <a:srgbClr val="292562"/>
                </a:solidFill>
                <a:latin typeface="Quicksand Bold"/>
                <a:ea typeface="Quicksand Bold"/>
                <a:cs typeface="Quicksand Bold"/>
                <a:sym typeface="Quicksand Bold"/>
              </a:rPr>
              <a:t>égression linéaire </a:t>
            </a:r>
          </a:p>
          <a:p>
            <a:pPr algn="l" marL="474978" indent="-237489" lvl="1">
              <a:lnSpc>
                <a:spcPts val="3079"/>
              </a:lnSpc>
              <a:buFont typeface="Arial"/>
              <a:buChar char="•"/>
            </a:pPr>
            <a:r>
              <a:rPr lang="en-US" b="true" sz="2199">
                <a:solidFill>
                  <a:srgbClr val="292562"/>
                </a:solidFill>
                <a:latin typeface="Quicksand Bold"/>
                <a:ea typeface="Quicksand Bold"/>
                <a:cs typeface="Quicksand Bold"/>
                <a:sym typeface="Quicksand Bold"/>
              </a:rPr>
              <a:t>Random Forest</a:t>
            </a:r>
          </a:p>
          <a:p>
            <a:pPr algn="l" marL="474978" indent="-237489" lvl="1">
              <a:lnSpc>
                <a:spcPts val="3079"/>
              </a:lnSpc>
              <a:buFont typeface="Arial"/>
              <a:buChar char="•"/>
            </a:pPr>
            <a:r>
              <a:rPr lang="en-US" b="true" sz="2199">
                <a:solidFill>
                  <a:srgbClr val="292562"/>
                </a:solidFill>
                <a:latin typeface="Quicksand Bold"/>
                <a:ea typeface="Quicksand Bold"/>
                <a:cs typeface="Quicksand Bold"/>
                <a:sym typeface="Quicksand Bold"/>
              </a:rPr>
              <a:t>Gradient Boosting </a:t>
            </a:r>
          </a:p>
          <a:p>
            <a:pPr algn="l">
              <a:lnSpc>
                <a:spcPts val="3079"/>
              </a:lnSpc>
            </a:pPr>
          </a:p>
        </p:txBody>
      </p:sp>
      <p:grpSp>
        <p:nvGrpSpPr>
          <p:cNvPr name="Group 21" id="21"/>
          <p:cNvGrpSpPr/>
          <p:nvPr/>
        </p:nvGrpSpPr>
        <p:grpSpPr>
          <a:xfrm rot="0">
            <a:off x="344695" y="5991151"/>
            <a:ext cx="7843403" cy="3145691"/>
            <a:chOff x="0" y="0"/>
            <a:chExt cx="839949" cy="336872"/>
          </a:xfrm>
        </p:grpSpPr>
        <p:sp>
          <p:nvSpPr>
            <p:cNvPr name="Freeform 22" id="22"/>
            <p:cNvSpPr/>
            <p:nvPr/>
          </p:nvSpPr>
          <p:spPr>
            <a:xfrm flipH="false" flipV="false" rot="0">
              <a:off x="0" y="0"/>
              <a:ext cx="839949" cy="336872"/>
            </a:xfrm>
            <a:custGeom>
              <a:avLst/>
              <a:gdLst/>
              <a:ahLst/>
              <a:cxnLst/>
              <a:rect r="r" b="b" t="t" l="l"/>
              <a:pathLst>
                <a:path h="336872" w="839949">
                  <a:moveTo>
                    <a:pt x="19279" y="0"/>
                  </a:moveTo>
                  <a:lnTo>
                    <a:pt x="820670" y="0"/>
                  </a:lnTo>
                  <a:cubicBezTo>
                    <a:pt x="831318" y="0"/>
                    <a:pt x="839949" y="8631"/>
                    <a:pt x="839949" y="19279"/>
                  </a:cubicBezTo>
                  <a:lnTo>
                    <a:pt x="839949" y="317593"/>
                  </a:lnTo>
                  <a:cubicBezTo>
                    <a:pt x="839949" y="322706"/>
                    <a:pt x="837918" y="327610"/>
                    <a:pt x="834302" y="331225"/>
                  </a:cubicBezTo>
                  <a:cubicBezTo>
                    <a:pt x="830687" y="334840"/>
                    <a:pt x="825783" y="336872"/>
                    <a:pt x="820670" y="336872"/>
                  </a:cubicBezTo>
                  <a:lnTo>
                    <a:pt x="19279" y="336872"/>
                  </a:lnTo>
                  <a:cubicBezTo>
                    <a:pt x="14166" y="336872"/>
                    <a:pt x="9262" y="334840"/>
                    <a:pt x="5647" y="331225"/>
                  </a:cubicBezTo>
                  <a:cubicBezTo>
                    <a:pt x="2031" y="327610"/>
                    <a:pt x="0" y="322706"/>
                    <a:pt x="0" y="317593"/>
                  </a:cubicBezTo>
                  <a:lnTo>
                    <a:pt x="0" y="19279"/>
                  </a:lnTo>
                  <a:cubicBezTo>
                    <a:pt x="0" y="14166"/>
                    <a:pt x="2031" y="9262"/>
                    <a:pt x="5647" y="5647"/>
                  </a:cubicBezTo>
                  <a:cubicBezTo>
                    <a:pt x="9262" y="2031"/>
                    <a:pt x="14166" y="0"/>
                    <a:pt x="19279" y="0"/>
                  </a:cubicBezTo>
                  <a:close/>
                </a:path>
              </a:pathLst>
            </a:custGeom>
            <a:ln w="38100" cap="rnd">
              <a:solidFill>
                <a:srgbClr val="2D2261"/>
              </a:solidFill>
              <a:prstDash val="solid"/>
              <a:round/>
            </a:ln>
          </p:spPr>
        </p:sp>
        <p:sp>
          <p:nvSpPr>
            <p:cNvPr name="TextBox 23" id="23"/>
            <p:cNvSpPr txBox="true"/>
            <p:nvPr/>
          </p:nvSpPr>
          <p:spPr>
            <a:xfrm>
              <a:off x="0" y="-47625"/>
              <a:ext cx="839949" cy="384497"/>
            </a:xfrm>
            <a:prstGeom prst="rect">
              <a:avLst/>
            </a:prstGeom>
          </p:spPr>
          <p:txBody>
            <a:bodyPr anchor="ctr" rtlCol="false" tIns="50800" lIns="50800" bIns="50800" rIns="50800"/>
            <a:lstStyle/>
            <a:p>
              <a:pPr algn="ctr">
                <a:lnSpc>
                  <a:spcPts val="3032"/>
                </a:lnSpc>
              </a:pP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2993540" y="-2095015"/>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67547" y="14808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 id="6"/>
          <p:cNvSpPr txBox="true"/>
          <p:nvPr/>
        </p:nvSpPr>
        <p:spPr>
          <a:xfrm rot="0">
            <a:off x="1996806" y="676495"/>
            <a:ext cx="15262494" cy="3470910"/>
          </a:xfrm>
          <a:prstGeom prst="rect">
            <a:avLst/>
          </a:prstGeom>
        </p:spPr>
        <p:txBody>
          <a:bodyPr anchor="t" rtlCol="false" tIns="0" lIns="0" bIns="0" rIns="0">
            <a:spAutoFit/>
          </a:bodyPr>
          <a:lstStyle/>
          <a:p>
            <a:pPr algn="ctr">
              <a:lnSpc>
                <a:spcPts val="8640"/>
              </a:lnSpc>
            </a:pPr>
            <a:r>
              <a:rPr lang="en-US" sz="9600" b="true">
                <a:solidFill>
                  <a:srgbClr val="2D2261"/>
                </a:solidFill>
                <a:latin typeface="Poppins Bold"/>
                <a:ea typeface="Poppins Bold"/>
                <a:cs typeface="Poppins Bold"/>
                <a:sym typeface="Poppins Bold"/>
              </a:rPr>
              <a:t>Modèele choisit : RANDOM</a:t>
            </a:r>
            <a:r>
              <a:rPr lang="en-US" sz="9600" b="true">
                <a:solidFill>
                  <a:srgbClr val="2D2261"/>
                </a:solidFill>
                <a:latin typeface="Poppins Bold"/>
                <a:ea typeface="Poppins Bold"/>
                <a:cs typeface="Poppins Bold"/>
                <a:sym typeface="Poppins Bold"/>
              </a:rPr>
              <a:t> FOREST</a:t>
            </a:r>
          </a:p>
          <a:p>
            <a:pPr algn="ctr">
              <a:lnSpc>
                <a:spcPts val="8640"/>
              </a:lnSpc>
            </a:pPr>
          </a:p>
        </p:txBody>
      </p:sp>
      <p:grpSp>
        <p:nvGrpSpPr>
          <p:cNvPr name="Group 7" id="7"/>
          <p:cNvGrpSpPr/>
          <p:nvPr/>
        </p:nvGrpSpPr>
        <p:grpSpPr>
          <a:xfrm rot="0">
            <a:off x="443715" y="3224677"/>
            <a:ext cx="4134438" cy="4539345"/>
            <a:chOff x="0" y="0"/>
            <a:chExt cx="1071706" cy="1176664"/>
          </a:xfrm>
        </p:grpSpPr>
        <p:sp>
          <p:nvSpPr>
            <p:cNvPr name="Freeform 8" id="8"/>
            <p:cNvSpPr/>
            <p:nvPr/>
          </p:nvSpPr>
          <p:spPr>
            <a:xfrm flipH="false" flipV="false" rot="0">
              <a:off x="0" y="0"/>
              <a:ext cx="1071706" cy="1176664"/>
            </a:xfrm>
            <a:custGeom>
              <a:avLst/>
              <a:gdLst/>
              <a:ahLst/>
              <a:cxnLst/>
              <a:rect r="r" b="b" t="t" l="l"/>
              <a:pathLst>
                <a:path h="1176664" w="1071706">
                  <a:moveTo>
                    <a:pt x="84265" y="0"/>
                  </a:moveTo>
                  <a:lnTo>
                    <a:pt x="987442" y="0"/>
                  </a:lnTo>
                  <a:cubicBezTo>
                    <a:pt x="1033980" y="0"/>
                    <a:pt x="1071706" y="37727"/>
                    <a:pt x="1071706" y="84265"/>
                  </a:cubicBezTo>
                  <a:lnTo>
                    <a:pt x="1071706" y="1092400"/>
                  </a:lnTo>
                  <a:cubicBezTo>
                    <a:pt x="1071706" y="1114748"/>
                    <a:pt x="1062829" y="1136181"/>
                    <a:pt x="1047026" y="1151984"/>
                  </a:cubicBezTo>
                  <a:cubicBezTo>
                    <a:pt x="1031223" y="1167787"/>
                    <a:pt x="1009790" y="1176664"/>
                    <a:pt x="987442" y="1176664"/>
                  </a:cubicBezTo>
                  <a:lnTo>
                    <a:pt x="84265" y="1176664"/>
                  </a:lnTo>
                  <a:cubicBezTo>
                    <a:pt x="37727" y="1176664"/>
                    <a:pt x="0" y="1138938"/>
                    <a:pt x="0" y="1092400"/>
                  </a:cubicBezTo>
                  <a:lnTo>
                    <a:pt x="0" y="84265"/>
                  </a:lnTo>
                  <a:cubicBezTo>
                    <a:pt x="0" y="37727"/>
                    <a:pt x="37727" y="0"/>
                    <a:pt x="84265" y="0"/>
                  </a:cubicBezTo>
                  <a:close/>
                </a:path>
              </a:pathLst>
            </a:custGeom>
            <a:solidFill>
              <a:srgbClr val="CCEBFF"/>
            </a:solidFill>
          </p:spPr>
        </p:sp>
        <p:sp>
          <p:nvSpPr>
            <p:cNvPr name="TextBox 9" id="9"/>
            <p:cNvSpPr txBox="true"/>
            <p:nvPr/>
          </p:nvSpPr>
          <p:spPr>
            <a:xfrm>
              <a:off x="0" y="-66675"/>
              <a:ext cx="1071706" cy="1243339"/>
            </a:xfrm>
            <a:prstGeom prst="rect">
              <a:avLst/>
            </a:prstGeom>
          </p:spPr>
          <p:txBody>
            <a:bodyPr anchor="ctr" rtlCol="false" tIns="50800" lIns="50800" bIns="50800" rIns="50800"/>
            <a:lstStyle/>
            <a:p>
              <a:pPr algn="ctr">
                <a:lnSpc>
                  <a:spcPts val="3919"/>
                </a:lnSpc>
                <a:spcBef>
                  <a:spcPct val="0"/>
                </a:spcBef>
              </a:pPr>
            </a:p>
          </p:txBody>
        </p:sp>
      </p:grpSp>
      <p:grpSp>
        <p:nvGrpSpPr>
          <p:cNvPr name="Group 10" id="10"/>
          <p:cNvGrpSpPr/>
          <p:nvPr/>
        </p:nvGrpSpPr>
        <p:grpSpPr>
          <a:xfrm rot="0">
            <a:off x="6293289" y="7662511"/>
            <a:ext cx="7755644" cy="2462589"/>
            <a:chOff x="0" y="0"/>
            <a:chExt cx="2550769" cy="809926"/>
          </a:xfrm>
        </p:grpSpPr>
        <p:sp>
          <p:nvSpPr>
            <p:cNvPr name="Freeform 11" id="11"/>
            <p:cNvSpPr/>
            <p:nvPr/>
          </p:nvSpPr>
          <p:spPr>
            <a:xfrm flipH="false" flipV="false" rot="0">
              <a:off x="0" y="0"/>
              <a:ext cx="2550769" cy="809926"/>
            </a:xfrm>
            <a:custGeom>
              <a:avLst/>
              <a:gdLst/>
              <a:ahLst/>
              <a:cxnLst/>
              <a:rect r="r" b="b" t="t" l="l"/>
              <a:pathLst>
                <a:path h="809926" w="2550769">
                  <a:moveTo>
                    <a:pt x="99823" y="0"/>
                  </a:moveTo>
                  <a:lnTo>
                    <a:pt x="2450946" y="0"/>
                  </a:lnTo>
                  <a:cubicBezTo>
                    <a:pt x="2477421" y="0"/>
                    <a:pt x="2502811" y="10517"/>
                    <a:pt x="2521532" y="29237"/>
                  </a:cubicBezTo>
                  <a:cubicBezTo>
                    <a:pt x="2540252" y="47958"/>
                    <a:pt x="2550769" y="73348"/>
                    <a:pt x="2550769" y="99823"/>
                  </a:cubicBezTo>
                  <a:lnTo>
                    <a:pt x="2550769" y="710103"/>
                  </a:lnTo>
                  <a:cubicBezTo>
                    <a:pt x="2550769" y="736578"/>
                    <a:pt x="2540252" y="761968"/>
                    <a:pt x="2521532" y="780688"/>
                  </a:cubicBezTo>
                  <a:cubicBezTo>
                    <a:pt x="2502811" y="799409"/>
                    <a:pt x="2477421" y="809926"/>
                    <a:pt x="2450946" y="809926"/>
                  </a:cubicBezTo>
                  <a:lnTo>
                    <a:pt x="99823" y="809926"/>
                  </a:lnTo>
                  <a:cubicBezTo>
                    <a:pt x="73348" y="809926"/>
                    <a:pt x="47958" y="799409"/>
                    <a:pt x="29237" y="780688"/>
                  </a:cubicBezTo>
                  <a:cubicBezTo>
                    <a:pt x="10517" y="761968"/>
                    <a:pt x="0" y="736578"/>
                    <a:pt x="0" y="710103"/>
                  </a:cubicBezTo>
                  <a:lnTo>
                    <a:pt x="0" y="99823"/>
                  </a:lnTo>
                  <a:cubicBezTo>
                    <a:pt x="0" y="73348"/>
                    <a:pt x="10517" y="47958"/>
                    <a:pt x="29237" y="29237"/>
                  </a:cubicBezTo>
                  <a:cubicBezTo>
                    <a:pt x="47958" y="10517"/>
                    <a:pt x="73348" y="0"/>
                    <a:pt x="99823" y="0"/>
                  </a:cubicBezTo>
                  <a:close/>
                </a:path>
              </a:pathLst>
            </a:custGeom>
            <a:ln w="28575" cap="rnd">
              <a:solidFill>
                <a:srgbClr val="1D3163"/>
              </a:solidFill>
              <a:prstDash val="solid"/>
              <a:round/>
            </a:ln>
          </p:spPr>
        </p:sp>
        <p:sp>
          <p:nvSpPr>
            <p:cNvPr name="TextBox 12" id="12"/>
            <p:cNvSpPr txBox="true"/>
            <p:nvPr/>
          </p:nvSpPr>
          <p:spPr>
            <a:xfrm>
              <a:off x="0" y="-28575"/>
              <a:ext cx="2550769" cy="838501"/>
            </a:xfrm>
            <a:prstGeom prst="rect">
              <a:avLst/>
            </a:prstGeom>
          </p:spPr>
          <p:txBody>
            <a:bodyPr anchor="ctr" rtlCol="false" tIns="48911" lIns="48911" bIns="48911" rIns="48911"/>
            <a:lstStyle/>
            <a:p>
              <a:pPr algn="ctr">
                <a:lnSpc>
                  <a:spcPts val="2660"/>
                </a:lnSpc>
                <a:spcBef>
                  <a:spcPct val="0"/>
                </a:spcBef>
              </a:pPr>
            </a:p>
          </p:txBody>
        </p:sp>
      </p:grpSp>
      <p:sp>
        <p:nvSpPr>
          <p:cNvPr name="Freeform 13" id="13"/>
          <p:cNvSpPr/>
          <p:nvPr/>
        </p:nvSpPr>
        <p:spPr>
          <a:xfrm flipH="false" flipV="false" rot="0">
            <a:off x="5149216" y="2947811"/>
            <a:ext cx="6467374" cy="4591835"/>
          </a:xfrm>
          <a:custGeom>
            <a:avLst/>
            <a:gdLst/>
            <a:ahLst/>
            <a:cxnLst/>
            <a:rect r="r" b="b" t="t" l="l"/>
            <a:pathLst>
              <a:path h="4591835" w="6467374">
                <a:moveTo>
                  <a:pt x="0" y="0"/>
                </a:moveTo>
                <a:lnTo>
                  <a:pt x="6467374" y="0"/>
                </a:lnTo>
                <a:lnTo>
                  <a:pt x="6467374" y="4591836"/>
                </a:lnTo>
                <a:lnTo>
                  <a:pt x="0" y="4591836"/>
                </a:lnTo>
                <a:lnTo>
                  <a:pt x="0" y="0"/>
                </a:lnTo>
                <a:close/>
              </a:path>
            </a:pathLst>
          </a:custGeom>
          <a:blipFill>
            <a:blip r:embed="rId10"/>
            <a:stretch>
              <a:fillRect l="0" t="0" r="0" b="0"/>
            </a:stretch>
          </a:blipFill>
        </p:spPr>
      </p:sp>
      <p:sp>
        <p:nvSpPr>
          <p:cNvPr name="Freeform 14" id="14"/>
          <p:cNvSpPr/>
          <p:nvPr/>
        </p:nvSpPr>
        <p:spPr>
          <a:xfrm flipH="false" flipV="false" rot="0">
            <a:off x="11926232" y="3014355"/>
            <a:ext cx="5879455" cy="4648156"/>
          </a:xfrm>
          <a:custGeom>
            <a:avLst/>
            <a:gdLst/>
            <a:ahLst/>
            <a:cxnLst/>
            <a:rect r="r" b="b" t="t" l="l"/>
            <a:pathLst>
              <a:path h="4648156" w="5879455">
                <a:moveTo>
                  <a:pt x="0" y="0"/>
                </a:moveTo>
                <a:lnTo>
                  <a:pt x="5879455" y="0"/>
                </a:lnTo>
                <a:lnTo>
                  <a:pt x="5879455" y="4648156"/>
                </a:lnTo>
                <a:lnTo>
                  <a:pt x="0" y="4648156"/>
                </a:lnTo>
                <a:lnTo>
                  <a:pt x="0" y="0"/>
                </a:lnTo>
                <a:close/>
              </a:path>
            </a:pathLst>
          </a:custGeom>
          <a:blipFill>
            <a:blip r:embed="rId11"/>
            <a:stretch>
              <a:fillRect l="0" t="0" r="0" b="0"/>
            </a:stretch>
          </a:blipFill>
        </p:spPr>
      </p:sp>
      <p:sp>
        <p:nvSpPr>
          <p:cNvPr name="TextBox 15" id="15"/>
          <p:cNvSpPr txBox="true"/>
          <p:nvPr/>
        </p:nvSpPr>
        <p:spPr>
          <a:xfrm rot="0">
            <a:off x="1024640" y="3694058"/>
            <a:ext cx="2776938" cy="3332152"/>
          </a:xfrm>
          <a:prstGeom prst="rect">
            <a:avLst/>
          </a:prstGeom>
        </p:spPr>
        <p:txBody>
          <a:bodyPr anchor="t" rtlCol="false" tIns="0" lIns="0" bIns="0" rIns="0">
            <a:spAutoFit/>
          </a:bodyPr>
          <a:lstStyle/>
          <a:p>
            <a:pPr algn="just">
              <a:lnSpc>
                <a:spcPts val="2987"/>
              </a:lnSpc>
              <a:spcBef>
                <a:spcPct val="0"/>
              </a:spcBef>
            </a:pPr>
            <a:r>
              <a:rPr lang="en-US" b="true" sz="2133" spc="-76">
                <a:solidFill>
                  <a:srgbClr val="1D3163"/>
                </a:solidFill>
                <a:latin typeface="Quicksand Bold"/>
                <a:ea typeface="Quicksand Bold"/>
                <a:cs typeface="Quicksand Bold"/>
                <a:sym typeface="Quicksand Bold"/>
              </a:rPr>
              <a:t>Le modèle Random Forest fonctionne en construisant une forêt d'arbres de décision où chaque arbre vote pour une prédiction, et le résultat final est la moyenne de tous les arbres.</a:t>
            </a:r>
          </a:p>
        </p:txBody>
      </p:sp>
      <p:sp>
        <p:nvSpPr>
          <p:cNvPr name="TextBox 16" id="16"/>
          <p:cNvSpPr txBox="true"/>
          <p:nvPr/>
        </p:nvSpPr>
        <p:spPr>
          <a:xfrm rot="0">
            <a:off x="6652086" y="7823831"/>
            <a:ext cx="7232407" cy="2101850"/>
          </a:xfrm>
          <a:prstGeom prst="rect">
            <a:avLst/>
          </a:prstGeom>
        </p:spPr>
        <p:txBody>
          <a:bodyPr anchor="t" rtlCol="false" tIns="0" lIns="0" bIns="0" rIns="0">
            <a:spAutoFit/>
          </a:bodyPr>
          <a:lstStyle/>
          <a:p>
            <a:pPr algn="l">
              <a:lnSpc>
                <a:spcPts val="2799"/>
              </a:lnSpc>
            </a:pPr>
            <a:r>
              <a:rPr lang="en-US" sz="1999" b="true">
                <a:solidFill>
                  <a:srgbClr val="1D3163"/>
                </a:solidFill>
                <a:latin typeface="Quicksand Bold"/>
                <a:ea typeface="Quicksand Bold"/>
                <a:cs typeface="Quicksand Bold"/>
                <a:sym typeface="Quicksand Bold"/>
              </a:rPr>
              <a:t>Les features sélectionnées : ratio_feminisa</a:t>
            </a:r>
            <a:r>
              <a:rPr lang="en-US" sz="1999" b="true">
                <a:solidFill>
                  <a:srgbClr val="1D3163"/>
                </a:solidFill>
                <a:latin typeface="Quicksand Bold"/>
                <a:ea typeface="Quicksand Bold"/>
                <a:cs typeface="Quicksand Bold"/>
                <a:sym typeface="Quicksand Bold"/>
              </a:rPr>
              <a:t>tion, log_taille, efficacite_F, efficacite_M, ecart_genre</a:t>
            </a:r>
          </a:p>
          <a:p>
            <a:pPr algn="l">
              <a:lnSpc>
                <a:spcPts val="2799"/>
              </a:lnSpc>
            </a:pPr>
            <a:r>
              <a:rPr lang="en-US" sz="1999" b="true">
                <a:solidFill>
                  <a:srgbClr val="1D3163"/>
                </a:solidFill>
                <a:latin typeface="Quicksand Bold"/>
                <a:ea typeface="Quicksand Bold"/>
                <a:cs typeface="Quicksand Bold"/>
                <a:sym typeface="Quicksand Bold"/>
              </a:rPr>
              <a:t>Les features supprimées : les codes d'identification (université, établissement, domaine) pour éviter le sur-apprentissage</a:t>
            </a:r>
          </a:p>
          <a:p>
            <a:pPr algn="l">
              <a:lnSpc>
                <a:spcPts val="2799"/>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715246">
            <a:off x="12993540" y="-2095015"/>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67547" y="14808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1175026">
            <a:off x="16376299" y="7891685"/>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1278190" y="3526202"/>
            <a:ext cx="8787292" cy="4481519"/>
          </a:xfrm>
          <a:custGeom>
            <a:avLst/>
            <a:gdLst/>
            <a:ahLst/>
            <a:cxnLst/>
            <a:rect r="r" b="b" t="t" l="l"/>
            <a:pathLst>
              <a:path h="4481519" w="8787292">
                <a:moveTo>
                  <a:pt x="0" y="0"/>
                </a:moveTo>
                <a:lnTo>
                  <a:pt x="8787292" y="0"/>
                </a:lnTo>
                <a:lnTo>
                  <a:pt x="8787292" y="4481519"/>
                </a:lnTo>
                <a:lnTo>
                  <a:pt x="0" y="4481519"/>
                </a:lnTo>
                <a:lnTo>
                  <a:pt x="0" y="0"/>
                </a:lnTo>
                <a:close/>
              </a:path>
            </a:pathLst>
          </a:custGeom>
          <a:blipFill>
            <a:blip r:embed="rId10"/>
            <a:stretch>
              <a:fillRect l="0" t="0" r="0" b="0"/>
            </a:stretch>
          </a:blipFill>
        </p:spPr>
      </p:sp>
      <p:sp>
        <p:nvSpPr>
          <p:cNvPr name="Freeform 7" id="7"/>
          <p:cNvSpPr/>
          <p:nvPr/>
        </p:nvSpPr>
        <p:spPr>
          <a:xfrm flipH="false" flipV="false" rot="0">
            <a:off x="8001833" y="5667618"/>
            <a:ext cx="10286167" cy="4680206"/>
          </a:xfrm>
          <a:custGeom>
            <a:avLst/>
            <a:gdLst/>
            <a:ahLst/>
            <a:cxnLst/>
            <a:rect r="r" b="b" t="t" l="l"/>
            <a:pathLst>
              <a:path h="4680206" w="10286167">
                <a:moveTo>
                  <a:pt x="0" y="0"/>
                </a:moveTo>
                <a:lnTo>
                  <a:pt x="10286167" y="0"/>
                </a:lnTo>
                <a:lnTo>
                  <a:pt x="10286167" y="4680206"/>
                </a:lnTo>
                <a:lnTo>
                  <a:pt x="0" y="4680206"/>
                </a:lnTo>
                <a:lnTo>
                  <a:pt x="0" y="0"/>
                </a:lnTo>
                <a:close/>
              </a:path>
            </a:pathLst>
          </a:custGeom>
          <a:blipFill>
            <a:blip r:embed="rId11"/>
            <a:stretch>
              <a:fillRect l="0" t="0" r="0" b="0"/>
            </a:stretch>
          </a:blipFill>
        </p:spPr>
      </p:sp>
      <p:sp>
        <p:nvSpPr>
          <p:cNvPr name="TextBox 8" id="8"/>
          <p:cNvSpPr txBox="true"/>
          <p:nvPr/>
        </p:nvSpPr>
        <p:spPr>
          <a:xfrm rot="0">
            <a:off x="3946987" y="888134"/>
            <a:ext cx="15262494" cy="1280160"/>
          </a:xfrm>
          <a:prstGeom prst="rect">
            <a:avLst/>
          </a:prstGeom>
        </p:spPr>
        <p:txBody>
          <a:bodyPr anchor="t" rtlCol="false" tIns="0" lIns="0" bIns="0" rIns="0">
            <a:spAutoFit/>
          </a:bodyPr>
          <a:lstStyle/>
          <a:p>
            <a:pPr algn="ctr">
              <a:lnSpc>
                <a:spcPts val="8640"/>
              </a:lnSpc>
            </a:pPr>
            <a:r>
              <a:rPr lang="en-US" b="true" sz="9600">
                <a:solidFill>
                  <a:srgbClr val="2D2261"/>
                </a:solidFill>
                <a:latin typeface="Poppins Bold"/>
                <a:ea typeface="Poppins Bold"/>
                <a:cs typeface="Poppins Bold"/>
                <a:sym typeface="Poppins Bold"/>
              </a:rPr>
              <a:t>Application Développée</a:t>
            </a:r>
          </a:p>
        </p:txBody>
      </p:sp>
      <p:sp>
        <p:nvSpPr>
          <p:cNvPr name="TextBox 9" id="9"/>
          <p:cNvSpPr txBox="true"/>
          <p:nvPr/>
        </p:nvSpPr>
        <p:spPr>
          <a:xfrm rot="0">
            <a:off x="4201774" y="2212946"/>
            <a:ext cx="15262494" cy="2375535"/>
          </a:xfrm>
          <a:prstGeom prst="rect">
            <a:avLst/>
          </a:prstGeom>
        </p:spPr>
        <p:txBody>
          <a:bodyPr anchor="t" rtlCol="false" tIns="0" lIns="0" bIns="0" rIns="0">
            <a:spAutoFit/>
          </a:bodyPr>
          <a:lstStyle/>
          <a:p>
            <a:pPr algn="ctr">
              <a:lnSpc>
                <a:spcPts val="8640"/>
              </a:lnSpc>
            </a:pPr>
            <a:r>
              <a:rPr lang="en-US" b="true" sz="9600">
                <a:solidFill>
                  <a:srgbClr val="2D2261"/>
                </a:solidFill>
                <a:latin typeface="Poppins Bold"/>
                <a:ea typeface="Poppins Bold"/>
                <a:cs typeface="Poppins Bold"/>
                <a:sym typeface="Poppins Bold"/>
              </a:rPr>
              <a:t>Conclusion ET Perspectives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1026841">
            <a:off x="13266207" y="-2293406"/>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67547" y="14808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6" id="6"/>
          <p:cNvGrpSpPr/>
          <p:nvPr/>
        </p:nvGrpSpPr>
        <p:grpSpPr>
          <a:xfrm rot="0">
            <a:off x="2308813" y="5073763"/>
            <a:ext cx="5437433" cy="903413"/>
            <a:chOff x="0" y="0"/>
            <a:chExt cx="1875156" cy="311552"/>
          </a:xfrm>
        </p:grpSpPr>
        <p:sp>
          <p:nvSpPr>
            <p:cNvPr name="Freeform 7" id="7"/>
            <p:cNvSpPr/>
            <p:nvPr/>
          </p:nvSpPr>
          <p:spPr>
            <a:xfrm flipH="false" flipV="false" rot="0">
              <a:off x="0" y="0"/>
              <a:ext cx="1875156" cy="311552"/>
            </a:xfrm>
            <a:custGeom>
              <a:avLst/>
              <a:gdLst/>
              <a:ahLst/>
              <a:cxnLst/>
              <a:rect r="r" b="b" t="t" l="l"/>
              <a:pathLst>
                <a:path h="311552" w="1875156">
                  <a:moveTo>
                    <a:pt x="113906" y="0"/>
                  </a:moveTo>
                  <a:lnTo>
                    <a:pt x="1761251" y="0"/>
                  </a:lnTo>
                  <a:cubicBezTo>
                    <a:pt x="1791461" y="0"/>
                    <a:pt x="1820433" y="12001"/>
                    <a:pt x="1841794" y="33362"/>
                  </a:cubicBezTo>
                  <a:cubicBezTo>
                    <a:pt x="1863156" y="54724"/>
                    <a:pt x="1875156" y="83696"/>
                    <a:pt x="1875156" y="113906"/>
                  </a:cubicBezTo>
                  <a:lnTo>
                    <a:pt x="1875156" y="197646"/>
                  </a:lnTo>
                  <a:cubicBezTo>
                    <a:pt x="1875156" y="260554"/>
                    <a:pt x="1824159" y="311552"/>
                    <a:pt x="1761251" y="311552"/>
                  </a:cubicBezTo>
                  <a:lnTo>
                    <a:pt x="113906" y="311552"/>
                  </a:lnTo>
                  <a:cubicBezTo>
                    <a:pt x="50997" y="311552"/>
                    <a:pt x="0" y="260554"/>
                    <a:pt x="0" y="197646"/>
                  </a:cubicBezTo>
                  <a:lnTo>
                    <a:pt x="0" y="113906"/>
                  </a:lnTo>
                  <a:cubicBezTo>
                    <a:pt x="0" y="50997"/>
                    <a:pt x="50997" y="0"/>
                    <a:pt x="113906" y="0"/>
                  </a:cubicBezTo>
                  <a:close/>
                </a:path>
              </a:pathLst>
            </a:custGeom>
            <a:solidFill>
              <a:srgbClr val="1C3675"/>
            </a:solidFill>
            <a:ln w="19050" cap="rnd">
              <a:solidFill>
                <a:srgbClr val="CCEBFF"/>
              </a:solidFill>
              <a:prstDash val="solid"/>
              <a:round/>
            </a:ln>
          </p:spPr>
        </p:sp>
        <p:sp>
          <p:nvSpPr>
            <p:cNvPr name="TextBox 8" id="8"/>
            <p:cNvSpPr txBox="true"/>
            <p:nvPr/>
          </p:nvSpPr>
          <p:spPr>
            <a:xfrm>
              <a:off x="0" y="-38100"/>
              <a:ext cx="1875156" cy="349652"/>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2399536" y="5228658"/>
            <a:ext cx="601927" cy="601927"/>
          </a:xfrm>
          <a:custGeom>
            <a:avLst/>
            <a:gdLst/>
            <a:ahLst/>
            <a:cxnLst/>
            <a:rect r="r" b="b" t="t" l="l"/>
            <a:pathLst>
              <a:path h="601927" w="601927">
                <a:moveTo>
                  <a:pt x="0" y="0"/>
                </a:moveTo>
                <a:lnTo>
                  <a:pt x="601926" y="0"/>
                </a:lnTo>
                <a:lnTo>
                  <a:pt x="601926" y="601927"/>
                </a:lnTo>
                <a:lnTo>
                  <a:pt x="0" y="60192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0" id="10"/>
          <p:cNvGrpSpPr/>
          <p:nvPr/>
        </p:nvGrpSpPr>
        <p:grpSpPr>
          <a:xfrm rot="0">
            <a:off x="2308813" y="6380011"/>
            <a:ext cx="5437433" cy="954041"/>
            <a:chOff x="0" y="0"/>
            <a:chExt cx="1875156" cy="329011"/>
          </a:xfrm>
        </p:grpSpPr>
        <p:sp>
          <p:nvSpPr>
            <p:cNvPr name="Freeform 11" id="11"/>
            <p:cNvSpPr/>
            <p:nvPr/>
          </p:nvSpPr>
          <p:spPr>
            <a:xfrm flipH="false" flipV="false" rot="0">
              <a:off x="0" y="0"/>
              <a:ext cx="1875156" cy="329011"/>
            </a:xfrm>
            <a:custGeom>
              <a:avLst/>
              <a:gdLst/>
              <a:ahLst/>
              <a:cxnLst/>
              <a:rect r="r" b="b" t="t" l="l"/>
              <a:pathLst>
                <a:path h="329011" w="1875156">
                  <a:moveTo>
                    <a:pt x="113906" y="0"/>
                  </a:moveTo>
                  <a:lnTo>
                    <a:pt x="1761251" y="0"/>
                  </a:lnTo>
                  <a:cubicBezTo>
                    <a:pt x="1791461" y="0"/>
                    <a:pt x="1820433" y="12001"/>
                    <a:pt x="1841794" y="33362"/>
                  </a:cubicBezTo>
                  <a:cubicBezTo>
                    <a:pt x="1863156" y="54724"/>
                    <a:pt x="1875156" y="83696"/>
                    <a:pt x="1875156" y="113906"/>
                  </a:cubicBezTo>
                  <a:lnTo>
                    <a:pt x="1875156" y="215106"/>
                  </a:lnTo>
                  <a:cubicBezTo>
                    <a:pt x="1875156" y="278014"/>
                    <a:pt x="1824159" y="329011"/>
                    <a:pt x="1761251" y="329011"/>
                  </a:cubicBezTo>
                  <a:lnTo>
                    <a:pt x="113906" y="329011"/>
                  </a:lnTo>
                  <a:cubicBezTo>
                    <a:pt x="50997" y="329011"/>
                    <a:pt x="0" y="278014"/>
                    <a:pt x="0" y="215106"/>
                  </a:cubicBezTo>
                  <a:lnTo>
                    <a:pt x="0" y="113906"/>
                  </a:lnTo>
                  <a:cubicBezTo>
                    <a:pt x="0" y="50997"/>
                    <a:pt x="50997" y="0"/>
                    <a:pt x="113906" y="0"/>
                  </a:cubicBezTo>
                  <a:close/>
                </a:path>
              </a:pathLst>
            </a:custGeom>
            <a:solidFill>
              <a:srgbClr val="1C3675"/>
            </a:solidFill>
            <a:ln w="19050" cap="rnd">
              <a:solidFill>
                <a:srgbClr val="CCEBFF"/>
              </a:solidFill>
              <a:prstDash val="solid"/>
              <a:round/>
            </a:ln>
          </p:spPr>
        </p:sp>
        <p:sp>
          <p:nvSpPr>
            <p:cNvPr name="TextBox 12" id="12"/>
            <p:cNvSpPr txBox="true"/>
            <p:nvPr/>
          </p:nvSpPr>
          <p:spPr>
            <a:xfrm>
              <a:off x="0" y="-38100"/>
              <a:ext cx="1875156" cy="367111"/>
            </a:xfrm>
            <a:prstGeom prst="rect">
              <a:avLst/>
            </a:prstGeom>
          </p:spPr>
          <p:txBody>
            <a:bodyPr anchor="ctr" rtlCol="false" tIns="50800" lIns="50800" bIns="50800" rIns="50800"/>
            <a:lstStyle/>
            <a:p>
              <a:pPr algn="ctr">
                <a:lnSpc>
                  <a:spcPts val="2659"/>
                </a:lnSpc>
              </a:pPr>
            </a:p>
          </p:txBody>
        </p:sp>
      </p:grpSp>
      <p:sp>
        <p:nvSpPr>
          <p:cNvPr name="Freeform 13" id="13"/>
          <p:cNvSpPr/>
          <p:nvPr/>
        </p:nvSpPr>
        <p:spPr>
          <a:xfrm flipH="false" flipV="false" rot="0">
            <a:off x="2444555" y="6541986"/>
            <a:ext cx="601927" cy="601927"/>
          </a:xfrm>
          <a:custGeom>
            <a:avLst/>
            <a:gdLst/>
            <a:ahLst/>
            <a:cxnLst/>
            <a:rect r="r" b="b" t="t" l="l"/>
            <a:pathLst>
              <a:path h="601927" w="601927">
                <a:moveTo>
                  <a:pt x="0" y="0"/>
                </a:moveTo>
                <a:lnTo>
                  <a:pt x="601927" y="0"/>
                </a:lnTo>
                <a:lnTo>
                  <a:pt x="601927" y="601927"/>
                </a:lnTo>
                <a:lnTo>
                  <a:pt x="0" y="60192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3147694" y="5329546"/>
            <a:ext cx="4598551" cy="362051"/>
          </a:xfrm>
          <a:prstGeom prst="rect">
            <a:avLst/>
          </a:prstGeom>
        </p:spPr>
        <p:txBody>
          <a:bodyPr anchor="t" rtlCol="false" tIns="0" lIns="0" bIns="0" rIns="0">
            <a:spAutoFit/>
          </a:bodyPr>
          <a:lstStyle/>
          <a:p>
            <a:pPr algn="l">
              <a:lnSpc>
                <a:spcPts val="2993"/>
              </a:lnSpc>
            </a:pPr>
            <a:r>
              <a:rPr lang="en-US" sz="2138" b="true">
                <a:solidFill>
                  <a:srgbClr val="FFFFFF"/>
                </a:solidFill>
                <a:latin typeface="Quicksand Bold"/>
                <a:ea typeface="Quicksand Bold"/>
                <a:cs typeface="Quicksand Bold"/>
                <a:sym typeface="Quicksand Bold"/>
              </a:rPr>
              <a:t>Modèle performant</a:t>
            </a:r>
          </a:p>
        </p:txBody>
      </p:sp>
      <p:sp>
        <p:nvSpPr>
          <p:cNvPr name="TextBox 15" id="15"/>
          <p:cNvSpPr txBox="true"/>
          <p:nvPr/>
        </p:nvSpPr>
        <p:spPr>
          <a:xfrm rot="0">
            <a:off x="3192714" y="6612880"/>
            <a:ext cx="4553532" cy="362051"/>
          </a:xfrm>
          <a:prstGeom prst="rect">
            <a:avLst/>
          </a:prstGeom>
        </p:spPr>
        <p:txBody>
          <a:bodyPr anchor="t" rtlCol="false" tIns="0" lIns="0" bIns="0" rIns="0">
            <a:spAutoFit/>
          </a:bodyPr>
          <a:lstStyle/>
          <a:p>
            <a:pPr algn="l">
              <a:lnSpc>
                <a:spcPts val="2993"/>
              </a:lnSpc>
            </a:pPr>
            <a:r>
              <a:rPr lang="en-US" sz="2138" b="true">
                <a:solidFill>
                  <a:srgbClr val="FFFFFF"/>
                </a:solidFill>
                <a:latin typeface="Quicksand Bold"/>
                <a:ea typeface="Quicksand Bold"/>
                <a:cs typeface="Quicksand Bold"/>
                <a:sym typeface="Quicksand Bold"/>
              </a:rPr>
              <a:t> Application fonctionnelle</a:t>
            </a:r>
          </a:p>
        </p:txBody>
      </p:sp>
      <p:grpSp>
        <p:nvGrpSpPr>
          <p:cNvPr name="Group 16" id="16"/>
          <p:cNvGrpSpPr/>
          <p:nvPr/>
        </p:nvGrpSpPr>
        <p:grpSpPr>
          <a:xfrm rot="0">
            <a:off x="10295763" y="3889848"/>
            <a:ext cx="5633647" cy="752672"/>
            <a:chOff x="0" y="0"/>
            <a:chExt cx="1942823" cy="259567"/>
          </a:xfrm>
        </p:grpSpPr>
        <p:sp>
          <p:nvSpPr>
            <p:cNvPr name="Freeform 17" id="17"/>
            <p:cNvSpPr/>
            <p:nvPr/>
          </p:nvSpPr>
          <p:spPr>
            <a:xfrm flipH="false" flipV="false" rot="0">
              <a:off x="0" y="0"/>
              <a:ext cx="1942823" cy="259567"/>
            </a:xfrm>
            <a:custGeom>
              <a:avLst/>
              <a:gdLst/>
              <a:ahLst/>
              <a:cxnLst/>
              <a:rect r="r" b="b" t="t" l="l"/>
              <a:pathLst>
                <a:path h="259567" w="1942823">
                  <a:moveTo>
                    <a:pt x="109938" y="0"/>
                  </a:moveTo>
                  <a:lnTo>
                    <a:pt x="1832885" y="0"/>
                  </a:lnTo>
                  <a:cubicBezTo>
                    <a:pt x="1893602" y="0"/>
                    <a:pt x="1942823" y="49221"/>
                    <a:pt x="1942823" y="109938"/>
                  </a:cubicBezTo>
                  <a:lnTo>
                    <a:pt x="1942823" y="149629"/>
                  </a:lnTo>
                  <a:cubicBezTo>
                    <a:pt x="1942823" y="210346"/>
                    <a:pt x="1893602" y="259567"/>
                    <a:pt x="1832885" y="259567"/>
                  </a:cubicBezTo>
                  <a:lnTo>
                    <a:pt x="109938" y="259567"/>
                  </a:lnTo>
                  <a:cubicBezTo>
                    <a:pt x="80781" y="259567"/>
                    <a:pt x="52818" y="247984"/>
                    <a:pt x="32200" y="227367"/>
                  </a:cubicBezTo>
                  <a:cubicBezTo>
                    <a:pt x="11583" y="206749"/>
                    <a:pt x="0" y="178786"/>
                    <a:pt x="0" y="14962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name="TextBox 18" id="18"/>
            <p:cNvSpPr txBox="true"/>
            <p:nvPr/>
          </p:nvSpPr>
          <p:spPr>
            <a:xfrm>
              <a:off x="0" y="-38100"/>
              <a:ext cx="1942823" cy="297667"/>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11179664" y="4066108"/>
            <a:ext cx="3195331" cy="362051"/>
          </a:xfrm>
          <a:prstGeom prst="rect">
            <a:avLst/>
          </a:prstGeom>
        </p:spPr>
        <p:txBody>
          <a:bodyPr anchor="t" rtlCol="false" tIns="0" lIns="0" bIns="0" rIns="0">
            <a:spAutoFit/>
          </a:bodyPr>
          <a:lstStyle/>
          <a:p>
            <a:pPr algn="l">
              <a:lnSpc>
                <a:spcPts val="2993"/>
              </a:lnSpc>
            </a:pPr>
            <a:r>
              <a:rPr lang="en-US" sz="2138" b="true">
                <a:solidFill>
                  <a:srgbClr val="FFFFFF"/>
                </a:solidFill>
                <a:latin typeface="Quicksand Bold"/>
                <a:ea typeface="Quicksand Bold"/>
                <a:cs typeface="Quicksand Bold"/>
                <a:sym typeface="Quicksand Bold"/>
              </a:rPr>
              <a:t>Optimisation avancée</a:t>
            </a:r>
          </a:p>
        </p:txBody>
      </p:sp>
      <p:sp>
        <p:nvSpPr>
          <p:cNvPr name="TextBox 20" id="20"/>
          <p:cNvSpPr txBox="true"/>
          <p:nvPr/>
        </p:nvSpPr>
        <p:spPr>
          <a:xfrm rot="0">
            <a:off x="11528063" y="2787617"/>
            <a:ext cx="3169047" cy="979635"/>
          </a:xfrm>
          <a:prstGeom prst="rect">
            <a:avLst/>
          </a:prstGeom>
        </p:spPr>
        <p:txBody>
          <a:bodyPr anchor="t" rtlCol="false" tIns="0" lIns="0" bIns="0" rIns="0">
            <a:spAutoFit/>
          </a:bodyPr>
          <a:lstStyle/>
          <a:p>
            <a:pPr algn="ctr">
              <a:lnSpc>
                <a:spcPts val="7954"/>
              </a:lnSpc>
            </a:pPr>
            <a:r>
              <a:rPr lang="en-US" sz="5681">
                <a:solidFill>
                  <a:srgbClr val="9AB7FF"/>
                </a:solidFill>
                <a:latin typeface="Brittany"/>
                <a:ea typeface="Brittany"/>
                <a:cs typeface="Brittany"/>
                <a:sym typeface="Brittany"/>
              </a:rPr>
              <a:t>Perspectives</a:t>
            </a:r>
          </a:p>
        </p:txBody>
      </p:sp>
      <p:sp>
        <p:nvSpPr>
          <p:cNvPr name="Freeform 21" id="21"/>
          <p:cNvSpPr/>
          <p:nvPr/>
        </p:nvSpPr>
        <p:spPr>
          <a:xfrm flipH="false" flipV="false" rot="0">
            <a:off x="10430823" y="3965221"/>
            <a:ext cx="601927" cy="601927"/>
          </a:xfrm>
          <a:custGeom>
            <a:avLst/>
            <a:gdLst/>
            <a:ahLst/>
            <a:cxnLst/>
            <a:rect r="r" b="b" t="t" l="l"/>
            <a:pathLst>
              <a:path h="601927" w="601927">
                <a:moveTo>
                  <a:pt x="0" y="0"/>
                </a:moveTo>
                <a:lnTo>
                  <a:pt x="601927" y="0"/>
                </a:lnTo>
                <a:lnTo>
                  <a:pt x="601927" y="601926"/>
                </a:lnTo>
                <a:lnTo>
                  <a:pt x="0" y="60192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22" id="22"/>
          <p:cNvGrpSpPr/>
          <p:nvPr/>
        </p:nvGrpSpPr>
        <p:grpSpPr>
          <a:xfrm rot="0">
            <a:off x="10295763" y="4906362"/>
            <a:ext cx="5633647" cy="1053636"/>
            <a:chOff x="0" y="0"/>
            <a:chExt cx="1942823" cy="363357"/>
          </a:xfrm>
        </p:grpSpPr>
        <p:sp>
          <p:nvSpPr>
            <p:cNvPr name="Freeform 23" id="23"/>
            <p:cNvSpPr/>
            <p:nvPr/>
          </p:nvSpPr>
          <p:spPr>
            <a:xfrm flipH="false" flipV="false" rot="0">
              <a:off x="0" y="0"/>
              <a:ext cx="1942823" cy="363357"/>
            </a:xfrm>
            <a:custGeom>
              <a:avLst/>
              <a:gdLst/>
              <a:ahLst/>
              <a:cxnLst/>
              <a:rect r="r" b="b" t="t" l="l"/>
              <a:pathLst>
                <a:path h="363357" w="1942823">
                  <a:moveTo>
                    <a:pt x="109938" y="0"/>
                  </a:moveTo>
                  <a:lnTo>
                    <a:pt x="1832885" y="0"/>
                  </a:lnTo>
                  <a:cubicBezTo>
                    <a:pt x="1893602" y="0"/>
                    <a:pt x="1942823" y="49221"/>
                    <a:pt x="1942823" y="109938"/>
                  </a:cubicBezTo>
                  <a:lnTo>
                    <a:pt x="1942823" y="253419"/>
                  </a:lnTo>
                  <a:cubicBezTo>
                    <a:pt x="1942823" y="314136"/>
                    <a:pt x="1893602" y="363357"/>
                    <a:pt x="1832885" y="363357"/>
                  </a:cubicBezTo>
                  <a:lnTo>
                    <a:pt x="109938" y="363357"/>
                  </a:lnTo>
                  <a:cubicBezTo>
                    <a:pt x="80781" y="363357"/>
                    <a:pt x="52818" y="351775"/>
                    <a:pt x="32200" y="331157"/>
                  </a:cubicBezTo>
                  <a:cubicBezTo>
                    <a:pt x="11583" y="310540"/>
                    <a:pt x="0" y="282577"/>
                    <a:pt x="0" y="25341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name="TextBox 24" id="24"/>
            <p:cNvSpPr txBox="true"/>
            <p:nvPr/>
          </p:nvSpPr>
          <p:spPr>
            <a:xfrm>
              <a:off x="0" y="-38100"/>
              <a:ext cx="1942823" cy="401457"/>
            </a:xfrm>
            <a:prstGeom prst="rect">
              <a:avLst/>
            </a:prstGeom>
          </p:spPr>
          <p:txBody>
            <a:bodyPr anchor="ctr" rtlCol="false" tIns="50800" lIns="50800" bIns="50800" rIns="50800"/>
            <a:lstStyle/>
            <a:p>
              <a:pPr algn="ctr">
                <a:lnSpc>
                  <a:spcPts val="2659"/>
                </a:lnSpc>
              </a:pPr>
            </a:p>
          </p:txBody>
        </p:sp>
      </p:grpSp>
      <p:sp>
        <p:nvSpPr>
          <p:cNvPr name="TextBox 25" id="25"/>
          <p:cNvSpPr txBox="true"/>
          <p:nvPr/>
        </p:nvSpPr>
        <p:spPr>
          <a:xfrm rot="0">
            <a:off x="11084414" y="5043970"/>
            <a:ext cx="4844996" cy="740318"/>
          </a:xfrm>
          <a:prstGeom prst="rect">
            <a:avLst/>
          </a:prstGeom>
        </p:spPr>
        <p:txBody>
          <a:bodyPr anchor="t" rtlCol="false" tIns="0" lIns="0" bIns="0" rIns="0">
            <a:spAutoFit/>
          </a:bodyPr>
          <a:lstStyle/>
          <a:p>
            <a:pPr algn="l">
              <a:lnSpc>
                <a:spcPts val="2993"/>
              </a:lnSpc>
            </a:pPr>
            <a:r>
              <a:rPr lang="en-US" sz="2138" b="true">
                <a:solidFill>
                  <a:srgbClr val="FFFFFF"/>
                </a:solidFill>
                <a:latin typeface="Quicksand Bold"/>
                <a:ea typeface="Quicksand Bold"/>
                <a:cs typeface="Quicksand Bold"/>
                <a:sym typeface="Quicksand Bold"/>
              </a:rPr>
              <a:t>Intégrer des données sur les enseignants</a:t>
            </a:r>
          </a:p>
        </p:txBody>
      </p:sp>
      <p:sp>
        <p:nvSpPr>
          <p:cNvPr name="Freeform 26" id="26"/>
          <p:cNvSpPr/>
          <p:nvPr/>
        </p:nvSpPr>
        <p:spPr>
          <a:xfrm flipH="false" flipV="false" rot="0">
            <a:off x="10430823" y="5132216"/>
            <a:ext cx="601927" cy="601927"/>
          </a:xfrm>
          <a:custGeom>
            <a:avLst/>
            <a:gdLst/>
            <a:ahLst/>
            <a:cxnLst/>
            <a:rect r="r" b="b" t="t" l="l"/>
            <a:pathLst>
              <a:path h="601927" w="601927">
                <a:moveTo>
                  <a:pt x="0" y="0"/>
                </a:moveTo>
                <a:lnTo>
                  <a:pt x="601927" y="0"/>
                </a:lnTo>
                <a:lnTo>
                  <a:pt x="601927" y="601927"/>
                </a:lnTo>
                <a:lnTo>
                  <a:pt x="0" y="60192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27" id="27"/>
          <p:cNvGrpSpPr/>
          <p:nvPr/>
        </p:nvGrpSpPr>
        <p:grpSpPr>
          <a:xfrm rot="0">
            <a:off x="10295763" y="6226698"/>
            <a:ext cx="5633647" cy="752672"/>
            <a:chOff x="0" y="0"/>
            <a:chExt cx="1942823" cy="259567"/>
          </a:xfrm>
        </p:grpSpPr>
        <p:sp>
          <p:nvSpPr>
            <p:cNvPr name="Freeform 28" id="28"/>
            <p:cNvSpPr/>
            <p:nvPr/>
          </p:nvSpPr>
          <p:spPr>
            <a:xfrm flipH="false" flipV="false" rot="0">
              <a:off x="0" y="0"/>
              <a:ext cx="1942823" cy="259567"/>
            </a:xfrm>
            <a:custGeom>
              <a:avLst/>
              <a:gdLst/>
              <a:ahLst/>
              <a:cxnLst/>
              <a:rect r="r" b="b" t="t" l="l"/>
              <a:pathLst>
                <a:path h="259567" w="1942823">
                  <a:moveTo>
                    <a:pt x="109938" y="0"/>
                  </a:moveTo>
                  <a:lnTo>
                    <a:pt x="1832885" y="0"/>
                  </a:lnTo>
                  <a:cubicBezTo>
                    <a:pt x="1893602" y="0"/>
                    <a:pt x="1942823" y="49221"/>
                    <a:pt x="1942823" y="109938"/>
                  </a:cubicBezTo>
                  <a:lnTo>
                    <a:pt x="1942823" y="149629"/>
                  </a:lnTo>
                  <a:cubicBezTo>
                    <a:pt x="1942823" y="210346"/>
                    <a:pt x="1893602" y="259567"/>
                    <a:pt x="1832885" y="259567"/>
                  </a:cubicBezTo>
                  <a:lnTo>
                    <a:pt x="109938" y="259567"/>
                  </a:lnTo>
                  <a:cubicBezTo>
                    <a:pt x="80781" y="259567"/>
                    <a:pt x="52818" y="247984"/>
                    <a:pt x="32200" y="227367"/>
                  </a:cubicBezTo>
                  <a:cubicBezTo>
                    <a:pt x="11583" y="206749"/>
                    <a:pt x="0" y="178786"/>
                    <a:pt x="0" y="14962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name="TextBox 29" id="29"/>
            <p:cNvSpPr txBox="true"/>
            <p:nvPr/>
          </p:nvSpPr>
          <p:spPr>
            <a:xfrm>
              <a:off x="0" y="-38100"/>
              <a:ext cx="1942823" cy="297667"/>
            </a:xfrm>
            <a:prstGeom prst="rect">
              <a:avLst/>
            </a:prstGeom>
          </p:spPr>
          <p:txBody>
            <a:bodyPr anchor="ctr" rtlCol="false" tIns="50800" lIns="50800" bIns="50800" rIns="50800"/>
            <a:lstStyle/>
            <a:p>
              <a:pPr algn="ctr">
                <a:lnSpc>
                  <a:spcPts val="2659"/>
                </a:lnSpc>
              </a:pPr>
            </a:p>
          </p:txBody>
        </p:sp>
      </p:grpSp>
      <p:sp>
        <p:nvSpPr>
          <p:cNvPr name="TextBox 30" id="30"/>
          <p:cNvSpPr txBox="true"/>
          <p:nvPr/>
        </p:nvSpPr>
        <p:spPr>
          <a:xfrm rot="0">
            <a:off x="11179664" y="6402958"/>
            <a:ext cx="5520297" cy="355260"/>
          </a:xfrm>
          <a:prstGeom prst="rect">
            <a:avLst/>
          </a:prstGeom>
        </p:spPr>
        <p:txBody>
          <a:bodyPr anchor="t" rtlCol="false" tIns="0" lIns="0" bIns="0" rIns="0">
            <a:spAutoFit/>
          </a:bodyPr>
          <a:lstStyle/>
          <a:p>
            <a:pPr algn="l">
              <a:lnSpc>
                <a:spcPts val="2993"/>
              </a:lnSpc>
            </a:pPr>
            <a:r>
              <a:rPr lang="en-US" sz="2138" b="true">
                <a:solidFill>
                  <a:srgbClr val="FFFFFF"/>
                </a:solidFill>
                <a:latin typeface="Quicksand Bold"/>
                <a:ea typeface="Quicksand Bold"/>
                <a:cs typeface="Quicksand Bold"/>
                <a:sym typeface="Quicksand Bold"/>
              </a:rPr>
              <a:t>ajouter des indicateurs financiers</a:t>
            </a:r>
          </a:p>
        </p:txBody>
      </p:sp>
      <p:sp>
        <p:nvSpPr>
          <p:cNvPr name="Freeform 31" id="31"/>
          <p:cNvSpPr/>
          <p:nvPr/>
        </p:nvSpPr>
        <p:spPr>
          <a:xfrm flipH="false" flipV="false" rot="0">
            <a:off x="10430823" y="6302070"/>
            <a:ext cx="601927" cy="601927"/>
          </a:xfrm>
          <a:custGeom>
            <a:avLst/>
            <a:gdLst/>
            <a:ahLst/>
            <a:cxnLst/>
            <a:rect r="r" b="b" t="t" l="l"/>
            <a:pathLst>
              <a:path h="601927" w="601927">
                <a:moveTo>
                  <a:pt x="0" y="0"/>
                </a:moveTo>
                <a:lnTo>
                  <a:pt x="601927" y="0"/>
                </a:lnTo>
                <a:lnTo>
                  <a:pt x="601927" y="601927"/>
                </a:lnTo>
                <a:lnTo>
                  <a:pt x="0" y="60192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32" id="32"/>
          <p:cNvSpPr txBox="true"/>
          <p:nvPr/>
        </p:nvSpPr>
        <p:spPr>
          <a:xfrm rot="0">
            <a:off x="1777167" y="189426"/>
            <a:ext cx="16510833" cy="2375535"/>
          </a:xfrm>
          <a:prstGeom prst="rect">
            <a:avLst/>
          </a:prstGeom>
        </p:spPr>
        <p:txBody>
          <a:bodyPr anchor="t" rtlCol="false" tIns="0" lIns="0" bIns="0" rIns="0">
            <a:spAutoFit/>
          </a:bodyPr>
          <a:lstStyle/>
          <a:p>
            <a:pPr algn="ctr">
              <a:lnSpc>
                <a:spcPts val="8640"/>
              </a:lnSpc>
            </a:pPr>
            <a:r>
              <a:rPr lang="en-US" b="true" sz="9600">
                <a:solidFill>
                  <a:srgbClr val="2D2261"/>
                </a:solidFill>
                <a:latin typeface="Poppins Bold"/>
                <a:ea typeface="Poppins Bold"/>
                <a:cs typeface="Poppins Bold"/>
                <a:sym typeface="Poppins Bold"/>
              </a:rPr>
              <a:t>Conclusion ET Perspectives</a:t>
            </a:r>
          </a:p>
        </p:txBody>
      </p:sp>
      <p:sp>
        <p:nvSpPr>
          <p:cNvPr name="TextBox 33" id="33"/>
          <p:cNvSpPr txBox="true"/>
          <p:nvPr/>
        </p:nvSpPr>
        <p:spPr>
          <a:xfrm rot="0">
            <a:off x="2700499" y="4102436"/>
            <a:ext cx="3047434" cy="979635"/>
          </a:xfrm>
          <a:prstGeom prst="rect">
            <a:avLst/>
          </a:prstGeom>
        </p:spPr>
        <p:txBody>
          <a:bodyPr anchor="t" rtlCol="false" tIns="0" lIns="0" bIns="0" rIns="0">
            <a:spAutoFit/>
          </a:bodyPr>
          <a:lstStyle/>
          <a:p>
            <a:pPr algn="ctr">
              <a:lnSpc>
                <a:spcPts val="7954"/>
              </a:lnSpc>
            </a:pPr>
            <a:r>
              <a:rPr lang="en-US" sz="5681">
                <a:solidFill>
                  <a:srgbClr val="9AB7FF"/>
                </a:solidFill>
                <a:latin typeface="Brittany"/>
                <a:ea typeface="Brittany"/>
                <a:cs typeface="Brittany"/>
                <a:sym typeface="Brittany"/>
              </a:rPr>
              <a:t>Conclusion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1026841">
            <a:off x="13266207" y="-2293406"/>
            <a:ext cx="6727323" cy="4586811"/>
          </a:xfrm>
          <a:custGeom>
            <a:avLst/>
            <a:gdLst/>
            <a:ahLst/>
            <a:cxnLst/>
            <a:rect r="r" b="b" t="t" l="l"/>
            <a:pathLst>
              <a:path h="4586811" w="6727323">
                <a:moveTo>
                  <a:pt x="0" y="0"/>
                </a:moveTo>
                <a:lnTo>
                  <a:pt x="6727323" y="0"/>
                </a:lnTo>
                <a:lnTo>
                  <a:pt x="6727323" y="4586812"/>
                </a:lnTo>
                <a:lnTo>
                  <a:pt x="0" y="4586812"/>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67547" y="14808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8454123" y="1715163"/>
            <a:ext cx="7777058" cy="5712603"/>
          </a:xfrm>
          <a:custGeom>
            <a:avLst/>
            <a:gdLst/>
            <a:ahLst/>
            <a:cxnLst/>
            <a:rect r="r" b="b" t="t" l="l"/>
            <a:pathLst>
              <a:path h="5712603" w="7777058">
                <a:moveTo>
                  <a:pt x="0" y="0"/>
                </a:moveTo>
                <a:lnTo>
                  <a:pt x="7777059" y="0"/>
                </a:lnTo>
                <a:lnTo>
                  <a:pt x="7777059" y="5712603"/>
                </a:lnTo>
                <a:lnTo>
                  <a:pt x="0" y="571260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7" id="7"/>
          <p:cNvSpPr txBox="true"/>
          <p:nvPr/>
        </p:nvSpPr>
        <p:spPr>
          <a:xfrm rot="0">
            <a:off x="666651" y="3863340"/>
            <a:ext cx="7787472" cy="1280160"/>
          </a:xfrm>
          <a:prstGeom prst="rect">
            <a:avLst/>
          </a:prstGeom>
        </p:spPr>
        <p:txBody>
          <a:bodyPr anchor="t" rtlCol="false" tIns="0" lIns="0" bIns="0" rIns="0">
            <a:spAutoFit/>
          </a:bodyPr>
          <a:lstStyle/>
          <a:p>
            <a:pPr algn="ctr">
              <a:lnSpc>
                <a:spcPts val="8640"/>
              </a:lnSpc>
            </a:pPr>
            <a:r>
              <a:rPr lang="en-US" b="true" sz="9600">
                <a:solidFill>
                  <a:srgbClr val="2D2261"/>
                </a:solidFill>
                <a:latin typeface="Poppins Bold"/>
                <a:ea typeface="Poppins Bold"/>
                <a:cs typeface="Poppins Bold"/>
                <a:sym typeface="Poppins Bold"/>
              </a:rPr>
              <a:t>Merci!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DAHG3fQAOzc</dc:identifier>
  <dcterms:modified xsi:type="dcterms:W3CDTF">2011-08-01T06:04:30Z</dcterms:modified>
  <cp:revision>1</cp:revision>
  <dc:title>Copie de Présentation AI PCOS</dc:title>
</cp:coreProperties>
</file>